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One sentence: we turn how customers actually describe problems into a plan they can execute with one tap per step. The three colored tags are the engine's own action categories and they reappear throughout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never speak in technical terms. Today a human reads the SIIS article, picks steps, and types instructions like Settings &gt; Display &gt; Navigation bar. The customer still has to find those menus. The problem statement puts this at about 15 minutes per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plan the engine produced for one of the 20 test complaints. Settings toggles come first and each carries a deeplink that opens the exact screen. Physical checks come next, and disruptive steps like a factory reset are always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questions have been seen before, so the cache answers first. Only a genuinely new problem goes through the pipeline. Point out that the LLM appears exactly once, at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Deeplink URIs in the catalog are masked tokens, so an LLM cannot reliably choose them and may invent realistic-looking fakes. We keep the model on the one task it is good at, reading text, and do everything checkable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PDF warns that prompt-only constraints are unreliable. Every rule is therefore enforced by code. The grounding example is real: the LLM added a natural follow-up step that the article never states, and the checker removed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is full of near-identical names. Letter-level fuzzy matching would accept Easy mode for Super steady mode. Our gate requires every word, in order. The backup example independently selected the same deeplink as the official sample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should never be told to wipe their phone before trying a settings toggle. Within critical steps we also rank severity: restart before safe mode before factory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test paraphrases were written by hand and never stored in the cache, so this is an honest unseen-paraphrase measurement. Lower thresholds reach 90 percent but start returning plans for complaints that should get none. Repeats are also fully deterministic, which fixes the LLM's run-to-run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our own scripts: results.jsonl, the cache benchmark and an HTTP stress test with 8 parallel workers. Fill the cold-path P95 from the paced benchmark run. Mention 100 automated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the same LLM-extracted plans. Without the gate, retrieval alone would have sent customers to the wrong screen for most settings actions. This is the evidence for our main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came from reading our own outputs carefully. The official sample output violates the 5 to 7 word description rule, which our validator flags. The engine prefers an honest no_match over inventing a plan from an unrelated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a microservice. A support app or voice assistant calls it, renders the plan, and uses the deeplinks to jump straight to the right screen. The validation deeplink lets the app confirm a fix worked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embeddings live in NumPy and SQLite because the data is small: 550 catalog entries and 174 cached phrasings. At company scale a vector index becomes worthwhile, and embedding all SIIS articles turns the system into full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click a sample paraphrase for an instant cache hit, then paste a new complaint with its article to show the full pipeline, then ask it again in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C9BF"/>
                </a:solidFill>
                <a:latin typeface="JetBrains Mono" pitchFamily="34" charset="0"/>
                <a:ea typeface="JetBrains Mono" pitchFamily="34" charset="-122"/>
                <a:cs typeface="JetBrains Mono" pitchFamily="34" charset="-120"/>
              </a:rPr>
              <a:t>HACKATHON · THEME 2 · TROUBLESHOOTING</a:t>
            </a:r>
            <a:endParaRPr lang="en-US" sz="1200" dirty="0"/>
          </a:p>
        </p:txBody>
      </p:sp>
      <p:sp>
        <p:nvSpPr>
          <p:cNvPr id="3" name="Text 1"/>
          <p:cNvSpPr/>
          <p:nvPr/>
        </p:nvSpPr>
        <p:spPr>
          <a:xfrm>
            <a:off x="812800" y="1507530"/>
            <a:ext cx="10883392" cy="2921000"/>
          </a:xfrm>
          <a:prstGeom prst="rect">
            <a:avLst/>
          </a:prstGeom>
          <a:noFill/>
          <a:ln/>
        </p:spPr>
        <p:txBody>
          <a:bodyPr wrap="square" lIns="0" tIns="0" rIns="0" bIns="0" rtlCol="0" anchor="t">
            <a:normAutofit/>
          </a:bodyPr>
          <a:lstStyle/>
          <a:p>
            <a:pPr algn="l" indent="0" marL="0">
              <a:lnSpc>
                <a:spcPts val="7600"/>
              </a:lnSpc>
              <a:buNone/>
            </a:pPr>
            <a:r>
              <a:rPr lang="en-US" sz="8000" b="1" spc="-200" kern="0" dirty="0">
                <a:solidFill>
                  <a:srgbClr val="F4F1EA"/>
                </a:solidFill>
                <a:latin typeface="Archivo" pitchFamily="34" charset="0"/>
                <a:ea typeface="Archivo" pitchFamily="34" charset="-122"/>
                <a:cs typeface="Archivo" pitchFamily="34" charset="-120"/>
              </a:rPr>
              <a:t>Smart Guided Troubleshooting Engine</a:t>
            </a:r>
            <a:endParaRPr lang="en-US" sz="8000" dirty="0"/>
          </a:p>
        </p:txBody>
      </p:sp>
      <p:sp>
        <p:nvSpPr>
          <p:cNvPr id="4" name="Text 2"/>
          <p:cNvSpPr/>
          <p:nvPr/>
        </p:nvSpPr>
        <p:spPr>
          <a:xfrm>
            <a:off x="812800" y="465713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DB6A9"/>
                </a:solidFill>
                <a:latin typeface="Archivo" pitchFamily="34" charset="0"/>
                <a:ea typeface="Archivo" pitchFamily="34" charset="-122"/>
                <a:cs typeface="Archivo" pitchFamily="34" charset="-120"/>
              </a:rPr>
              <a:t>From a vague phone complaint to a verified, ordered fix plan where every Settings step is one tap away.</a:t>
            </a:r>
            <a:endParaRPr lang="en-US" sz="1800" dirty="0"/>
          </a:p>
        </p:txBody>
      </p:sp>
      <p:sp>
        <p:nvSpPr>
          <p:cNvPr id="5" name="Shape 3"/>
          <p:cNvSpPr/>
          <p:nvPr/>
        </p:nvSpPr>
        <p:spPr>
          <a:xfrm>
            <a:off x="812800" y="5755680"/>
            <a:ext cx="619820" cy="289520"/>
          </a:xfrm>
          <a:prstGeom prst="roundRect">
            <a:avLst>
              <a:gd name="adj" fmla="val 13160"/>
            </a:avLst>
          </a:prstGeom>
          <a:solidFill>
            <a:srgbClr val="0F766E"/>
          </a:solidFill>
          <a:ln/>
        </p:spPr>
      </p:sp>
      <p:sp>
        <p:nvSpPr>
          <p:cNvPr id="6" name="Text 4"/>
          <p:cNvSpPr/>
          <p:nvPr/>
        </p:nvSpPr>
        <p:spPr>
          <a:xfrm>
            <a:off x="914400" y="5793780"/>
            <a:ext cx="46742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AUTO</a:t>
            </a:r>
            <a:endParaRPr lang="en-US" sz="1200" dirty="0"/>
          </a:p>
        </p:txBody>
      </p:sp>
      <p:sp>
        <p:nvSpPr>
          <p:cNvPr id="7" name="Shape 5"/>
          <p:cNvSpPr/>
          <p:nvPr/>
        </p:nvSpPr>
        <p:spPr>
          <a:xfrm>
            <a:off x="1534220" y="5755680"/>
            <a:ext cx="828080" cy="289520"/>
          </a:xfrm>
          <a:prstGeom prst="roundRect">
            <a:avLst>
              <a:gd name="adj" fmla="val 13160"/>
            </a:avLst>
          </a:prstGeom>
          <a:solidFill>
            <a:srgbClr val="B45309"/>
          </a:solidFill>
          <a:ln/>
        </p:spPr>
      </p:sp>
      <p:sp>
        <p:nvSpPr>
          <p:cNvPr id="8" name="Text 6"/>
          <p:cNvSpPr/>
          <p:nvPr/>
        </p:nvSpPr>
        <p:spPr>
          <a:xfrm>
            <a:off x="1635820" y="5793780"/>
            <a:ext cx="67568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MANUAL</a:t>
            </a:r>
            <a:endParaRPr lang="en-US" sz="1200" dirty="0"/>
          </a:p>
        </p:txBody>
      </p:sp>
      <p:sp>
        <p:nvSpPr>
          <p:cNvPr id="9" name="Shape 7"/>
          <p:cNvSpPr/>
          <p:nvPr/>
        </p:nvSpPr>
        <p:spPr>
          <a:xfrm>
            <a:off x="2463899" y="5755680"/>
            <a:ext cx="1036340" cy="289520"/>
          </a:xfrm>
          <a:prstGeom prst="roundRect">
            <a:avLst>
              <a:gd name="adj" fmla="val 13160"/>
            </a:avLst>
          </a:prstGeom>
          <a:solidFill>
            <a:srgbClr val="B91C1C"/>
          </a:solidFill>
          <a:ln/>
        </p:spPr>
      </p:sp>
      <p:sp>
        <p:nvSpPr>
          <p:cNvPr id="10" name="Text 8"/>
          <p:cNvSpPr/>
          <p:nvPr/>
        </p:nvSpPr>
        <p:spPr>
          <a:xfrm>
            <a:off x="2565499" y="5793780"/>
            <a:ext cx="88394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CRITICAL</a:t>
            </a:r>
            <a:endParaRPr lang="en-US" sz="1200" dirty="0"/>
          </a:p>
        </p:txBody>
      </p:sp>
      <p:sp>
        <p:nvSpPr>
          <p:cNvPr id="11" name="Text 9"/>
          <p:cNvSpPr/>
          <p:nvPr/>
        </p:nvSpPr>
        <p:spPr>
          <a:xfrm>
            <a:off x="7995841" y="5793780"/>
            <a:ext cx="3484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B6A9"/>
                </a:solidFill>
                <a:latin typeface="JetBrains Mono" pitchFamily="34" charset="0"/>
                <a:ea typeface="JetBrains Mono" pitchFamily="34" charset="-122"/>
                <a:cs typeface="JetBrains Mono" pitchFamily="34" charset="-120"/>
              </a:rPr>
              <a:t>[Team name] · [Member A] · [Member 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01 · THE PROBLEM</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Every complaint costs an agent 15 minutes</a:t>
            </a:r>
            <a:endParaRPr lang="en-US" sz="3200" dirty="0"/>
          </a:p>
        </p:txBody>
      </p:sp>
      <p:sp>
        <p:nvSpPr>
          <p:cNvPr id="4" name="Text 2"/>
          <p:cNvSpPr/>
          <p:nvPr/>
        </p:nvSpPr>
        <p:spPr>
          <a:xfrm>
            <a:off x="812800" y="1879501"/>
            <a:ext cx="3662680" cy="1041400"/>
          </a:xfrm>
          <a:prstGeom prst="rect">
            <a:avLst/>
          </a:prstGeom>
          <a:noFill/>
          <a:ln/>
        </p:spPr>
        <p:txBody>
          <a:bodyPr wrap="square" lIns="0" tIns="0" rIns="0" bIns="0" rtlCol="0" anchor="t">
            <a:normAutofit/>
          </a:bodyPr>
          <a:lstStyle/>
          <a:p>
            <a:pPr algn="l" indent="0" marL="0">
              <a:lnSpc>
                <a:spcPts val="8000"/>
              </a:lnSpc>
              <a:buNone/>
            </a:pPr>
            <a:r>
              <a:rPr lang="en-US" sz="8000" b="1" spc="-200" kern="0" dirty="0">
                <a:solidFill>
                  <a:srgbClr val="0F766E"/>
                </a:solidFill>
                <a:latin typeface="Archivo" pitchFamily="34" charset="0"/>
                <a:ea typeface="Archivo" pitchFamily="34" charset="-122"/>
                <a:cs typeface="Archivo" pitchFamily="34" charset="-120"/>
              </a:rPr>
              <a:t>15 min</a:t>
            </a:r>
            <a:endParaRPr lang="en-US" sz="8000" dirty="0"/>
          </a:p>
        </p:txBody>
      </p:sp>
      <p:sp>
        <p:nvSpPr>
          <p:cNvPr id="5" name="Text 3"/>
          <p:cNvSpPr/>
          <p:nvPr/>
        </p:nvSpPr>
        <p:spPr>
          <a:xfrm>
            <a:off x="812800" y="3047901"/>
            <a:ext cx="366268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of manual triage per scenario, across millions of customer interactions.</a:t>
            </a:r>
            <a:endParaRPr lang="en-US" sz="1400" dirty="0"/>
          </a:p>
        </p:txBody>
      </p:sp>
      <p:sp>
        <p:nvSpPr>
          <p:cNvPr id="6" name="Shape 4"/>
          <p:cNvSpPr/>
          <p:nvPr/>
        </p:nvSpPr>
        <p:spPr>
          <a:xfrm>
            <a:off x="4876800" y="1879501"/>
            <a:ext cx="6502400" cy="802481"/>
          </a:xfrm>
          <a:prstGeom prst="rect">
            <a:avLst/>
          </a:prstGeom>
          <a:solidFill>
            <a:srgbClr val="FFFDF8"/>
          </a:solidFill>
          <a:ln/>
        </p:spPr>
      </p:sp>
      <p:sp>
        <p:nvSpPr>
          <p:cNvPr id="7" name="Shape 5"/>
          <p:cNvSpPr/>
          <p:nvPr/>
        </p:nvSpPr>
        <p:spPr>
          <a:xfrm>
            <a:off x="4895850" y="1879501"/>
            <a:ext cx="0" cy="802481"/>
          </a:xfrm>
          <a:prstGeom prst="line">
            <a:avLst/>
          </a:prstGeom>
          <a:noFill/>
          <a:ln w="38100">
            <a:solidFill>
              <a:srgbClr val="B45309"/>
            </a:solidFill>
            <a:prstDash val="solid"/>
          </a:ln>
        </p:spPr>
      </p:sp>
      <p:sp>
        <p:nvSpPr>
          <p:cNvPr id="8" name="Text 6"/>
          <p:cNvSpPr/>
          <p:nvPr/>
        </p:nvSpPr>
        <p:spPr>
          <a:xfrm>
            <a:off x="5118100" y="2031901"/>
            <a:ext cx="6239637" cy="52308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D1C1A"/>
                </a:solidFill>
                <a:latin typeface="Archivo" pitchFamily="34" charset="0"/>
                <a:ea typeface="Archivo" pitchFamily="34" charset="-122"/>
                <a:cs typeface="Archivo" pitchFamily="34" charset="-120"/>
              </a:rPr>
              <a:t>"My Nexa X1 screen inputs are delayed and the touch responsiveness is laggy."</a:t>
            </a:r>
            <a:endParaRPr lang="en-US" sz="1400" dirty="0"/>
          </a:p>
        </p:txBody>
      </p:sp>
      <p:sp>
        <p:nvSpPr>
          <p:cNvPr id="9" name="Shape 7"/>
          <p:cNvSpPr/>
          <p:nvPr/>
        </p:nvSpPr>
        <p:spPr>
          <a:xfrm>
            <a:off x="4876800" y="3289598"/>
            <a:ext cx="6502400" cy="0"/>
          </a:xfrm>
          <a:prstGeom prst="line">
            <a:avLst/>
          </a:prstGeom>
          <a:noFill/>
          <a:ln w="6350">
            <a:solidFill>
              <a:srgbClr val="D6D0C3"/>
            </a:solidFill>
            <a:prstDash val="solid"/>
          </a:ln>
        </p:spPr>
      </p:sp>
      <p:sp>
        <p:nvSpPr>
          <p:cNvPr id="10" name="Text 8"/>
          <p:cNvSpPr/>
          <p:nvPr/>
        </p:nvSpPr>
        <p:spPr>
          <a:xfrm>
            <a:off x="4876800" y="2935982"/>
            <a:ext cx="66974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1C1A"/>
                </a:solidFill>
                <a:latin typeface="Archivo" pitchFamily="34" charset="0"/>
                <a:ea typeface="Archivo" pitchFamily="34" charset="-122"/>
                <a:cs typeface="Archivo" pitchFamily="34" charset="-120"/>
              </a:rPr>
              <a:t>1.</a:t>
            </a:r>
            <a:r>
              <a:rPr lang="en-US" sz="1400" dirty="0">
                <a:solidFill>
                  <a:srgbClr val="1D1C1A"/>
                </a:solidFill>
                <a:latin typeface="Archivo" pitchFamily="34" charset="0"/>
                <a:ea typeface="Archivo" pitchFamily="34" charset="-122"/>
                <a:cs typeface="Archivo" pitchFamily="34" charset="-120"/>
              </a:rPr>
              <a:t> An agent reads long knowledge-base articles to find the cause.</a:t>
            </a:r>
            <a:endParaRPr lang="en-US" sz="1400" dirty="0"/>
          </a:p>
        </p:txBody>
      </p:sp>
      <p:sp>
        <p:nvSpPr>
          <p:cNvPr id="11" name="Shape 9"/>
          <p:cNvSpPr/>
          <p:nvPr/>
        </p:nvSpPr>
        <p:spPr>
          <a:xfrm>
            <a:off x="4876800" y="3747988"/>
            <a:ext cx="6502400" cy="0"/>
          </a:xfrm>
          <a:prstGeom prst="line">
            <a:avLst/>
          </a:prstGeom>
          <a:noFill/>
          <a:ln w="6350">
            <a:solidFill>
              <a:srgbClr val="D6D0C3"/>
            </a:solidFill>
            <a:prstDash val="solid"/>
          </a:ln>
        </p:spPr>
      </p:sp>
      <p:sp>
        <p:nvSpPr>
          <p:cNvPr id="12" name="Text 10"/>
          <p:cNvSpPr/>
          <p:nvPr/>
        </p:nvSpPr>
        <p:spPr>
          <a:xfrm>
            <a:off x="4876800" y="3394373"/>
            <a:ext cx="66974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1C1A"/>
                </a:solidFill>
                <a:latin typeface="Archivo" pitchFamily="34" charset="0"/>
                <a:ea typeface="Archivo" pitchFamily="34" charset="-122"/>
                <a:cs typeface="Archivo" pitchFamily="34" charset="-120"/>
              </a:rPr>
              <a:t>2.</a:t>
            </a:r>
            <a:r>
              <a:rPr lang="en-US" sz="1400" dirty="0">
                <a:solidFill>
                  <a:srgbClr val="1D1C1A"/>
                </a:solidFill>
                <a:latin typeface="Archivo" pitchFamily="34" charset="0"/>
                <a:ea typeface="Archivo" pitchFamily="34" charset="-122"/>
                <a:cs typeface="Archivo" pitchFamily="34" charset="-120"/>
              </a:rPr>
              <a:t> The agent picks and orders the right steps by hand.</a:t>
            </a:r>
            <a:endParaRPr lang="en-US" sz="1400" dirty="0"/>
          </a:p>
        </p:txBody>
      </p:sp>
      <p:sp>
        <p:nvSpPr>
          <p:cNvPr id="13" name="Text 11"/>
          <p:cNvSpPr/>
          <p:nvPr/>
        </p:nvSpPr>
        <p:spPr>
          <a:xfrm>
            <a:off x="4876800" y="3852763"/>
            <a:ext cx="66974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1C1A"/>
                </a:solidFill>
                <a:latin typeface="Archivo" pitchFamily="34" charset="0"/>
                <a:ea typeface="Archivo" pitchFamily="34" charset="-122"/>
                <a:cs typeface="Archivo" pitchFamily="34" charset="-120"/>
              </a:rPr>
              <a:t>3.</a:t>
            </a:r>
            <a:r>
              <a:rPr lang="en-US" sz="1400" dirty="0">
                <a:solidFill>
                  <a:srgbClr val="1D1C1A"/>
                </a:solidFill>
                <a:latin typeface="Archivo" pitchFamily="34" charset="0"/>
                <a:ea typeface="Archivo" pitchFamily="34" charset="-122"/>
                <a:cs typeface="Archivo" pitchFamily="34" charset="-120"/>
              </a:rPr>
              <a:t> The customer hunts through nested Settings menus alone.</a:t>
            </a:r>
            <a:endParaRPr lang="en-US" sz="14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15" name="Text 13"/>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26020"/>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0F766E"/>
                </a:solidFill>
                <a:latin typeface="JetBrains Mono" pitchFamily="34" charset="0"/>
                <a:ea typeface="JetBrains Mono" pitchFamily="34" charset="-122"/>
                <a:cs typeface="JetBrains Mono" pitchFamily="34" charset="-120"/>
              </a:rPr>
              <a:t>02 · WHAT WE BUILT</a:t>
            </a:r>
            <a:endParaRPr lang="en-US" sz="1159" dirty="0"/>
          </a:p>
        </p:txBody>
      </p:sp>
      <p:sp>
        <p:nvSpPr>
          <p:cNvPr id="3" name="Text 1"/>
          <p:cNvSpPr/>
          <p:nvPr/>
        </p:nvSpPr>
        <p:spPr>
          <a:xfrm>
            <a:off x="812800" y="1115020"/>
            <a:ext cx="10883392" cy="445790"/>
          </a:xfrm>
          <a:prstGeom prst="rect">
            <a:avLst/>
          </a:prstGeom>
          <a:noFill/>
          <a:ln/>
        </p:spPr>
        <p:txBody>
          <a:bodyPr wrap="square" lIns="0" tIns="0" rIns="0" bIns="0" rtlCol="0" anchor="t">
            <a:normAutofit/>
          </a:bodyPr>
          <a:lstStyle/>
          <a:p>
            <a:pPr algn="l" indent="0" marL="0">
              <a:lnSpc>
                <a:spcPts val="3322"/>
              </a:lnSpc>
              <a:buNone/>
            </a:pPr>
            <a:r>
              <a:rPr lang="en-US" sz="3020" b="1" spc="-50" kern="0" dirty="0">
                <a:solidFill>
                  <a:srgbClr val="1D1C1A"/>
                </a:solidFill>
                <a:latin typeface="Archivo" pitchFamily="34" charset="0"/>
                <a:ea typeface="Archivo" pitchFamily="34" charset="-122"/>
                <a:cs typeface="Archivo" pitchFamily="34" charset="-120"/>
              </a:rPr>
              <a:t>One request in, a verified plan out</a:t>
            </a:r>
            <a:endParaRPr lang="en-US" sz="3020" dirty="0"/>
          </a:p>
        </p:txBody>
      </p:sp>
      <p:sp>
        <p:nvSpPr>
          <p:cNvPr id="4" name="Shape 2"/>
          <p:cNvSpPr/>
          <p:nvPr/>
        </p:nvSpPr>
        <p:spPr>
          <a:xfrm>
            <a:off x="812800" y="2919214"/>
            <a:ext cx="3302000" cy="1843683"/>
          </a:xfrm>
          <a:prstGeom prst="roundRect">
            <a:avLst>
              <a:gd name="adj" fmla="val 2755"/>
            </a:avLst>
          </a:prstGeom>
          <a:solidFill>
            <a:srgbClr val="1D1C1A"/>
          </a:solidFill>
          <a:ln/>
        </p:spPr>
      </p:sp>
      <p:sp>
        <p:nvSpPr>
          <p:cNvPr id="5" name="Text 3"/>
          <p:cNvSpPr/>
          <p:nvPr/>
        </p:nvSpPr>
        <p:spPr>
          <a:xfrm>
            <a:off x="1066800" y="3173214"/>
            <a:ext cx="28778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C9BF"/>
                </a:solidFill>
                <a:latin typeface="JetBrains Mono" pitchFamily="34" charset="0"/>
                <a:ea typeface="JetBrains Mono" pitchFamily="34" charset="-122"/>
                <a:cs typeface="JetBrains Mono" pitchFamily="34" charset="-120"/>
              </a:rPr>
              <a:t>INPUT · CUSTOMER WORDS</a:t>
            </a:r>
            <a:endParaRPr lang="en-US" sz="1200" dirty="0"/>
          </a:p>
        </p:txBody>
      </p:sp>
      <p:sp>
        <p:nvSpPr>
          <p:cNvPr id="6" name="Text 4"/>
          <p:cNvSpPr/>
          <p:nvPr/>
        </p:nvSpPr>
        <p:spPr>
          <a:xfrm>
            <a:off x="1066800" y="3513534"/>
            <a:ext cx="2877820"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Archivo" pitchFamily="34" charset="0"/>
                <a:ea typeface="Archivo" pitchFamily="34" charset="-122"/>
                <a:cs typeface="Archivo" pitchFamily="34" charset="-120"/>
              </a:rPr>
              <a:t>"My Nexa X1 screen inputs are delayed and the touch responsiveness is laggy, causing a noticeable delay."</a:t>
            </a:r>
            <a:endParaRPr lang="en-US" sz="1400" dirty="0"/>
          </a:p>
        </p:txBody>
      </p:sp>
      <p:pic>
        <p:nvPicPr>
          <p:cNvPr id="7" name="Image 0" descr="arrow-right">    </p:cNvPr>
          <p:cNvPicPr>
            <a:picLocks noChangeAspect="1"/>
          </p:cNvPicPr>
          <p:nvPr/>
        </p:nvPicPr>
        <p:blipFill>
          <a:blip r:embed="rId1"/>
          <a:srcRect l="0" r="0" t="0" b="0"/>
          <a:stretch/>
        </p:blipFill>
        <p:spPr>
          <a:xfrm>
            <a:off x="4318000" y="3714055"/>
            <a:ext cx="508000" cy="254000"/>
          </a:xfrm>
          <a:prstGeom prst="rect">
            <a:avLst/>
          </a:prstGeom>
        </p:spPr>
      </p:pic>
      <p:sp>
        <p:nvSpPr>
          <p:cNvPr id="8" name="Shape 5"/>
          <p:cNvSpPr/>
          <p:nvPr/>
        </p:nvSpPr>
        <p:spPr>
          <a:xfrm>
            <a:off x="5032375" y="1735038"/>
            <a:ext cx="6343650" cy="4212233"/>
          </a:xfrm>
          <a:prstGeom prst="roundRect">
            <a:avLst>
              <a:gd name="adj" fmla="val 1131"/>
            </a:avLst>
          </a:prstGeom>
          <a:solidFill>
            <a:srgbClr val="FFFDF8"/>
          </a:solidFill>
          <a:ln w="6350">
            <a:solidFill>
              <a:srgbClr val="D6D0C3"/>
            </a:solidFill>
            <a:prstDash val="solid"/>
          </a:ln>
        </p:spPr>
      </p:sp>
      <p:sp>
        <p:nvSpPr>
          <p:cNvPr id="9" name="Text 6"/>
          <p:cNvSpPr/>
          <p:nvPr/>
        </p:nvSpPr>
        <p:spPr>
          <a:xfrm>
            <a:off x="5289550" y="1941413"/>
            <a:ext cx="6004179"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766E"/>
                </a:solidFill>
                <a:latin typeface="JetBrains Mono" pitchFamily="34" charset="0"/>
                <a:ea typeface="JetBrains Mono" pitchFamily="34" charset="-122"/>
                <a:cs typeface="JetBrains Mono" pitchFamily="34" charset="-120"/>
              </a:rPr>
              <a:t>OUTPUT · 8 ACTIONS, SAFEST FIRST</a:t>
            </a:r>
            <a:endParaRPr lang="en-US" sz="1200" dirty="0"/>
          </a:p>
        </p:txBody>
      </p:sp>
      <p:sp>
        <p:nvSpPr>
          <p:cNvPr id="10" name="Shape 7"/>
          <p:cNvSpPr/>
          <p:nvPr/>
        </p:nvSpPr>
        <p:spPr>
          <a:xfrm>
            <a:off x="5289550" y="2599829"/>
            <a:ext cx="5829300" cy="0"/>
          </a:xfrm>
          <a:prstGeom prst="line">
            <a:avLst/>
          </a:prstGeom>
          <a:noFill/>
          <a:ln w="6350">
            <a:solidFill>
              <a:srgbClr val="D6D0C3"/>
            </a:solidFill>
            <a:prstDash val="solid"/>
          </a:ln>
        </p:spPr>
      </p:sp>
      <p:sp>
        <p:nvSpPr>
          <p:cNvPr id="11" name="Text 8"/>
          <p:cNvSpPr/>
          <p:nvPr/>
        </p:nvSpPr>
        <p:spPr>
          <a:xfrm>
            <a:off x="5289550" y="2289373"/>
            <a:ext cx="22264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01</a:t>
            </a:r>
            <a:r>
              <a:rPr lang="en-US" sz="1400" dirty="0">
                <a:solidFill>
                  <a:srgbClr val="1D1C1A"/>
                </a:solidFill>
                <a:latin typeface="Archivo" pitchFamily="34" charset="0"/>
                <a:ea typeface="Archivo" pitchFamily="34" charset="-122"/>
                <a:cs typeface="Archivo" pitchFamily="34" charset="-120"/>
              </a:rPr>
              <a:t> Enable Touch Sensitivity</a:t>
            </a:r>
            <a:endParaRPr lang="en-US" sz="1400" dirty="0"/>
          </a:p>
        </p:txBody>
      </p:sp>
      <p:sp>
        <p:nvSpPr>
          <p:cNvPr id="12" name="Shape 9"/>
          <p:cNvSpPr/>
          <p:nvPr/>
        </p:nvSpPr>
        <p:spPr>
          <a:xfrm>
            <a:off x="10499030" y="2269034"/>
            <a:ext cx="619820" cy="289520"/>
          </a:xfrm>
          <a:prstGeom prst="roundRect">
            <a:avLst>
              <a:gd name="adj" fmla="val 13160"/>
            </a:avLst>
          </a:prstGeom>
          <a:solidFill>
            <a:srgbClr val="0F766E"/>
          </a:solidFill>
          <a:ln/>
        </p:spPr>
      </p:sp>
      <p:sp>
        <p:nvSpPr>
          <p:cNvPr id="13" name="Text 10"/>
          <p:cNvSpPr/>
          <p:nvPr/>
        </p:nvSpPr>
        <p:spPr>
          <a:xfrm>
            <a:off x="10600630" y="2307134"/>
            <a:ext cx="46742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AUTO</a:t>
            </a:r>
            <a:endParaRPr lang="en-US" sz="1200" dirty="0"/>
          </a:p>
        </p:txBody>
      </p:sp>
      <p:sp>
        <p:nvSpPr>
          <p:cNvPr id="14" name="Shape 11"/>
          <p:cNvSpPr/>
          <p:nvPr/>
        </p:nvSpPr>
        <p:spPr>
          <a:xfrm>
            <a:off x="5289550" y="3048099"/>
            <a:ext cx="5829300" cy="0"/>
          </a:xfrm>
          <a:prstGeom prst="line">
            <a:avLst/>
          </a:prstGeom>
          <a:noFill/>
          <a:ln w="6350">
            <a:solidFill>
              <a:srgbClr val="D6D0C3"/>
            </a:solidFill>
            <a:prstDash val="solid"/>
          </a:ln>
        </p:spPr>
      </p:sp>
      <p:sp>
        <p:nvSpPr>
          <p:cNvPr id="15" name="Text 12"/>
          <p:cNvSpPr/>
          <p:nvPr/>
        </p:nvSpPr>
        <p:spPr>
          <a:xfrm>
            <a:off x="5289550" y="2737644"/>
            <a:ext cx="260424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02</a:t>
            </a:r>
            <a:r>
              <a:rPr lang="en-US" sz="1400" dirty="0">
                <a:solidFill>
                  <a:srgbClr val="1D1C1A"/>
                </a:solidFill>
                <a:latin typeface="Archivo" pitchFamily="34" charset="0"/>
                <a:ea typeface="Archivo" pitchFamily="34" charset="-122"/>
                <a:cs typeface="Archivo" pitchFamily="34" charset="-120"/>
              </a:rPr>
              <a:t> Disable Full Screen Gestures</a:t>
            </a:r>
            <a:endParaRPr lang="en-US" sz="1400" dirty="0"/>
          </a:p>
        </p:txBody>
      </p:sp>
      <p:sp>
        <p:nvSpPr>
          <p:cNvPr id="16" name="Shape 13"/>
          <p:cNvSpPr/>
          <p:nvPr/>
        </p:nvSpPr>
        <p:spPr>
          <a:xfrm>
            <a:off x="10499030" y="2717304"/>
            <a:ext cx="619820" cy="289520"/>
          </a:xfrm>
          <a:prstGeom prst="roundRect">
            <a:avLst>
              <a:gd name="adj" fmla="val 13160"/>
            </a:avLst>
          </a:prstGeom>
          <a:solidFill>
            <a:srgbClr val="0F766E"/>
          </a:solidFill>
          <a:ln/>
        </p:spPr>
      </p:sp>
      <p:sp>
        <p:nvSpPr>
          <p:cNvPr id="17" name="Text 14"/>
          <p:cNvSpPr/>
          <p:nvPr/>
        </p:nvSpPr>
        <p:spPr>
          <a:xfrm>
            <a:off x="10600630" y="2755404"/>
            <a:ext cx="46742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AUTO</a:t>
            </a:r>
            <a:endParaRPr lang="en-US" sz="1200" dirty="0"/>
          </a:p>
        </p:txBody>
      </p:sp>
      <p:sp>
        <p:nvSpPr>
          <p:cNvPr id="18" name="Shape 15"/>
          <p:cNvSpPr/>
          <p:nvPr/>
        </p:nvSpPr>
        <p:spPr>
          <a:xfrm>
            <a:off x="5289550" y="3496370"/>
            <a:ext cx="5829300" cy="0"/>
          </a:xfrm>
          <a:prstGeom prst="line">
            <a:avLst/>
          </a:prstGeom>
          <a:noFill/>
          <a:ln w="6350">
            <a:solidFill>
              <a:srgbClr val="D6D0C3"/>
            </a:solidFill>
            <a:prstDash val="solid"/>
          </a:ln>
        </p:spPr>
      </p:sp>
      <p:sp>
        <p:nvSpPr>
          <p:cNvPr id="19" name="Text 16"/>
          <p:cNvSpPr/>
          <p:nvPr/>
        </p:nvSpPr>
        <p:spPr>
          <a:xfrm>
            <a:off x="5289550" y="3185914"/>
            <a:ext cx="231012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03</a:t>
            </a:r>
            <a:r>
              <a:rPr lang="en-US" sz="1400" dirty="0">
                <a:solidFill>
                  <a:srgbClr val="1D1C1A"/>
                </a:solidFill>
                <a:latin typeface="Archivo" pitchFamily="34" charset="0"/>
                <a:ea typeface="Archivo" pitchFamily="34" charset="-122"/>
                <a:cs typeface="Archivo" pitchFamily="34" charset="-120"/>
              </a:rPr>
              <a:t> Turn Off Touch Sensitivity</a:t>
            </a:r>
            <a:endParaRPr lang="en-US" sz="1400" dirty="0"/>
          </a:p>
        </p:txBody>
      </p:sp>
      <p:sp>
        <p:nvSpPr>
          <p:cNvPr id="20" name="Shape 17"/>
          <p:cNvSpPr/>
          <p:nvPr/>
        </p:nvSpPr>
        <p:spPr>
          <a:xfrm>
            <a:off x="10499030" y="3165574"/>
            <a:ext cx="619820" cy="289520"/>
          </a:xfrm>
          <a:prstGeom prst="roundRect">
            <a:avLst>
              <a:gd name="adj" fmla="val 13160"/>
            </a:avLst>
          </a:prstGeom>
          <a:solidFill>
            <a:srgbClr val="0F766E"/>
          </a:solidFill>
          <a:ln/>
        </p:spPr>
      </p:sp>
      <p:sp>
        <p:nvSpPr>
          <p:cNvPr id="21" name="Text 18"/>
          <p:cNvSpPr/>
          <p:nvPr/>
        </p:nvSpPr>
        <p:spPr>
          <a:xfrm>
            <a:off x="10600630" y="3203674"/>
            <a:ext cx="46742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AUTO</a:t>
            </a:r>
            <a:endParaRPr lang="en-US" sz="1200" dirty="0"/>
          </a:p>
        </p:txBody>
      </p:sp>
      <p:sp>
        <p:nvSpPr>
          <p:cNvPr id="22" name="Shape 19"/>
          <p:cNvSpPr/>
          <p:nvPr/>
        </p:nvSpPr>
        <p:spPr>
          <a:xfrm>
            <a:off x="5289550" y="3944640"/>
            <a:ext cx="5829300" cy="0"/>
          </a:xfrm>
          <a:prstGeom prst="line">
            <a:avLst/>
          </a:prstGeom>
          <a:noFill/>
          <a:ln w="6350">
            <a:solidFill>
              <a:srgbClr val="D6D0C3"/>
            </a:solidFill>
            <a:prstDash val="solid"/>
          </a:ln>
        </p:spPr>
      </p:sp>
      <p:sp>
        <p:nvSpPr>
          <p:cNvPr id="23" name="Text 20"/>
          <p:cNvSpPr/>
          <p:nvPr/>
        </p:nvSpPr>
        <p:spPr>
          <a:xfrm>
            <a:off x="5289550" y="3634184"/>
            <a:ext cx="234160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04</a:t>
            </a:r>
            <a:r>
              <a:rPr lang="en-US" sz="1400" dirty="0">
                <a:solidFill>
                  <a:srgbClr val="1D1C1A"/>
                </a:solidFill>
                <a:latin typeface="Archivo" pitchFamily="34" charset="0"/>
                <a:ea typeface="Archivo" pitchFamily="34" charset="-122"/>
                <a:cs typeface="Archivo" pitchFamily="34" charset="-120"/>
              </a:rPr>
              <a:t> Remove Screen Protector</a:t>
            </a:r>
            <a:endParaRPr lang="en-US" sz="1400" dirty="0"/>
          </a:p>
        </p:txBody>
      </p:sp>
      <p:sp>
        <p:nvSpPr>
          <p:cNvPr id="24" name="Shape 21"/>
          <p:cNvSpPr/>
          <p:nvPr/>
        </p:nvSpPr>
        <p:spPr>
          <a:xfrm>
            <a:off x="10290770" y="3613845"/>
            <a:ext cx="828080" cy="289520"/>
          </a:xfrm>
          <a:prstGeom prst="roundRect">
            <a:avLst>
              <a:gd name="adj" fmla="val 13160"/>
            </a:avLst>
          </a:prstGeom>
          <a:solidFill>
            <a:srgbClr val="B45309"/>
          </a:solidFill>
          <a:ln/>
        </p:spPr>
      </p:sp>
      <p:sp>
        <p:nvSpPr>
          <p:cNvPr id="25" name="Text 22"/>
          <p:cNvSpPr/>
          <p:nvPr/>
        </p:nvSpPr>
        <p:spPr>
          <a:xfrm>
            <a:off x="10392370" y="3651945"/>
            <a:ext cx="67568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MANUAL</a:t>
            </a:r>
            <a:endParaRPr lang="en-US" sz="1200" dirty="0"/>
          </a:p>
        </p:txBody>
      </p:sp>
      <p:sp>
        <p:nvSpPr>
          <p:cNvPr id="26" name="Shape 23"/>
          <p:cNvSpPr/>
          <p:nvPr/>
        </p:nvSpPr>
        <p:spPr>
          <a:xfrm>
            <a:off x="5289550" y="4392910"/>
            <a:ext cx="5829300" cy="0"/>
          </a:xfrm>
          <a:prstGeom prst="line">
            <a:avLst/>
          </a:prstGeom>
          <a:noFill/>
          <a:ln w="6350">
            <a:solidFill>
              <a:srgbClr val="D6D0C3"/>
            </a:solidFill>
            <a:prstDash val="solid"/>
          </a:ln>
        </p:spPr>
      </p:sp>
      <p:sp>
        <p:nvSpPr>
          <p:cNvPr id="27" name="Text 24"/>
          <p:cNvSpPr/>
          <p:nvPr/>
        </p:nvSpPr>
        <p:spPr>
          <a:xfrm>
            <a:off x="5289550" y="4082455"/>
            <a:ext cx="14136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05</a:t>
            </a:r>
            <a:r>
              <a:rPr lang="en-US" sz="1400" dirty="0">
                <a:solidFill>
                  <a:srgbClr val="1D1C1A"/>
                </a:solidFill>
                <a:latin typeface="Archivo" pitchFamily="34" charset="0"/>
                <a:ea typeface="Archivo" pitchFamily="34" charset="-122"/>
                <a:cs typeface="Archivo" pitchFamily="34" charset="-120"/>
              </a:rPr>
              <a:t> Swap Charger</a:t>
            </a:r>
            <a:endParaRPr lang="en-US" sz="1400" dirty="0"/>
          </a:p>
        </p:txBody>
      </p:sp>
      <p:sp>
        <p:nvSpPr>
          <p:cNvPr id="28" name="Shape 25"/>
          <p:cNvSpPr/>
          <p:nvPr/>
        </p:nvSpPr>
        <p:spPr>
          <a:xfrm>
            <a:off x="10290770" y="4062115"/>
            <a:ext cx="828080" cy="289520"/>
          </a:xfrm>
          <a:prstGeom prst="roundRect">
            <a:avLst>
              <a:gd name="adj" fmla="val 13160"/>
            </a:avLst>
          </a:prstGeom>
          <a:solidFill>
            <a:srgbClr val="B45309"/>
          </a:solidFill>
          <a:ln/>
        </p:spPr>
      </p:sp>
      <p:sp>
        <p:nvSpPr>
          <p:cNvPr id="29" name="Text 26"/>
          <p:cNvSpPr/>
          <p:nvPr/>
        </p:nvSpPr>
        <p:spPr>
          <a:xfrm>
            <a:off x="10392370" y="4100215"/>
            <a:ext cx="67568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MANUAL</a:t>
            </a:r>
            <a:endParaRPr lang="en-US" sz="1200" dirty="0"/>
          </a:p>
        </p:txBody>
      </p:sp>
      <p:sp>
        <p:nvSpPr>
          <p:cNvPr id="30" name="Shape 27"/>
          <p:cNvSpPr/>
          <p:nvPr/>
        </p:nvSpPr>
        <p:spPr>
          <a:xfrm>
            <a:off x="5289550" y="4841180"/>
            <a:ext cx="5829300" cy="0"/>
          </a:xfrm>
          <a:prstGeom prst="line">
            <a:avLst/>
          </a:prstGeom>
          <a:noFill/>
          <a:ln w="6350">
            <a:solidFill>
              <a:srgbClr val="D6D0C3"/>
            </a:solidFill>
            <a:prstDash val="solid"/>
          </a:ln>
        </p:spPr>
      </p:sp>
      <p:sp>
        <p:nvSpPr>
          <p:cNvPr id="31" name="Text 28"/>
          <p:cNvSpPr/>
          <p:nvPr/>
        </p:nvSpPr>
        <p:spPr>
          <a:xfrm>
            <a:off x="5289550" y="4530725"/>
            <a:ext cx="145335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06</a:t>
            </a:r>
            <a:r>
              <a:rPr lang="en-US" sz="1400" dirty="0">
                <a:solidFill>
                  <a:srgbClr val="1D1C1A"/>
                </a:solidFill>
                <a:latin typeface="Archivo" pitchFamily="34" charset="0"/>
                <a:ea typeface="Archivo" pitchFamily="34" charset="-122"/>
                <a:cs typeface="Archivo" pitchFamily="34" charset="-120"/>
              </a:rPr>
              <a:t> Restart Device</a:t>
            </a:r>
            <a:endParaRPr lang="en-US" sz="1400" dirty="0"/>
          </a:p>
        </p:txBody>
      </p:sp>
      <p:sp>
        <p:nvSpPr>
          <p:cNvPr id="32" name="Shape 29"/>
          <p:cNvSpPr/>
          <p:nvPr/>
        </p:nvSpPr>
        <p:spPr>
          <a:xfrm>
            <a:off x="10082510" y="4510385"/>
            <a:ext cx="1036340" cy="289520"/>
          </a:xfrm>
          <a:prstGeom prst="roundRect">
            <a:avLst>
              <a:gd name="adj" fmla="val 13160"/>
            </a:avLst>
          </a:prstGeom>
          <a:solidFill>
            <a:srgbClr val="B91C1C"/>
          </a:solidFill>
          <a:ln/>
        </p:spPr>
      </p:sp>
      <p:sp>
        <p:nvSpPr>
          <p:cNvPr id="33" name="Text 30"/>
          <p:cNvSpPr/>
          <p:nvPr/>
        </p:nvSpPr>
        <p:spPr>
          <a:xfrm>
            <a:off x="10184110" y="4548485"/>
            <a:ext cx="88394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CRITICAL</a:t>
            </a:r>
            <a:endParaRPr lang="en-US" sz="1200" dirty="0"/>
          </a:p>
        </p:txBody>
      </p:sp>
      <p:sp>
        <p:nvSpPr>
          <p:cNvPr id="34" name="Shape 31"/>
          <p:cNvSpPr/>
          <p:nvPr/>
        </p:nvSpPr>
        <p:spPr>
          <a:xfrm>
            <a:off x="5289550" y="5289451"/>
            <a:ext cx="5829300" cy="0"/>
          </a:xfrm>
          <a:prstGeom prst="line">
            <a:avLst/>
          </a:prstGeom>
          <a:noFill/>
          <a:ln w="6350">
            <a:solidFill>
              <a:srgbClr val="D6D0C3"/>
            </a:solidFill>
            <a:prstDash val="solid"/>
          </a:ln>
        </p:spPr>
      </p:sp>
      <p:sp>
        <p:nvSpPr>
          <p:cNvPr id="35" name="Text 32"/>
          <p:cNvSpPr/>
          <p:nvPr/>
        </p:nvSpPr>
        <p:spPr>
          <a:xfrm>
            <a:off x="5289550" y="4978995"/>
            <a:ext cx="160178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07</a:t>
            </a:r>
            <a:r>
              <a:rPr lang="en-US" sz="1400" dirty="0">
                <a:solidFill>
                  <a:srgbClr val="1D1C1A"/>
                </a:solidFill>
                <a:latin typeface="Archivo" pitchFamily="34" charset="0"/>
                <a:ea typeface="Archivo" pitchFamily="34" charset="-122"/>
                <a:cs typeface="Archivo" pitchFamily="34" charset="-120"/>
              </a:rPr>
              <a:t> Enter Safe Mode</a:t>
            </a:r>
            <a:endParaRPr lang="en-US" sz="1400" dirty="0"/>
          </a:p>
        </p:txBody>
      </p:sp>
      <p:sp>
        <p:nvSpPr>
          <p:cNvPr id="36" name="Shape 33"/>
          <p:cNvSpPr/>
          <p:nvPr/>
        </p:nvSpPr>
        <p:spPr>
          <a:xfrm>
            <a:off x="10082510" y="4958655"/>
            <a:ext cx="1036340" cy="289520"/>
          </a:xfrm>
          <a:prstGeom prst="roundRect">
            <a:avLst>
              <a:gd name="adj" fmla="val 13160"/>
            </a:avLst>
          </a:prstGeom>
          <a:solidFill>
            <a:srgbClr val="B91C1C"/>
          </a:solidFill>
          <a:ln/>
        </p:spPr>
      </p:sp>
      <p:sp>
        <p:nvSpPr>
          <p:cNvPr id="37" name="Text 34"/>
          <p:cNvSpPr/>
          <p:nvPr/>
        </p:nvSpPr>
        <p:spPr>
          <a:xfrm>
            <a:off x="10184110" y="4996755"/>
            <a:ext cx="88394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CRITICAL</a:t>
            </a:r>
            <a:endParaRPr lang="en-US" sz="1200" dirty="0"/>
          </a:p>
        </p:txBody>
      </p:sp>
      <p:sp>
        <p:nvSpPr>
          <p:cNvPr id="38" name="Shape 35"/>
          <p:cNvSpPr/>
          <p:nvPr/>
        </p:nvSpPr>
        <p:spPr>
          <a:xfrm>
            <a:off x="5289550" y="5737721"/>
            <a:ext cx="5829300" cy="0"/>
          </a:xfrm>
          <a:prstGeom prst="line">
            <a:avLst/>
          </a:prstGeom>
          <a:noFill/>
          <a:ln w="6350">
            <a:solidFill>
              <a:srgbClr val="D6D0C3"/>
            </a:solidFill>
            <a:prstDash val="solid"/>
          </a:ln>
        </p:spPr>
      </p:sp>
      <p:sp>
        <p:nvSpPr>
          <p:cNvPr id="39" name="Text 36"/>
          <p:cNvSpPr/>
          <p:nvPr/>
        </p:nvSpPr>
        <p:spPr>
          <a:xfrm>
            <a:off x="5289550" y="5427266"/>
            <a:ext cx="180742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08</a:t>
            </a:r>
            <a:r>
              <a:rPr lang="en-US" sz="1400" dirty="0">
                <a:solidFill>
                  <a:srgbClr val="1D1C1A"/>
                </a:solidFill>
                <a:latin typeface="Archivo" pitchFamily="34" charset="0"/>
                <a:ea typeface="Archivo" pitchFamily="34" charset="-122"/>
                <a:cs typeface="Archivo" pitchFamily="34" charset="-120"/>
              </a:rPr>
              <a:t> Factory Data Reset</a:t>
            </a:r>
            <a:endParaRPr lang="en-US" sz="1400" dirty="0"/>
          </a:p>
        </p:txBody>
      </p:sp>
      <p:sp>
        <p:nvSpPr>
          <p:cNvPr id="40" name="Shape 37"/>
          <p:cNvSpPr/>
          <p:nvPr/>
        </p:nvSpPr>
        <p:spPr>
          <a:xfrm>
            <a:off x="10082510" y="5406926"/>
            <a:ext cx="1036340" cy="289520"/>
          </a:xfrm>
          <a:prstGeom prst="roundRect">
            <a:avLst>
              <a:gd name="adj" fmla="val 13160"/>
            </a:avLst>
          </a:prstGeom>
          <a:solidFill>
            <a:srgbClr val="B91C1C"/>
          </a:solidFill>
          <a:ln/>
        </p:spPr>
      </p:sp>
      <p:sp>
        <p:nvSpPr>
          <p:cNvPr id="41" name="Text 38"/>
          <p:cNvSpPr/>
          <p:nvPr/>
        </p:nvSpPr>
        <p:spPr>
          <a:xfrm>
            <a:off x="10184110" y="5445026"/>
            <a:ext cx="88394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CRITICAL</a:t>
            </a:r>
            <a:endParaRPr lang="en-US" sz="1200" dirty="0"/>
          </a:p>
        </p:txBody>
      </p:sp>
      <p:sp>
        <p:nvSpPr>
          <p:cNvPr id="42" name="Text 3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43" name="Text 40"/>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03 · ARCHITECTURE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Cache first, full pipeline only on a miss</a:t>
            </a:r>
            <a:endParaRPr lang="en-US" sz="3200" dirty="0"/>
          </a:p>
        </p:txBody>
      </p:sp>
      <p:sp>
        <p:nvSpPr>
          <p:cNvPr id="4" name="Shape 2"/>
          <p:cNvSpPr/>
          <p:nvPr/>
        </p:nvSpPr>
        <p:spPr>
          <a:xfrm>
            <a:off x="815975" y="1895376"/>
            <a:ext cx="3168650" cy="1001911"/>
          </a:xfrm>
          <a:prstGeom prst="roundRect">
            <a:avLst>
              <a:gd name="adj" fmla="val 4753"/>
            </a:avLst>
          </a:prstGeom>
          <a:solidFill>
            <a:srgbClr val="FFFDF8"/>
          </a:solidFill>
          <a:ln w="6350">
            <a:solidFill>
              <a:srgbClr val="D6D0C3"/>
            </a:solidFill>
            <a:prstDash val="solid"/>
          </a:ln>
        </p:spPr>
      </p:sp>
      <p:sp>
        <p:nvSpPr>
          <p:cNvPr id="5" name="Text 3"/>
          <p:cNvSpPr/>
          <p:nvPr/>
        </p:nvSpPr>
        <p:spPr>
          <a:xfrm>
            <a:off x="971550" y="2050951"/>
            <a:ext cx="29432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Complaint</a:t>
            </a:r>
            <a:endParaRPr lang="en-US" sz="1400" dirty="0"/>
          </a:p>
        </p:txBody>
      </p:sp>
      <p:sp>
        <p:nvSpPr>
          <p:cNvPr id="6" name="Text 4"/>
          <p:cNvSpPr/>
          <p:nvPr/>
        </p:nvSpPr>
        <p:spPr>
          <a:xfrm>
            <a:off x="971550" y="2315071"/>
            <a:ext cx="29432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plus the SIIS article when it is a new problem</a:t>
            </a:r>
            <a:endParaRPr lang="en-US" sz="1200" dirty="0"/>
          </a:p>
        </p:txBody>
      </p:sp>
      <p:pic>
        <p:nvPicPr>
          <p:cNvPr id="7" name="Image 0" descr="arrow-right">    </p:cNvPr>
          <p:cNvPicPr>
            <a:picLocks noChangeAspect="1"/>
          </p:cNvPicPr>
          <p:nvPr/>
        </p:nvPicPr>
        <p:blipFill>
          <a:blip r:embed="rId1"/>
          <a:srcRect l="0" r="0" t="0" b="0"/>
          <a:stretch/>
        </p:blipFill>
        <p:spPr>
          <a:xfrm>
            <a:off x="4089400" y="2320131"/>
            <a:ext cx="304800" cy="152400"/>
          </a:xfrm>
          <a:prstGeom prst="rect">
            <a:avLst/>
          </a:prstGeom>
        </p:spPr>
      </p:pic>
      <p:sp>
        <p:nvSpPr>
          <p:cNvPr id="8" name="Shape 5"/>
          <p:cNvSpPr/>
          <p:nvPr/>
        </p:nvSpPr>
        <p:spPr>
          <a:xfrm>
            <a:off x="4505325" y="1889026"/>
            <a:ext cx="3181350" cy="1014611"/>
          </a:xfrm>
          <a:prstGeom prst="roundRect">
            <a:avLst>
              <a:gd name="adj" fmla="val 4068"/>
            </a:avLst>
          </a:prstGeom>
          <a:solidFill>
            <a:srgbClr val="FFFDF8"/>
          </a:solidFill>
          <a:ln w="19050">
            <a:solidFill>
              <a:srgbClr val="0F766E"/>
            </a:solidFill>
            <a:prstDash val="solid"/>
          </a:ln>
        </p:spPr>
      </p:sp>
      <p:sp>
        <p:nvSpPr>
          <p:cNvPr id="9" name="Text 6"/>
          <p:cNvSpPr/>
          <p:nvPr/>
        </p:nvSpPr>
        <p:spPr>
          <a:xfrm>
            <a:off x="4667250" y="2050951"/>
            <a:ext cx="29432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Semantic cache</a:t>
            </a:r>
            <a:endParaRPr lang="en-US" sz="1400" dirty="0"/>
          </a:p>
        </p:txBody>
      </p:sp>
      <p:sp>
        <p:nvSpPr>
          <p:cNvPr id="10" name="Text 7"/>
          <p:cNvSpPr/>
          <p:nvPr/>
        </p:nvSpPr>
        <p:spPr>
          <a:xfrm>
            <a:off x="4667250" y="2315071"/>
            <a:ext cx="29432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exact text, then meaning, then a margin check</a:t>
            </a:r>
            <a:endParaRPr lang="en-US" sz="1200" dirty="0"/>
          </a:p>
        </p:txBody>
      </p:sp>
      <p:pic>
        <p:nvPicPr>
          <p:cNvPr id="11" name="Image 1" descr="arrow-right">    </p:cNvPr>
          <p:cNvPicPr>
            <a:picLocks noChangeAspect="1"/>
          </p:cNvPicPr>
          <p:nvPr/>
        </p:nvPicPr>
        <p:blipFill>
          <a:blip r:embed="rId2"/>
          <a:srcRect l="0" r="0" t="0" b="0"/>
          <a:stretch/>
        </p:blipFill>
        <p:spPr>
          <a:xfrm>
            <a:off x="7797800" y="2320131"/>
            <a:ext cx="304800" cy="152400"/>
          </a:xfrm>
          <a:prstGeom prst="rect">
            <a:avLst/>
          </a:prstGeom>
        </p:spPr>
      </p:pic>
      <p:sp>
        <p:nvSpPr>
          <p:cNvPr id="12" name="Shape 8"/>
          <p:cNvSpPr/>
          <p:nvPr/>
        </p:nvSpPr>
        <p:spPr>
          <a:xfrm>
            <a:off x="8207375" y="2002036"/>
            <a:ext cx="3168650" cy="788591"/>
          </a:xfrm>
          <a:prstGeom prst="roundRect">
            <a:avLst>
              <a:gd name="adj" fmla="val 6039"/>
            </a:avLst>
          </a:prstGeom>
          <a:solidFill>
            <a:srgbClr val="0F766E"/>
          </a:solidFill>
          <a:ln w="6350">
            <a:solidFill>
              <a:srgbClr val="0F766E"/>
            </a:solidFill>
            <a:prstDash val="solid"/>
          </a:ln>
        </p:spPr>
      </p:sp>
      <p:sp>
        <p:nvSpPr>
          <p:cNvPr id="13" name="Text 9"/>
          <p:cNvSpPr/>
          <p:nvPr/>
        </p:nvSpPr>
        <p:spPr>
          <a:xfrm>
            <a:off x="8362950" y="2157611"/>
            <a:ext cx="294322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1EA"/>
                </a:solidFill>
                <a:latin typeface="Archivo" pitchFamily="34" charset="0"/>
                <a:ea typeface="Archivo" pitchFamily="34" charset="-122"/>
                <a:cs typeface="Archivo" pitchFamily="34" charset="-120"/>
              </a:rPr>
              <a:t>Validated plan</a:t>
            </a:r>
            <a:endParaRPr lang="en-US" sz="1400" dirty="0"/>
          </a:p>
        </p:txBody>
      </p:sp>
      <p:sp>
        <p:nvSpPr>
          <p:cNvPr id="14" name="Text 10"/>
          <p:cNvSpPr/>
          <p:nvPr/>
        </p:nvSpPr>
        <p:spPr>
          <a:xfrm>
            <a:off x="8362950" y="2421731"/>
            <a:ext cx="29432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BE7"/>
                </a:solidFill>
                <a:latin typeface="Archivo" pitchFamily="34" charset="0"/>
                <a:ea typeface="Archivo" pitchFamily="34" charset="-122"/>
                <a:cs typeface="Archivo" pitchFamily="34" charset="-120"/>
              </a:rPr>
              <a:t>on a hit: 0.1 to 46 ms, $0</a:t>
            </a:r>
            <a:endParaRPr lang="en-US" sz="1200" dirty="0"/>
          </a:p>
        </p:txBody>
      </p:sp>
      <p:sp>
        <p:nvSpPr>
          <p:cNvPr id="15" name="Text 11"/>
          <p:cNvSpPr/>
          <p:nvPr/>
        </p:nvSpPr>
        <p:spPr>
          <a:xfrm>
            <a:off x="812800" y="30909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09"/>
                </a:solidFill>
                <a:latin typeface="JetBrains Mono" pitchFamily="34" charset="0"/>
                <a:ea typeface="JetBrains Mono" pitchFamily="34" charset="-122"/>
                <a:cs typeface="JetBrains Mono" pitchFamily="34" charset="-120"/>
              </a:rPr>
              <a:t>↓ on a miss: new problem, so run the full pipeline (about 3 to 5 s, about 3k tokens)</a:t>
            </a:r>
            <a:endParaRPr lang="en-US" sz="1200" dirty="0"/>
          </a:p>
        </p:txBody>
      </p:sp>
      <p:sp>
        <p:nvSpPr>
          <p:cNvPr id="16" name="Shape 12"/>
          <p:cNvSpPr/>
          <p:nvPr/>
        </p:nvSpPr>
        <p:spPr>
          <a:xfrm>
            <a:off x="815975" y="3485257"/>
            <a:ext cx="1700510" cy="1428552"/>
          </a:xfrm>
          <a:prstGeom prst="roundRect">
            <a:avLst>
              <a:gd name="adj" fmla="val 3334"/>
            </a:avLst>
          </a:prstGeom>
          <a:solidFill>
            <a:srgbClr val="FFFDF8"/>
          </a:solidFill>
          <a:ln w="6350">
            <a:solidFill>
              <a:srgbClr val="D6D0C3"/>
            </a:solidFill>
            <a:prstDash val="solid"/>
          </a:ln>
        </p:spPr>
      </p:sp>
      <p:sp>
        <p:nvSpPr>
          <p:cNvPr id="17" name="Text 13"/>
          <p:cNvSpPr/>
          <p:nvPr/>
        </p:nvSpPr>
        <p:spPr>
          <a:xfrm>
            <a:off x="971550" y="3640832"/>
            <a:ext cx="1440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LLM extraction</a:t>
            </a:r>
            <a:endParaRPr lang="en-US" sz="1400" dirty="0"/>
          </a:p>
        </p:txBody>
      </p:sp>
      <p:sp>
        <p:nvSpPr>
          <p:cNvPr id="18" name="Text 14"/>
          <p:cNvSpPr/>
          <p:nvPr/>
        </p:nvSpPr>
        <p:spPr>
          <a:xfrm>
            <a:off x="971550" y="3904952"/>
            <a:ext cx="1440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article text to goal, actions and steps</a:t>
            </a:r>
            <a:endParaRPr lang="en-US" sz="1200" dirty="0"/>
          </a:p>
        </p:txBody>
      </p:sp>
      <p:pic>
        <p:nvPicPr>
          <p:cNvPr id="19" name="Image 2" descr="arrow-right">    </p:cNvPr>
          <p:cNvPicPr>
            <a:picLocks noChangeAspect="1"/>
          </p:cNvPicPr>
          <p:nvPr/>
        </p:nvPicPr>
        <p:blipFill>
          <a:blip r:embed="rId3"/>
          <a:srcRect l="0" r="0" t="0" b="0"/>
          <a:stretch/>
        </p:blipFill>
        <p:spPr>
          <a:xfrm>
            <a:off x="2621260" y="3482082"/>
            <a:ext cx="304800" cy="152400"/>
          </a:xfrm>
          <a:prstGeom prst="rect">
            <a:avLst/>
          </a:prstGeom>
        </p:spPr>
      </p:pic>
      <p:sp>
        <p:nvSpPr>
          <p:cNvPr id="20" name="Shape 15"/>
          <p:cNvSpPr/>
          <p:nvPr/>
        </p:nvSpPr>
        <p:spPr>
          <a:xfrm>
            <a:off x="3030835" y="3485257"/>
            <a:ext cx="1700609" cy="1428552"/>
          </a:xfrm>
          <a:prstGeom prst="roundRect">
            <a:avLst>
              <a:gd name="adj" fmla="val 3334"/>
            </a:avLst>
          </a:prstGeom>
          <a:solidFill>
            <a:srgbClr val="FFFDF8"/>
          </a:solidFill>
          <a:ln w="6350">
            <a:solidFill>
              <a:srgbClr val="D6D0C3"/>
            </a:solidFill>
            <a:prstDash val="solid"/>
          </a:ln>
        </p:spPr>
      </p:sp>
      <p:sp>
        <p:nvSpPr>
          <p:cNvPr id="21" name="Text 16"/>
          <p:cNvSpPr/>
          <p:nvPr/>
        </p:nvSpPr>
        <p:spPr>
          <a:xfrm>
            <a:off x="3186410" y="3640832"/>
            <a:ext cx="1440259"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Validators + grounding</a:t>
            </a:r>
            <a:endParaRPr lang="en-US" sz="1400" dirty="0"/>
          </a:p>
        </p:txBody>
      </p:sp>
      <p:sp>
        <p:nvSpPr>
          <p:cNvPr id="22" name="Text 17"/>
          <p:cNvSpPr/>
          <p:nvPr/>
        </p:nvSpPr>
        <p:spPr>
          <a:xfrm>
            <a:off x="3186410" y="4118273"/>
            <a:ext cx="14402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word counts, URL scrub, drop invented steps</a:t>
            </a:r>
            <a:endParaRPr lang="en-US" sz="1200" dirty="0"/>
          </a:p>
        </p:txBody>
      </p:sp>
      <p:pic>
        <p:nvPicPr>
          <p:cNvPr id="23" name="Image 3" descr="arrow-right">    </p:cNvPr>
          <p:cNvPicPr>
            <a:picLocks noChangeAspect="1"/>
          </p:cNvPicPr>
          <p:nvPr/>
        </p:nvPicPr>
        <p:blipFill>
          <a:blip r:embed="rId4"/>
          <a:srcRect l="0" r="0" t="0" b="0"/>
          <a:stretch/>
        </p:blipFill>
        <p:spPr>
          <a:xfrm>
            <a:off x="4836220" y="3482082"/>
            <a:ext cx="304800" cy="152400"/>
          </a:xfrm>
          <a:prstGeom prst="rect">
            <a:avLst/>
          </a:prstGeom>
        </p:spPr>
      </p:pic>
      <p:sp>
        <p:nvSpPr>
          <p:cNvPr id="24" name="Shape 18"/>
          <p:cNvSpPr/>
          <p:nvPr/>
        </p:nvSpPr>
        <p:spPr>
          <a:xfrm>
            <a:off x="5245795" y="3485257"/>
            <a:ext cx="1700510" cy="1428552"/>
          </a:xfrm>
          <a:prstGeom prst="roundRect">
            <a:avLst>
              <a:gd name="adj" fmla="val 3334"/>
            </a:avLst>
          </a:prstGeom>
          <a:solidFill>
            <a:srgbClr val="FFFDF8"/>
          </a:solidFill>
          <a:ln w="6350">
            <a:solidFill>
              <a:srgbClr val="D6D0C3"/>
            </a:solidFill>
            <a:prstDash val="solid"/>
          </a:ln>
        </p:spPr>
      </p:sp>
      <p:sp>
        <p:nvSpPr>
          <p:cNvPr id="25" name="Text 19"/>
          <p:cNvSpPr/>
          <p:nvPr/>
        </p:nvSpPr>
        <p:spPr>
          <a:xfrm>
            <a:off x="5401370" y="3640832"/>
            <a:ext cx="144016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Deeplink mapping</a:t>
            </a:r>
            <a:endParaRPr lang="en-US" sz="1400" dirty="0"/>
          </a:p>
        </p:txBody>
      </p:sp>
      <p:sp>
        <p:nvSpPr>
          <p:cNvPr id="26" name="Text 20"/>
          <p:cNvSpPr/>
          <p:nvPr/>
        </p:nvSpPr>
        <p:spPr>
          <a:xfrm>
            <a:off x="5401370" y="4118273"/>
            <a:ext cx="1440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BM25 + dense retrieval + exact-name gate</a:t>
            </a:r>
            <a:endParaRPr lang="en-US" sz="1200" dirty="0"/>
          </a:p>
        </p:txBody>
      </p:sp>
      <p:pic>
        <p:nvPicPr>
          <p:cNvPr id="27" name="Image 4" descr="arrow-right">    </p:cNvPr>
          <p:cNvPicPr>
            <a:picLocks noChangeAspect="1"/>
          </p:cNvPicPr>
          <p:nvPr/>
        </p:nvPicPr>
        <p:blipFill>
          <a:blip r:embed="rId5"/>
          <a:srcRect l="0" r="0" t="0" b="0"/>
          <a:stretch/>
        </p:blipFill>
        <p:spPr>
          <a:xfrm>
            <a:off x="7051080" y="3482082"/>
            <a:ext cx="304800" cy="152400"/>
          </a:xfrm>
          <a:prstGeom prst="rect">
            <a:avLst/>
          </a:prstGeom>
        </p:spPr>
      </p:pic>
      <p:sp>
        <p:nvSpPr>
          <p:cNvPr id="28" name="Shape 21"/>
          <p:cNvSpPr/>
          <p:nvPr/>
        </p:nvSpPr>
        <p:spPr>
          <a:xfrm>
            <a:off x="7460655" y="3485257"/>
            <a:ext cx="1700510" cy="1428552"/>
          </a:xfrm>
          <a:prstGeom prst="roundRect">
            <a:avLst>
              <a:gd name="adj" fmla="val 3334"/>
            </a:avLst>
          </a:prstGeom>
          <a:solidFill>
            <a:srgbClr val="FFFDF8"/>
          </a:solidFill>
          <a:ln w="6350">
            <a:solidFill>
              <a:srgbClr val="D6D0C3"/>
            </a:solidFill>
            <a:prstDash val="solid"/>
          </a:ln>
        </p:spPr>
      </p:sp>
      <p:sp>
        <p:nvSpPr>
          <p:cNvPr id="29" name="Text 22"/>
          <p:cNvSpPr/>
          <p:nvPr/>
        </p:nvSpPr>
        <p:spPr>
          <a:xfrm>
            <a:off x="7616230" y="3640832"/>
            <a:ext cx="1440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Ordering</a:t>
            </a:r>
            <a:endParaRPr lang="en-US" sz="1400" dirty="0"/>
          </a:p>
        </p:txBody>
      </p:sp>
      <p:sp>
        <p:nvSpPr>
          <p:cNvPr id="30" name="Text 23"/>
          <p:cNvSpPr/>
          <p:nvPr/>
        </p:nvSpPr>
        <p:spPr>
          <a:xfrm>
            <a:off x="7616230" y="3904952"/>
            <a:ext cx="1440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auto, then manual, then critical</a:t>
            </a:r>
            <a:endParaRPr lang="en-US" sz="1200" dirty="0"/>
          </a:p>
        </p:txBody>
      </p:sp>
      <p:pic>
        <p:nvPicPr>
          <p:cNvPr id="31" name="Image 5" descr="arrow-right">    </p:cNvPr>
          <p:cNvPicPr>
            <a:picLocks noChangeAspect="1"/>
          </p:cNvPicPr>
          <p:nvPr/>
        </p:nvPicPr>
        <p:blipFill>
          <a:blip r:embed="rId6"/>
          <a:srcRect l="0" r="0" t="0" b="0"/>
          <a:stretch/>
        </p:blipFill>
        <p:spPr>
          <a:xfrm>
            <a:off x="9265940" y="3482082"/>
            <a:ext cx="304800" cy="152400"/>
          </a:xfrm>
          <a:prstGeom prst="rect">
            <a:avLst/>
          </a:prstGeom>
        </p:spPr>
      </p:pic>
      <p:sp>
        <p:nvSpPr>
          <p:cNvPr id="32" name="Shape 24"/>
          <p:cNvSpPr/>
          <p:nvPr/>
        </p:nvSpPr>
        <p:spPr>
          <a:xfrm>
            <a:off x="9675515" y="3485257"/>
            <a:ext cx="1700510" cy="1428552"/>
          </a:xfrm>
          <a:prstGeom prst="roundRect">
            <a:avLst>
              <a:gd name="adj" fmla="val 3334"/>
            </a:avLst>
          </a:prstGeom>
          <a:solidFill>
            <a:srgbClr val="FFFDF8"/>
          </a:solidFill>
          <a:ln w="6350">
            <a:solidFill>
              <a:srgbClr val="D6D0C3"/>
            </a:solidFill>
            <a:prstDash val="solid"/>
          </a:ln>
        </p:spPr>
      </p:sp>
      <p:sp>
        <p:nvSpPr>
          <p:cNvPr id="33" name="Text 25"/>
          <p:cNvSpPr/>
          <p:nvPr/>
        </p:nvSpPr>
        <p:spPr>
          <a:xfrm>
            <a:off x="9831090" y="3640832"/>
            <a:ext cx="14401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1C1A"/>
                </a:solidFill>
                <a:latin typeface="Archivo" pitchFamily="34" charset="0"/>
                <a:ea typeface="Archivo" pitchFamily="34" charset="-122"/>
                <a:cs typeface="Archivo" pitchFamily="34" charset="-120"/>
              </a:rPr>
              <a:t>Audit + store</a:t>
            </a:r>
            <a:endParaRPr lang="en-US" sz="1400" dirty="0"/>
          </a:p>
        </p:txBody>
      </p:sp>
      <p:sp>
        <p:nvSpPr>
          <p:cNvPr id="34" name="Text 26"/>
          <p:cNvSpPr/>
          <p:nvPr/>
        </p:nvSpPr>
        <p:spPr>
          <a:xfrm>
            <a:off x="9831090" y="3904952"/>
            <a:ext cx="1440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schema check, then write to cache</a:t>
            </a:r>
            <a:endParaRPr lang="en-US" sz="1200" dirty="0"/>
          </a:p>
        </p:txBody>
      </p:sp>
      <p:sp>
        <p:nvSpPr>
          <p:cNvPr id="35" name="Text 27"/>
          <p:cNvSpPr/>
          <p:nvPr/>
        </p:nvSpPr>
        <p:spPr>
          <a:xfrm>
            <a:off x="812800" y="50947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The only LLM call is extraction. Everything after it is deterministic code.</a:t>
            </a:r>
            <a:endParaRPr lang="en-US" sz="1200" dirty="0"/>
          </a:p>
        </p:txBody>
      </p:sp>
      <p:sp>
        <p:nvSpPr>
          <p:cNvPr id="36" name="Text 2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37" name="Text 29"/>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766E"/>
        </a:solidFill>
      </p:bgPr>
    </p:bg>
    <p:spTree>
      <p:nvGrpSpPr>
        <p:cNvPr id="1" name=""/>
        <p:cNvGrpSpPr/>
        <p:nvPr/>
      </p:nvGrpSpPr>
      <p:grpSpPr>
        <a:xfrm>
          <a:off x="0" y="0"/>
          <a:ext cx="0" cy="0"/>
          <a:chOff x="0" y="0"/>
          <a:chExt cx="0" cy="0"/>
        </a:xfrm>
      </p:grpSpPr>
      <p:sp>
        <p:nvSpPr>
          <p:cNvPr id="2" name="Text 0"/>
          <p:cNvSpPr/>
          <p:nvPr/>
        </p:nvSpPr>
        <p:spPr>
          <a:xfrm>
            <a:off x="812800" y="16421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FE3DC"/>
                </a:solidFill>
                <a:latin typeface="JetBrains Mono" pitchFamily="34" charset="0"/>
                <a:ea typeface="JetBrains Mono" pitchFamily="34" charset="-122"/>
                <a:cs typeface="JetBrains Mono" pitchFamily="34" charset="-120"/>
              </a:rPr>
              <a:t>04 · DESIGN PRINCIPLE</a:t>
            </a:r>
            <a:endParaRPr lang="en-US" sz="1200" dirty="0"/>
          </a:p>
        </p:txBody>
      </p:sp>
      <p:sp>
        <p:nvSpPr>
          <p:cNvPr id="3" name="Text 1"/>
          <p:cNvSpPr/>
          <p:nvPr/>
        </p:nvSpPr>
        <p:spPr>
          <a:xfrm>
            <a:off x="812800" y="2211090"/>
            <a:ext cx="10883392" cy="2057400"/>
          </a:xfrm>
          <a:prstGeom prst="rect">
            <a:avLst/>
          </a:prstGeom>
          <a:noFill/>
          <a:ln/>
        </p:spPr>
        <p:txBody>
          <a:bodyPr wrap="square" lIns="0" tIns="0" rIns="0" bIns="0" rtlCol="0" anchor="t">
            <a:normAutofit/>
          </a:bodyPr>
          <a:lstStyle/>
          <a:p>
            <a:pPr algn="l" indent="0" marL="0">
              <a:lnSpc>
                <a:spcPts val="8000"/>
              </a:lnSpc>
              <a:buNone/>
            </a:pPr>
            <a:r>
              <a:rPr lang="en-US" sz="8000" b="1" spc="-200" kern="0" dirty="0">
                <a:solidFill>
                  <a:srgbClr val="F4F1EA"/>
                </a:solidFill>
                <a:latin typeface="Archivo" pitchFamily="34" charset="0"/>
                <a:ea typeface="Archivo" pitchFamily="34" charset="-122"/>
                <a:cs typeface="Archivo" pitchFamily="34" charset="-120"/>
              </a:rPr>
              <a:t>The LLM reads.</a:t>
            </a:r>
            <a:endParaRPr lang="en-US" sz="8000" dirty="0"/>
          </a:p>
          <a:p>
            <a:pPr algn="l" indent="0" marL="0">
              <a:lnSpc>
                <a:spcPts val="8000"/>
              </a:lnSpc>
              <a:buNone/>
            </a:pPr>
            <a:r>
              <a:rPr lang="en-US" sz="8000" b="1" spc="-200" kern="0" dirty="0">
                <a:solidFill>
                  <a:srgbClr val="F4F1EA"/>
                </a:solidFill>
                <a:latin typeface="Archivo" pitchFamily="34" charset="0"/>
                <a:ea typeface="Archivo" pitchFamily="34" charset="-122"/>
                <a:cs typeface="Archivo" pitchFamily="34" charset="-120"/>
              </a:rPr>
              <a:t>Code decides.</a:t>
            </a:r>
            <a:endParaRPr lang="en-US" sz="8000" dirty="0"/>
          </a:p>
        </p:txBody>
      </p:sp>
      <p:sp>
        <p:nvSpPr>
          <p:cNvPr id="4" name="Text 2"/>
          <p:cNvSpPr/>
          <p:nvPr/>
        </p:nvSpPr>
        <p:spPr>
          <a:xfrm>
            <a:off x="812800" y="459869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CEBE7"/>
                </a:solidFill>
                <a:latin typeface="Archivo" pitchFamily="34" charset="0"/>
                <a:ea typeface="Archivo" pitchFamily="34" charset="-122"/>
                <a:cs typeface="Archivo" pitchFamily="34" charset="-120"/>
              </a:rPr>
              <a:t>The model only restructures article text. Rules, deeplinks, categories and ordering are enforced in code, so a deeplink can never be invented.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05 · GUARDRAILS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Four checks on every answer</a:t>
            </a:r>
            <a:endParaRPr lang="en-US" sz="3200" dirty="0"/>
          </a:p>
        </p:txBody>
      </p:sp>
      <p:sp>
        <p:nvSpPr>
          <p:cNvPr id="4" name="Shape 2"/>
          <p:cNvSpPr/>
          <p:nvPr/>
        </p:nvSpPr>
        <p:spPr>
          <a:xfrm>
            <a:off x="815975" y="1882676"/>
            <a:ext cx="5175250" cy="1418431"/>
          </a:xfrm>
          <a:prstGeom prst="roundRect">
            <a:avLst>
              <a:gd name="adj" fmla="val 3358"/>
            </a:avLst>
          </a:prstGeom>
          <a:solidFill>
            <a:srgbClr val="FFFDF8"/>
          </a:solidFill>
          <a:ln w="6350">
            <a:solidFill>
              <a:srgbClr val="D6D0C3"/>
            </a:solidFill>
            <a:prstDash val="solid"/>
          </a:ln>
        </p:spPr>
      </p:sp>
      <p:pic>
        <p:nvPicPr>
          <p:cNvPr id="5" name="Image 0" descr="Check">    </p:cNvPr>
          <p:cNvPicPr>
            <a:picLocks noChangeAspect="1"/>
          </p:cNvPicPr>
          <p:nvPr/>
        </p:nvPicPr>
        <p:blipFill>
          <a:blip r:embed="rId1"/>
          <a:srcRect l="0" r="0" t="0" b="0"/>
          <a:stretch/>
        </p:blipFill>
        <p:spPr>
          <a:xfrm>
            <a:off x="1073150" y="2139851"/>
            <a:ext cx="304800" cy="304800"/>
          </a:xfrm>
          <a:prstGeom prst="rect">
            <a:avLst/>
          </a:prstGeom>
        </p:spPr>
      </p:pic>
      <p:sp>
        <p:nvSpPr>
          <p:cNvPr id="6" name="Text 3"/>
          <p:cNvSpPr/>
          <p:nvPr/>
        </p:nvSpPr>
        <p:spPr>
          <a:xfrm>
            <a:off x="1504950" y="2155130"/>
            <a:ext cx="150584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Rules in code</a:t>
            </a:r>
            <a:endParaRPr lang="en-US" sz="1800" dirty="0"/>
          </a:p>
        </p:txBody>
      </p:sp>
      <p:sp>
        <p:nvSpPr>
          <p:cNvPr id="7" name="Text 4"/>
          <p:cNvSpPr/>
          <p:nvPr/>
        </p:nvSpPr>
        <p:spPr>
          <a:xfrm>
            <a:off x="1073150" y="254625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Word counts, Title Case and goal syntax are validated and auto-fixed after every LLM call.</a:t>
            </a:r>
            <a:endParaRPr lang="en-US" sz="1400" dirty="0"/>
          </a:p>
        </p:txBody>
      </p:sp>
      <p:sp>
        <p:nvSpPr>
          <p:cNvPr id="8" name="Shape 5"/>
          <p:cNvSpPr/>
          <p:nvPr/>
        </p:nvSpPr>
        <p:spPr>
          <a:xfrm>
            <a:off x="6200775" y="1882676"/>
            <a:ext cx="5175250" cy="1418431"/>
          </a:xfrm>
          <a:prstGeom prst="roundRect">
            <a:avLst>
              <a:gd name="adj" fmla="val 3358"/>
            </a:avLst>
          </a:prstGeom>
          <a:solidFill>
            <a:srgbClr val="FFFDF8"/>
          </a:solidFill>
          <a:ln w="6350">
            <a:solidFill>
              <a:srgbClr val="D6D0C3"/>
            </a:solidFill>
            <a:prstDash val="solid"/>
          </a:ln>
        </p:spPr>
      </p:sp>
      <p:pic>
        <p:nvPicPr>
          <p:cNvPr id="9" name="Image 1" descr="Lock">    </p:cNvPr>
          <p:cNvPicPr>
            <a:picLocks noChangeAspect="1"/>
          </p:cNvPicPr>
          <p:nvPr/>
        </p:nvPicPr>
        <p:blipFill>
          <a:blip r:embed="rId2"/>
          <a:srcRect l="0" r="0" t="0" b="0"/>
          <a:stretch/>
        </p:blipFill>
        <p:spPr>
          <a:xfrm>
            <a:off x="6457950" y="2139851"/>
            <a:ext cx="304800" cy="304800"/>
          </a:xfrm>
          <a:prstGeom prst="rect">
            <a:avLst/>
          </a:prstGeom>
        </p:spPr>
      </p:pic>
      <p:sp>
        <p:nvSpPr>
          <p:cNvPr id="10" name="Text 6"/>
          <p:cNvSpPr/>
          <p:nvPr/>
        </p:nvSpPr>
        <p:spPr>
          <a:xfrm>
            <a:off x="6889750" y="2155130"/>
            <a:ext cx="169862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Zero URL leaks</a:t>
            </a:r>
            <a:endParaRPr lang="en-US" sz="1800" dirty="0"/>
          </a:p>
        </p:txBody>
      </p:sp>
      <p:sp>
        <p:nvSpPr>
          <p:cNvPr id="11" name="Text 7"/>
          <p:cNvSpPr/>
          <p:nvPr/>
        </p:nvSpPr>
        <p:spPr>
          <a:xfrm>
            <a:off x="6457950" y="254625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Links, domains and emails are scrubbed, including an email hidden inside one source article.</a:t>
            </a:r>
            <a:endParaRPr lang="en-US" sz="1400" dirty="0"/>
          </a:p>
        </p:txBody>
      </p:sp>
      <p:sp>
        <p:nvSpPr>
          <p:cNvPr id="12" name="Shape 8"/>
          <p:cNvSpPr/>
          <p:nvPr/>
        </p:nvSpPr>
        <p:spPr>
          <a:xfrm>
            <a:off x="815975" y="3510657"/>
            <a:ext cx="5175250" cy="1418431"/>
          </a:xfrm>
          <a:prstGeom prst="roundRect">
            <a:avLst>
              <a:gd name="adj" fmla="val 3358"/>
            </a:avLst>
          </a:prstGeom>
          <a:solidFill>
            <a:srgbClr val="FFFDF8"/>
          </a:solidFill>
          <a:ln w="6350">
            <a:solidFill>
              <a:srgbClr val="D6D0C3"/>
            </a:solidFill>
            <a:prstDash val="solid"/>
          </a:ln>
        </p:spPr>
      </p:sp>
      <p:pic>
        <p:nvPicPr>
          <p:cNvPr id="13" name="Image 2" descr="Search">    </p:cNvPr>
          <p:cNvPicPr>
            <a:picLocks noChangeAspect="1"/>
          </p:cNvPicPr>
          <p:nvPr/>
        </p:nvPicPr>
        <p:blipFill>
          <a:blip r:embed="rId3"/>
          <a:srcRect l="0" r="0" t="0" b="0"/>
          <a:stretch/>
        </p:blipFill>
        <p:spPr>
          <a:xfrm>
            <a:off x="1073150" y="3767832"/>
            <a:ext cx="304800" cy="304800"/>
          </a:xfrm>
          <a:prstGeom prst="rect">
            <a:avLst/>
          </a:prstGeom>
        </p:spPr>
      </p:pic>
      <p:sp>
        <p:nvSpPr>
          <p:cNvPr id="14" name="Text 9"/>
          <p:cNvSpPr/>
          <p:nvPr/>
        </p:nvSpPr>
        <p:spPr>
          <a:xfrm>
            <a:off x="1504950" y="3783112"/>
            <a:ext cx="192372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Grounding check</a:t>
            </a:r>
            <a:endParaRPr lang="en-US" sz="1800" dirty="0"/>
          </a:p>
        </p:txBody>
      </p:sp>
      <p:sp>
        <p:nvSpPr>
          <p:cNvPr id="15" name="Text 10"/>
          <p:cNvSpPr/>
          <p:nvPr/>
        </p:nvSpPr>
        <p:spPr>
          <a:xfrm>
            <a:off x="1073150" y="4174232"/>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Every step must trace back to the article. An unstated “Release the buttons.” was caught and dropped.</a:t>
            </a:r>
            <a:endParaRPr lang="en-US" sz="1400" dirty="0"/>
          </a:p>
        </p:txBody>
      </p:sp>
      <p:sp>
        <p:nvSpPr>
          <p:cNvPr id="16" name="Shape 11"/>
          <p:cNvSpPr/>
          <p:nvPr/>
        </p:nvSpPr>
        <p:spPr>
          <a:xfrm>
            <a:off x="6200775" y="3510657"/>
            <a:ext cx="5175250" cy="1418431"/>
          </a:xfrm>
          <a:prstGeom prst="roundRect">
            <a:avLst>
              <a:gd name="adj" fmla="val 3358"/>
            </a:avLst>
          </a:prstGeom>
          <a:solidFill>
            <a:srgbClr val="FFFDF8"/>
          </a:solidFill>
          <a:ln w="6350">
            <a:solidFill>
              <a:srgbClr val="D6D0C3"/>
            </a:solidFill>
            <a:prstDash val="solid"/>
          </a:ln>
        </p:spPr>
      </p:sp>
      <p:pic>
        <p:nvPicPr>
          <p:cNvPr id="17" name="Image 3" descr="Verified">    </p:cNvPr>
          <p:cNvPicPr>
            <a:picLocks noChangeAspect="1"/>
          </p:cNvPicPr>
          <p:nvPr/>
        </p:nvPicPr>
        <p:blipFill>
          <a:blip r:embed="rId4"/>
          <a:srcRect l="0" r="0" t="0" b="0"/>
          <a:stretch/>
        </p:blipFill>
        <p:spPr>
          <a:xfrm>
            <a:off x="6457950" y="3767832"/>
            <a:ext cx="304800" cy="304800"/>
          </a:xfrm>
          <a:prstGeom prst="rect">
            <a:avLst/>
          </a:prstGeom>
        </p:spPr>
      </p:pic>
      <p:sp>
        <p:nvSpPr>
          <p:cNvPr id="18" name="Text 12"/>
          <p:cNvSpPr/>
          <p:nvPr/>
        </p:nvSpPr>
        <p:spPr>
          <a:xfrm>
            <a:off x="6889750" y="3783112"/>
            <a:ext cx="238523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Schema + pure JSON</a:t>
            </a:r>
            <a:endParaRPr lang="en-US" sz="1800" dirty="0"/>
          </a:p>
        </p:txBody>
      </p:sp>
      <p:sp>
        <p:nvSpPr>
          <p:cNvPr id="19" name="Text 13"/>
          <p:cNvSpPr/>
          <p:nvPr/>
        </p:nvSpPr>
        <p:spPr>
          <a:xfrm>
            <a:off x="6457950" y="4174232"/>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Every response is re-validated against schema.py before it leaves the API.</a:t>
            </a:r>
            <a:endParaRPr lang="en-US" sz="1400" dirty="0"/>
          </a:p>
        </p:txBody>
      </p:sp>
      <p:sp>
        <p:nvSpPr>
          <p:cNvPr id="20"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21" name="Text 15"/>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06 · DEEPLINK MAPPING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Exact screen, never a look-alike</a:t>
            </a:r>
            <a:endParaRPr lang="en-US" sz="3200" dirty="0"/>
          </a:p>
        </p:txBody>
      </p:sp>
      <p:sp>
        <p:nvSpPr>
          <p:cNvPr id="4" name="Text 2"/>
          <p:cNvSpPr/>
          <p:nvPr/>
        </p:nvSpPr>
        <p:spPr>
          <a:xfrm>
            <a:off x="812800" y="1879501"/>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Retrieval proposes candidates from 550 phone deeplinks. A word-order-aware name gate accepts one only if its setting name matches a screen the step actually names.</a:t>
            </a:r>
            <a:endParaRPr lang="en-US" sz="1400" dirty="0"/>
          </a:p>
        </p:txBody>
      </p:sp>
      <p:sp>
        <p:nvSpPr>
          <p:cNvPr id="5" name="Shape 3"/>
          <p:cNvSpPr/>
          <p:nvPr/>
        </p:nvSpPr>
        <p:spPr>
          <a:xfrm>
            <a:off x="812800" y="2681982"/>
            <a:ext cx="10566400" cy="2527598"/>
          </a:xfrm>
          <a:prstGeom prst="rect">
            <a:avLst/>
          </a:prstGeom>
          <a:solidFill>
            <a:srgbClr val="FFFDF8"/>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94682"/>
          <a:ext cx="10553700" cy="2514898"/>
        </p:xfrm>
        <a:graphic>
          <a:graphicData uri="http://schemas.openxmlformats.org/drawingml/2006/table">
            <a:tbl>
              <a:tblPr/>
              <a:tblGrid>
                <a:gridCol w="3377184"/>
                <a:gridCol w="4432554"/>
                <a:gridCol w="2743962"/>
              </a:tblGrid>
              <a:tr h="359271">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Screen named in the step</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Closest catalog entry</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Result</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Super steady mode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Easy mode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B91C1C"/>
                          </a:solidFill>
                          <a:latin typeface="Archivo" pitchFamily="34" charset="0"/>
                          <a:ea typeface="Archivo" pitchFamily="34" charset="-122"/>
                          <a:cs typeface="Archivo" pitchFamily="34" charset="-120"/>
                        </a:rPr>
                        <a:t>Rejected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Navigation bar</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Hide status and navigation bars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B91C1C"/>
                          </a:solidFill>
                          <a:latin typeface="Archivo" pitchFamily="34" charset="0"/>
                          <a:ea typeface="Archivo" pitchFamily="34" charset="-122"/>
                          <a:cs typeface="Archivo" pitchFamily="34" charset="-120"/>
                        </a:rPr>
                        <a:t>Rejected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Factory data reset</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Auto factory reset</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B91C1C"/>
                          </a:solidFill>
                          <a:latin typeface="Archivo" pitchFamily="34" charset="0"/>
                          <a:ea typeface="Archivo" pitchFamily="34" charset="-122"/>
                          <a:cs typeface="Archivo" pitchFamily="34" charset="-120"/>
                        </a:rPr>
                        <a:t>Rejected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Screen lock and biometrics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Lock screen</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B91C1C"/>
                          </a:solidFill>
                          <a:latin typeface="Archivo" pitchFamily="34" charset="0"/>
                          <a:ea typeface="Archivo" pitchFamily="34" charset="-122"/>
                          <a:cs typeface="Archivo" pitchFamily="34" charset="-120"/>
                        </a:rPr>
                        <a:t>Rejected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Touch sensitivity, on / off</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Enable / Disable Touch sensitivity</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Matched by verb</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Back up data</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Back up data (TechCorp Cloud)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Same link as official sample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Text 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8" name="Text 5"/>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07 · PLAN HIERARCHY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Least disruptive first, destructive last</a:t>
            </a:r>
            <a:endParaRPr lang="en-US" sz="3200" dirty="0"/>
          </a:p>
        </p:txBody>
      </p:sp>
      <p:sp>
        <p:nvSpPr>
          <p:cNvPr id="4" name="Shape 2"/>
          <p:cNvSpPr/>
          <p:nvPr/>
        </p:nvSpPr>
        <p:spPr>
          <a:xfrm>
            <a:off x="815975" y="1882676"/>
            <a:ext cx="3109317" cy="2030611"/>
          </a:xfrm>
          <a:prstGeom prst="roundRect">
            <a:avLst>
              <a:gd name="adj" fmla="val 2345"/>
            </a:avLst>
          </a:prstGeom>
          <a:solidFill>
            <a:srgbClr val="FFFDF8"/>
          </a:solidFill>
          <a:ln w="6350">
            <a:solidFill>
              <a:srgbClr val="D6D0C3"/>
            </a:solidFill>
            <a:prstDash val="solid"/>
          </a:ln>
        </p:spPr>
      </p:sp>
      <p:sp>
        <p:nvSpPr>
          <p:cNvPr id="5" name="Shape 3"/>
          <p:cNvSpPr/>
          <p:nvPr/>
        </p:nvSpPr>
        <p:spPr>
          <a:xfrm>
            <a:off x="1073150" y="2089051"/>
            <a:ext cx="2594967" cy="289520"/>
          </a:xfrm>
          <a:prstGeom prst="roundRect">
            <a:avLst>
              <a:gd name="adj" fmla="val 13160"/>
            </a:avLst>
          </a:prstGeom>
          <a:solidFill>
            <a:srgbClr val="0F766E"/>
          </a:solidFill>
          <a:ln/>
        </p:spPr>
      </p:sp>
      <p:sp>
        <p:nvSpPr>
          <p:cNvPr id="6" name="Text 4"/>
          <p:cNvSpPr/>
          <p:nvPr/>
        </p:nvSpPr>
        <p:spPr>
          <a:xfrm>
            <a:off x="1174750" y="2127151"/>
            <a:ext cx="2463520"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AUTO</a:t>
            </a:r>
            <a:endParaRPr lang="en-US" sz="1200" dirty="0"/>
          </a:p>
        </p:txBody>
      </p:sp>
      <p:sp>
        <p:nvSpPr>
          <p:cNvPr id="7" name="Text 5"/>
          <p:cNvSpPr/>
          <p:nvPr/>
        </p:nvSpPr>
        <p:spPr>
          <a:xfrm>
            <a:off x="1073150" y="2505571"/>
            <a:ext cx="26728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Settings toggles</a:t>
            </a:r>
            <a:endParaRPr lang="en-US" sz="1800" dirty="0"/>
          </a:p>
        </p:txBody>
      </p:sp>
      <p:sp>
        <p:nvSpPr>
          <p:cNvPr id="8" name="Text 6"/>
          <p:cNvSpPr/>
          <p:nvPr/>
        </p:nvSpPr>
        <p:spPr>
          <a:xfrm>
            <a:off x="1073150" y="2906812"/>
            <a:ext cx="2672816" cy="825500"/>
          </a:xfrm>
          <a:prstGeom prst="rect">
            <a:avLst/>
          </a:prstGeom>
          <a:noFill/>
          <a:ln/>
        </p:spPr>
        <p:txBody>
          <a:bodyPr wrap="square" lIns="0" tIns="0" rIns="0" bIns="0" rtlCol="0" anchor="t">
            <a:normAutofit/>
          </a:bodyPr>
          <a:lstStyle/>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One tap via deeplink</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Touch sensitivity</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Navigation bar</a:t>
            </a:r>
            <a:endParaRPr lang="en-US" sz="1400" dirty="0"/>
          </a:p>
        </p:txBody>
      </p:sp>
      <p:pic>
        <p:nvPicPr>
          <p:cNvPr id="9" name="Image 0" descr="arrow-right">    </p:cNvPr>
          <p:cNvPicPr>
            <a:picLocks noChangeAspect="1"/>
          </p:cNvPicPr>
          <p:nvPr/>
        </p:nvPicPr>
        <p:blipFill>
          <a:blip r:embed="rId1"/>
          <a:srcRect l="0" r="0" t="0" b="0"/>
          <a:stretch/>
        </p:blipFill>
        <p:spPr>
          <a:xfrm>
            <a:off x="4080867" y="2821781"/>
            <a:ext cx="304800" cy="152400"/>
          </a:xfrm>
          <a:prstGeom prst="rect">
            <a:avLst/>
          </a:prstGeom>
        </p:spPr>
      </p:pic>
      <p:sp>
        <p:nvSpPr>
          <p:cNvPr id="10" name="Shape 7"/>
          <p:cNvSpPr/>
          <p:nvPr/>
        </p:nvSpPr>
        <p:spPr>
          <a:xfrm>
            <a:off x="4541242" y="1882676"/>
            <a:ext cx="3109416" cy="2030611"/>
          </a:xfrm>
          <a:prstGeom prst="roundRect">
            <a:avLst>
              <a:gd name="adj" fmla="val 2345"/>
            </a:avLst>
          </a:prstGeom>
          <a:solidFill>
            <a:srgbClr val="FFFDF8"/>
          </a:solidFill>
          <a:ln w="6350">
            <a:solidFill>
              <a:srgbClr val="D6D0C3"/>
            </a:solidFill>
            <a:prstDash val="solid"/>
          </a:ln>
        </p:spPr>
      </p:sp>
      <p:sp>
        <p:nvSpPr>
          <p:cNvPr id="11" name="Shape 8"/>
          <p:cNvSpPr/>
          <p:nvPr/>
        </p:nvSpPr>
        <p:spPr>
          <a:xfrm>
            <a:off x="4798417" y="2089051"/>
            <a:ext cx="2595066" cy="289520"/>
          </a:xfrm>
          <a:prstGeom prst="roundRect">
            <a:avLst>
              <a:gd name="adj" fmla="val 13160"/>
            </a:avLst>
          </a:prstGeom>
          <a:solidFill>
            <a:srgbClr val="B45309"/>
          </a:solidFill>
          <a:ln/>
        </p:spPr>
      </p:sp>
      <p:sp>
        <p:nvSpPr>
          <p:cNvPr id="12" name="Text 9"/>
          <p:cNvSpPr/>
          <p:nvPr/>
        </p:nvSpPr>
        <p:spPr>
          <a:xfrm>
            <a:off x="4900017" y="2127151"/>
            <a:ext cx="2463622"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MANUAL</a:t>
            </a:r>
            <a:endParaRPr lang="en-US" sz="1200" dirty="0"/>
          </a:p>
        </p:txBody>
      </p:sp>
      <p:sp>
        <p:nvSpPr>
          <p:cNvPr id="13" name="Text 10"/>
          <p:cNvSpPr/>
          <p:nvPr/>
        </p:nvSpPr>
        <p:spPr>
          <a:xfrm>
            <a:off x="4798417" y="2505571"/>
            <a:ext cx="267291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Physical checks</a:t>
            </a:r>
            <a:endParaRPr lang="en-US" sz="1800" dirty="0"/>
          </a:p>
        </p:txBody>
      </p:sp>
      <p:sp>
        <p:nvSpPr>
          <p:cNvPr id="14" name="Text 11"/>
          <p:cNvSpPr/>
          <p:nvPr/>
        </p:nvSpPr>
        <p:spPr>
          <a:xfrm>
            <a:off x="4798417" y="2906812"/>
            <a:ext cx="2672918" cy="825500"/>
          </a:xfrm>
          <a:prstGeom prst="rect">
            <a:avLst/>
          </a:prstGeom>
          <a:noFill/>
          <a:ln/>
        </p:spPr>
        <p:txBody>
          <a:bodyPr wrap="square" lIns="0" tIns="0" rIns="0" bIns="0" rtlCol="0" anchor="t">
            <a:normAutofit/>
          </a:bodyPr>
          <a:lstStyle/>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Remove screen protector</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Swap the charger</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Service centre last</a:t>
            </a:r>
            <a:endParaRPr lang="en-US" sz="1400" dirty="0"/>
          </a:p>
        </p:txBody>
      </p:sp>
      <p:pic>
        <p:nvPicPr>
          <p:cNvPr id="15" name="Image 1" descr="arrow-right">    </p:cNvPr>
          <p:cNvPicPr>
            <a:picLocks noChangeAspect="1"/>
          </p:cNvPicPr>
          <p:nvPr/>
        </p:nvPicPr>
        <p:blipFill>
          <a:blip r:embed="rId2"/>
          <a:srcRect l="0" r="0" t="0" b="0"/>
          <a:stretch/>
        </p:blipFill>
        <p:spPr>
          <a:xfrm>
            <a:off x="7806234" y="2821781"/>
            <a:ext cx="304800" cy="152400"/>
          </a:xfrm>
          <a:prstGeom prst="rect">
            <a:avLst/>
          </a:prstGeom>
        </p:spPr>
      </p:pic>
      <p:sp>
        <p:nvSpPr>
          <p:cNvPr id="16" name="Shape 12"/>
          <p:cNvSpPr/>
          <p:nvPr/>
        </p:nvSpPr>
        <p:spPr>
          <a:xfrm>
            <a:off x="8266609" y="1882676"/>
            <a:ext cx="3109416" cy="2030611"/>
          </a:xfrm>
          <a:prstGeom prst="roundRect">
            <a:avLst>
              <a:gd name="adj" fmla="val 2345"/>
            </a:avLst>
          </a:prstGeom>
          <a:solidFill>
            <a:srgbClr val="FFFDF8"/>
          </a:solidFill>
          <a:ln w="6350">
            <a:solidFill>
              <a:srgbClr val="D6D0C3"/>
            </a:solidFill>
            <a:prstDash val="solid"/>
          </a:ln>
        </p:spPr>
      </p:sp>
      <p:sp>
        <p:nvSpPr>
          <p:cNvPr id="17" name="Shape 13"/>
          <p:cNvSpPr/>
          <p:nvPr/>
        </p:nvSpPr>
        <p:spPr>
          <a:xfrm>
            <a:off x="8523784" y="2089051"/>
            <a:ext cx="2595066" cy="289520"/>
          </a:xfrm>
          <a:prstGeom prst="roundRect">
            <a:avLst>
              <a:gd name="adj" fmla="val 13160"/>
            </a:avLst>
          </a:prstGeom>
          <a:solidFill>
            <a:srgbClr val="B91C1C"/>
          </a:solidFill>
          <a:ln/>
        </p:spPr>
      </p:sp>
      <p:sp>
        <p:nvSpPr>
          <p:cNvPr id="18" name="Text 14"/>
          <p:cNvSpPr/>
          <p:nvPr/>
        </p:nvSpPr>
        <p:spPr>
          <a:xfrm>
            <a:off x="8625384" y="2127151"/>
            <a:ext cx="2463622"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4F1EA"/>
                </a:solidFill>
                <a:latin typeface="JetBrains Mono" pitchFamily="34" charset="0"/>
                <a:ea typeface="JetBrains Mono" pitchFamily="34" charset="-122"/>
                <a:cs typeface="JetBrains Mono" pitchFamily="34" charset="-120"/>
              </a:rPr>
              <a:t>CRITICAL</a:t>
            </a:r>
            <a:endParaRPr lang="en-US" sz="1200" dirty="0"/>
          </a:p>
        </p:txBody>
      </p:sp>
      <p:sp>
        <p:nvSpPr>
          <p:cNvPr id="19" name="Text 15"/>
          <p:cNvSpPr/>
          <p:nvPr/>
        </p:nvSpPr>
        <p:spPr>
          <a:xfrm>
            <a:off x="8523784" y="2505571"/>
            <a:ext cx="267291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Disruptive steps</a:t>
            </a:r>
            <a:endParaRPr lang="en-US" sz="1800" dirty="0"/>
          </a:p>
        </p:txBody>
      </p:sp>
      <p:sp>
        <p:nvSpPr>
          <p:cNvPr id="20" name="Text 16"/>
          <p:cNvSpPr/>
          <p:nvPr/>
        </p:nvSpPr>
        <p:spPr>
          <a:xfrm>
            <a:off x="8523784" y="2906812"/>
            <a:ext cx="2672918" cy="825500"/>
          </a:xfrm>
          <a:prstGeom prst="rect">
            <a:avLst/>
          </a:prstGeom>
          <a:noFill/>
          <a:ln/>
        </p:spPr>
        <p:txBody>
          <a:bodyPr wrap="square" lIns="0" tIns="0" rIns="0" bIns="0" rtlCol="0" anchor="t">
            <a:normAutofit/>
          </a:bodyPr>
          <a:lstStyle/>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Restart</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Then safe mode</a:t>
            </a:r>
            <a:endParaRPr lang="en-US" sz="1400" dirty="0"/>
          </a:p>
          <a:p>
            <a:pPr algn="l" marL="213360" indent="-156718">
              <a:lnSpc>
                <a:spcPts val="2100"/>
              </a:lnSpc>
              <a:buSzPct val="100000"/>
              <a:buChar char="•"/>
            </a:pPr>
            <a:r>
              <a:rPr lang="en-US" sz="1400" dirty="0">
                <a:solidFill>
                  <a:srgbClr val="6B665C"/>
                </a:solidFill>
                <a:latin typeface="Archivo" pitchFamily="34" charset="0"/>
                <a:ea typeface="Archivo" pitchFamily="34" charset="-122"/>
                <a:cs typeface="Archivo" pitchFamily="34" charset="-120"/>
              </a:rPr>
              <a:t>Factory reset last</a:t>
            </a:r>
            <a:endParaRPr lang="en-US" sz="1400" dirty="0"/>
          </a:p>
        </p:txBody>
      </p:sp>
      <p:sp>
        <p:nvSpPr>
          <p:cNvPr id="21" name="Text 17"/>
          <p:cNvSpPr/>
          <p:nvPr/>
        </p:nvSpPr>
        <p:spPr>
          <a:xfrm>
            <a:off x="812800" y="42212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A stable sort keeps the article's own order inside each group, and the auditor flags any plan that breaks the rule.</a:t>
            </a:r>
            <a:endParaRPr lang="en-US" sz="1400" dirty="0"/>
          </a:p>
        </p:txBody>
      </p:sp>
      <p:sp>
        <p:nvSpPr>
          <p:cNvPr id="22"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23" name="Text 19"/>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08 · SEMANTIC CACHE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A cache that refuses to guess</a:t>
            </a:r>
            <a:endParaRPr lang="en-US" sz="3200" dirty="0"/>
          </a:p>
        </p:txBody>
      </p:sp>
      <p:sp>
        <p:nvSpPr>
          <p:cNvPr id="4" name="Text 2"/>
          <p:cNvSpPr/>
          <p:nvPr/>
        </p:nvSpPr>
        <p:spPr>
          <a:xfrm>
            <a:off x="812800" y="1879501"/>
            <a:ext cx="418592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1C1A"/>
                </a:solidFill>
                <a:latin typeface="Archivo" pitchFamily="34" charset="0"/>
                <a:ea typeface="Archivo" pitchFamily="34" charset="-122"/>
                <a:cs typeface="Archivo" pitchFamily="34" charset="-120"/>
              </a:rPr>
              <a:t>Each validated plan is stored with about 10 phrasings: 17 plans, 174 ways in. A match must be close </a:t>
            </a:r>
            <a:r>
              <a:rPr lang="en-US" sz="1400" b="1" dirty="0">
                <a:solidFill>
                  <a:srgbClr val="1D1C1A"/>
                </a:solidFill>
                <a:latin typeface="Archivo" pitchFamily="34" charset="0"/>
                <a:ea typeface="Archivo" pitchFamily="34" charset="-122"/>
                <a:cs typeface="Archivo" pitchFamily="34" charset="-120"/>
              </a:rPr>
              <a:t>and</a:t>
            </a:r>
            <a:r>
              <a:rPr lang="en-US" sz="1400" dirty="0">
                <a:solidFill>
                  <a:srgbClr val="1D1C1A"/>
                </a:solidFill>
                <a:latin typeface="Archivo" pitchFamily="34" charset="0"/>
                <a:ea typeface="Archivo" pitchFamily="34" charset="-122"/>
                <a:cs typeface="Archivo" pitchFamily="34" charset="-120"/>
              </a:rPr>
              <a:t> clearly beat every other plan.</a:t>
            </a:r>
            <a:endParaRPr lang="en-US" sz="1400" dirty="0"/>
          </a:p>
        </p:txBody>
      </p:sp>
      <p:sp>
        <p:nvSpPr>
          <p:cNvPr id="5" name="Text 3"/>
          <p:cNvSpPr/>
          <p:nvPr/>
        </p:nvSpPr>
        <p:spPr>
          <a:xfrm>
            <a:off x="812800" y="2803823"/>
            <a:ext cx="418592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766E"/>
                </a:solidFill>
                <a:latin typeface="Archivo" pitchFamily="34" charset="0"/>
                <a:ea typeface="Archivo" pitchFamily="34" charset="-122"/>
                <a:cs typeface="Archivo" pitchFamily="34" charset="-120"/>
              </a:rPr>
              <a:t>86%</a:t>
            </a:r>
            <a:endParaRPr lang="en-US" sz="3200" dirty="0"/>
          </a:p>
        </p:txBody>
      </p:sp>
      <p:sp>
        <p:nvSpPr>
          <p:cNvPr id="6" name="Text 4"/>
          <p:cNvSpPr/>
          <p:nvPr/>
        </p:nvSpPr>
        <p:spPr>
          <a:xfrm>
            <a:off x="812800" y="3276203"/>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hit rate on unseen, hand-written paraphrases</a:t>
            </a:r>
            <a:endParaRPr lang="en-US" sz="1400" dirty="0"/>
          </a:p>
        </p:txBody>
      </p:sp>
      <p:sp>
        <p:nvSpPr>
          <p:cNvPr id="7" name="Text 5"/>
          <p:cNvSpPr/>
          <p:nvPr/>
        </p:nvSpPr>
        <p:spPr>
          <a:xfrm>
            <a:off x="812800" y="3702844"/>
            <a:ext cx="418592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766E"/>
                </a:solidFill>
                <a:latin typeface="Archivo" pitchFamily="34" charset="0"/>
                <a:ea typeface="Archivo" pitchFamily="34" charset="-122"/>
                <a:cs typeface="Archivo" pitchFamily="34" charset="-120"/>
              </a:rPr>
              <a:t>0</a:t>
            </a:r>
            <a:endParaRPr lang="en-US" sz="3200" dirty="0"/>
          </a:p>
        </p:txBody>
      </p:sp>
      <p:sp>
        <p:nvSpPr>
          <p:cNvPr id="8" name="Text 6"/>
          <p:cNvSpPr/>
          <p:nvPr/>
        </p:nvSpPr>
        <p:spPr>
          <a:xfrm>
            <a:off x="812800" y="4175224"/>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wrong-plan hits and false hits</a:t>
            </a:r>
            <a:endParaRPr lang="en-US" sz="1400" dirty="0"/>
          </a:p>
        </p:txBody>
      </p:sp>
      <p:sp>
        <p:nvSpPr>
          <p:cNvPr id="9" name="Text 7"/>
          <p:cNvSpPr/>
          <p:nvPr/>
        </p:nvSpPr>
        <p:spPr>
          <a:xfrm>
            <a:off x="812800" y="4601865"/>
            <a:ext cx="418592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F766E"/>
                </a:solidFill>
                <a:latin typeface="Archivo" pitchFamily="34" charset="0"/>
                <a:ea typeface="Archivo" pitchFamily="34" charset="-122"/>
                <a:cs typeface="Archivo" pitchFamily="34" charset="-120"/>
              </a:rPr>
              <a:t>39 ms</a:t>
            </a:r>
            <a:endParaRPr lang="en-US" sz="3200" dirty="0"/>
          </a:p>
        </p:txBody>
      </p:sp>
      <p:sp>
        <p:nvSpPr>
          <p:cNvPr id="10" name="Text 8"/>
          <p:cNvSpPr/>
          <p:nvPr/>
        </p:nvSpPr>
        <p:spPr>
          <a:xfrm>
            <a:off x="812800" y="5074245"/>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P95 for a paraphrase, 0.1 ms for an exact repeat</a:t>
            </a:r>
            <a:endParaRPr lang="en-US" sz="1400" dirty="0"/>
          </a:p>
        </p:txBody>
      </p:sp>
      <p:sp>
        <p:nvSpPr>
          <p:cNvPr id="11" name="Shape 9"/>
          <p:cNvSpPr/>
          <p:nvPr/>
        </p:nvSpPr>
        <p:spPr>
          <a:xfrm>
            <a:off x="5384800" y="1879501"/>
            <a:ext cx="5994400" cy="2168327"/>
          </a:xfrm>
          <a:prstGeom prst="rect">
            <a:avLst/>
          </a:prstGeom>
          <a:solidFill>
            <a:srgbClr val="FFFDF8"/>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7500" y="1892201"/>
          <a:ext cx="5981700" cy="2155627"/>
        </p:xfrm>
        <a:graphic>
          <a:graphicData uri="http://schemas.openxmlformats.org/drawingml/2006/table">
            <a:tbl>
              <a:tblPr/>
              <a:tblGrid>
                <a:gridCol w="2631948"/>
                <a:gridCol w="1674876"/>
                <a:gridCol w="1674876"/>
              </a:tblGrid>
              <a:tr h="359271">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Threshold</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Hit rate</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False hits</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0.800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90%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2</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0.825</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88%</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1</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0.850 (chosen)</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B0BC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CB8"/>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86%</a:t>
                      </a:r>
                      <a:endParaRPr lang="en-US" sz="1300" dirty="0">
                        <a:latin typeface="Archivo" charset="0"/>
                        <a:ea typeface="Archivo" charset="0"/>
                        <a:cs typeface="Archivo" charset="0"/>
                      </a:endParaRPr>
                    </a:p>
                  </a:txBody>
                  <a:tcPr marL="57785" marR="57785" marT="57785" marB="57785" anchor="t">
                    <a:lnL w="12700" cap="flat" cmpd="sng" algn="ctr">
                      <a:solidFill>
                        <a:srgbClr val="B0BCB8"/>
                      </a:solidFill>
                      <a:prstDash val="solid"/>
                      <a:round/>
                      <a:headEnd type="none" w="med" len="med"/>
                      <a:tailEnd type="none" w="med" len="med"/>
                    </a:lnL>
                    <a:lnR w="12700" cap="flat" cmpd="sng" algn="ctr">
                      <a:solidFill>
                        <a:srgbClr val="B0BC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CB8"/>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B0BCB8"/>
                      </a:solidFill>
                      <a:prstDash val="solid"/>
                      <a:round/>
                      <a:headEnd type="none" w="med" len="med"/>
                      <a:tailEnd type="none" w="med" len="med"/>
                    </a:lnL>
                    <a:lnR w="12700" cap="flat" cmpd="sng" algn="ctr">
                      <a:solidFill>
                        <a:srgbClr val="B0BC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CB8"/>
                      </a:solidFill>
                      <a:prstDash val="solid"/>
                      <a:round/>
                      <a:headEnd type="none" w="med" len="med"/>
                      <a:tailEnd type="none" w="med" len="med"/>
                    </a:lnB>
                    <a:solidFill>
                      <a:srgbClr val="DCEBE7"/>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0.875</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C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72%</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C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C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0.900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65%</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3" name="Text 10"/>
          <p:cNvSpPr/>
          <p:nvPr/>
        </p:nvSpPr>
        <p:spPr>
          <a:xfrm>
            <a:off x="5384800" y="4174827"/>
            <a:ext cx="617423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Archivo" pitchFamily="34" charset="0"/>
                <a:ea typeface="Archivo" pitchFamily="34" charset="-122"/>
                <a:cs typeface="Archivo" pitchFamily="34" charset="-120"/>
              </a:rPr>
              <a:t>We chose the lowest threshold with zero mistakes of any kind. Near-ties fall back to the full pipeline instead of guessing.</a:t>
            </a:r>
            <a:endParaRPr lang="en-US" sz="1200" dirty="0"/>
          </a:p>
        </p:txBody>
      </p:sp>
      <p:sp>
        <p:nvSpPr>
          <p:cNvPr id="14"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15" name="Text 12"/>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09 · RESULTS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Measured against the problem statement's targets</a:t>
            </a:r>
            <a:endParaRPr lang="en-US" sz="3200" dirty="0"/>
          </a:p>
        </p:txBody>
      </p:sp>
      <p:sp>
        <p:nvSpPr>
          <p:cNvPr id="4" name="Shape 2"/>
          <p:cNvSpPr/>
          <p:nvPr/>
        </p:nvSpPr>
        <p:spPr>
          <a:xfrm>
            <a:off x="812800" y="1879501"/>
            <a:ext cx="10566400" cy="3605411"/>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592711"/>
        </p:xfrm>
        <a:graphic>
          <a:graphicData uri="http://schemas.openxmlformats.org/drawingml/2006/table">
            <a:tbl>
              <a:tblPr/>
              <a:tblGrid>
                <a:gridCol w="6121146"/>
                <a:gridCol w="1899666"/>
                <a:gridCol w="2532888"/>
              </a:tblGrid>
              <a:tr h="359271">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Metric</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Target</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Ours</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Schema-valid outputs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99%</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100% (20/20)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Absolute URL leaks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Deeplinks found in the catalog</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100%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100%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Auto actions with a deeplink</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90%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100%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Cache hit P95, exact repeat (HTTP)</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300 ms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5.6 ms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Cache hit P95, unseen paraphrase (HTTP)</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300 ms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45.9 ms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Unseen paraphrase hit rate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80%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86%</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Cold path P95, full pipeline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 8 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[__ 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Problems in 160 concurrent requests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0F766E"/>
                          </a:solidFill>
                          <a:latin typeface="Archivo" pitchFamily="34" charset="0"/>
                          <a:ea typeface="Archivo" pitchFamily="34" charset="-122"/>
                          <a:cs typeface="Archivo" pitchFamily="34" charset="-120"/>
                        </a:rPr>
                        <a:t>0</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7" name="Text 4"/>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10 · ABLATION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Why the name gate matters</a:t>
            </a:r>
            <a:endParaRPr lang="en-US" sz="3200" dirty="0"/>
          </a:p>
        </p:txBody>
      </p:sp>
      <p:sp>
        <p:nvSpPr>
          <p:cNvPr id="4" name="Text 2"/>
          <p:cNvSpPr/>
          <p:nvPr/>
        </p:nvSpPr>
        <p:spPr>
          <a:xfrm>
            <a:off x="812800" y="1879501"/>
            <a:ext cx="3401060" cy="1041400"/>
          </a:xfrm>
          <a:prstGeom prst="rect">
            <a:avLst/>
          </a:prstGeom>
          <a:noFill/>
          <a:ln/>
        </p:spPr>
        <p:txBody>
          <a:bodyPr wrap="square" lIns="0" tIns="0" rIns="0" bIns="0" rtlCol="0" anchor="t">
            <a:normAutofit/>
          </a:bodyPr>
          <a:lstStyle/>
          <a:p>
            <a:pPr algn="l" indent="0" marL="0">
              <a:lnSpc>
                <a:spcPts val="8000"/>
              </a:lnSpc>
              <a:buNone/>
            </a:pPr>
            <a:r>
              <a:rPr lang="en-US" sz="8000" b="1" spc="-200" kern="0" dirty="0">
                <a:solidFill>
                  <a:srgbClr val="B91C1C"/>
                </a:solidFill>
                <a:latin typeface="Archivo" pitchFamily="34" charset="0"/>
                <a:ea typeface="Archivo" pitchFamily="34" charset="-122"/>
                <a:cs typeface="Archivo" pitchFamily="34" charset="-120"/>
              </a:rPr>
              <a:t>5 of 7</a:t>
            </a:r>
            <a:endParaRPr lang="en-US" sz="8000" dirty="0"/>
          </a:p>
        </p:txBody>
      </p:sp>
      <p:sp>
        <p:nvSpPr>
          <p:cNvPr id="5" name="Text 3"/>
          <p:cNvSpPr/>
          <p:nvPr/>
        </p:nvSpPr>
        <p:spPr>
          <a:xfrm>
            <a:off x="812800" y="3047901"/>
            <a:ext cx="340106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auto actions where plain top-1 retrieval chose a screen the steps never name.</a:t>
            </a:r>
            <a:endParaRPr lang="en-US" sz="1400" dirty="0"/>
          </a:p>
        </p:txBody>
      </p:sp>
      <p:sp>
        <p:nvSpPr>
          <p:cNvPr id="6" name="Shape 4"/>
          <p:cNvSpPr/>
          <p:nvPr/>
        </p:nvSpPr>
        <p:spPr>
          <a:xfrm>
            <a:off x="4622800" y="1879501"/>
            <a:ext cx="6756400" cy="2271216"/>
          </a:xfrm>
          <a:prstGeom prst="rect">
            <a:avLst/>
          </a:prstGeom>
          <a:solidFill>
            <a:srgbClr val="FFFDF8"/>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35500" y="1892201"/>
          <a:ext cx="6743700" cy="2258516"/>
        </p:xfrm>
        <a:graphic>
          <a:graphicData uri="http://schemas.openxmlformats.org/drawingml/2006/table">
            <a:tbl>
              <a:tblPr/>
              <a:tblGrid>
                <a:gridCol w="2967228"/>
                <a:gridCol w="3776472"/>
              </a:tblGrid>
              <a:tr h="359271">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Variant</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c>
                  <a:txBody>
                    <a:bodyPr/>
                    <a:lstStyle/>
                    <a:p>
                      <a:pPr indent="0" marL="0">
                        <a:lnSpc>
                          <a:spcPts val="1820"/>
                        </a:lnSpc>
                        <a:buNone/>
                      </a:pPr>
                      <a:r>
                        <a:rPr lang="en-US" sz="1300" b="1" dirty="0">
                          <a:solidFill>
                            <a:srgbClr val="F4F1EA"/>
                          </a:solidFill>
                          <a:latin typeface="Archivo" pitchFamily="34" charset="0"/>
                          <a:ea typeface="Archivo" pitchFamily="34" charset="-122"/>
                          <a:cs typeface="Archivo" pitchFamily="34" charset="-120"/>
                        </a:rPr>
                        <a:t>Outcome</a:t>
                      </a:r>
                      <a:endParaRPr lang="en-US" sz="1300" dirty="0">
                        <a:latin typeface="Archivo" charset="0"/>
                        <a:ea typeface="Archivo" charset="0"/>
                        <a:cs typeface="Archivo" charset="0"/>
                      </a:endParaRPr>
                    </a:p>
                  </a:txBody>
                  <a:tcPr marL="57785" marR="57785" marT="57785" marB="57785" anchor="t">
                    <a:lnL w="12700" cap="flat" cmpd="sng" algn="ctr">
                      <a:solidFill>
                        <a:srgbClr val="1B1A18"/>
                      </a:solidFill>
                      <a:prstDash val="solid"/>
                      <a:round/>
                      <a:headEnd type="none" w="med" len="med"/>
                      <a:tailEnd type="none" w="med" len="med"/>
                    </a:lnL>
                    <a:lnR w="12700" cap="flat" cmpd="sng" algn="ctr">
                      <a:solidFill>
                        <a:srgbClr val="1B1A1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B1A18"/>
                      </a:solidFill>
                      <a:prstDash val="solid"/>
                      <a:round/>
                      <a:headEnd type="none" w="med" len="med"/>
                      <a:tailEnd type="none" w="med" len="med"/>
                    </a:lnB>
                    <a:solidFill>
                      <a:srgbClr val="1D1C1A"/>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Full LLM deeplink mapping</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Not used: masked URIs invite invented links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A1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90352">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Hybrid retrieval, top-1 only</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Picks decoys such as Easy mode for Super steady mode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90352">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Hybrid retrieval + name gate (ours)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B0BC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CB8"/>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Only exact screens; a labelled placeholder otherwise</a:t>
                      </a:r>
                      <a:endParaRPr lang="en-US" sz="1300" dirty="0">
                        <a:latin typeface="Archivo" charset="0"/>
                        <a:ea typeface="Archivo" charset="0"/>
                        <a:cs typeface="Archivo" charset="0"/>
                      </a:endParaRPr>
                    </a:p>
                  </a:txBody>
                  <a:tcPr marL="57785" marR="57785" marT="57785" marB="57785" anchor="t">
                    <a:lnL w="12700" cap="flat" cmpd="sng" algn="ctr">
                      <a:solidFill>
                        <a:srgbClr val="B0BCB8"/>
                      </a:solidFill>
                      <a:prstDash val="solid"/>
                      <a:round/>
                      <a:headEnd type="none" w="med" len="med"/>
                      <a:tailEnd type="none" w="med" len="med"/>
                    </a:lnL>
                    <a:lnR w="12700" cap="flat" cmpd="sng" algn="ctr">
                      <a:solidFill>
                        <a:srgbClr val="B0BC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0BCB8"/>
                      </a:solidFill>
                      <a:prstDash val="solid"/>
                      <a:round/>
                      <a:headEnd type="none" w="med" len="med"/>
                      <a:tailEnd type="none" w="med" len="med"/>
                    </a:lnB>
                    <a:solidFill>
                      <a:srgbClr val="DCEBE7"/>
                    </a:solidFill>
                  </a:tcPr>
                </a:tc>
              </a:tr>
              <a:tr h="359271">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Pure rules, offline</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C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D1C1A"/>
                          </a:solidFill>
                          <a:latin typeface="Archivo" pitchFamily="34" charset="0"/>
                          <a:ea typeface="Archivo" pitchFamily="34" charset="-122"/>
                          <a:cs typeface="Archivo" pitchFamily="34" charset="-120"/>
                        </a:rPr>
                        <a:t>Free and deterministic, but coarse actions</a:t>
                      </a:r>
                      <a:endParaRPr lang="en-US" sz="1300" dirty="0">
                        <a:latin typeface="Archivo" charset="0"/>
                        <a:ea typeface="Archivo" charset="0"/>
                        <a:cs typeface="Archivo"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0BC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9" name="Text 6"/>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JetBrains Mono" pitchFamily="34" charset="0"/>
                <a:ea typeface="JetBrains Mono" pitchFamily="34" charset="-122"/>
                <a:cs typeface="JetBrains Mono" pitchFamily="34" charset="-120"/>
              </a:rPr>
              <a:t>11 · FINDINGS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What the data taught us</a:t>
            </a:r>
            <a:endParaRPr lang="en-US" sz="3200" dirty="0"/>
          </a:p>
        </p:txBody>
      </p:sp>
      <p:sp>
        <p:nvSpPr>
          <p:cNvPr id="4" name="Shape 2"/>
          <p:cNvSpPr/>
          <p:nvPr/>
        </p:nvSpPr>
        <p:spPr>
          <a:xfrm>
            <a:off x="815975" y="1882676"/>
            <a:ext cx="5200650" cy="948531"/>
          </a:xfrm>
          <a:prstGeom prst="roundRect">
            <a:avLst>
              <a:gd name="adj" fmla="val 5021"/>
            </a:avLst>
          </a:prstGeom>
          <a:solidFill>
            <a:srgbClr val="FFFDF8"/>
          </a:solidFill>
          <a:ln w="6350">
            <a:solidFill>
              <a:srgbClr val="D6D0C3"/>
            </a:solidFill>
            <a:prstDash val="solid"/>
          </a:ln>
        </p:spPr>
      </p:sp>
      <p:sp>
        <p:nvSpPr>
          <p:cNvPr id="5" name="Text 3"/>
          <p:cNvSpPr/>
          <p:nvPr/>
        </p:nvSpPr>
        <p:spPr>
          <a:xfrm>
            <a:off x="1047750" y="206365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Samples break the rules</a:t>
            </a:r>
            <a:endParaRPr lang="en-US" sz="1800" dirty="0"/>
          </a:p>
        </p:txBody>
      </p:sp>
      <p:sp>
        <p:nvSpPr>
          <p:cNvPr id="6" name="Text 4"/>
          <p:cNvSpPr/>
          <p:nvPr/>
        </p:nvSpPr>
        <p:spPr>
          <a:xfrm>
            <a:off x="1047750" y="2401391"/>
            <a:ext cx="487921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9- and 12-word descriptions; bixby:// vs voiceassist://.</a:t>
            </a:r>
            <a:endParaRPr lang="en-US" sz="1400" dirty="0"/>
          </a:p>
        </p:txBody>
      </p:sp>
      <p:sp>
        <p:nvSpPr>
          <p:cNvPr id="7" name="Shape 5"/>
          <p:cNvSpPr/>
          <p:nvPr/>
        </p:nvSpPr>
        <p:spPr>
          <a:xfrm>
            <a:off x="6175375" y="1882676"/>
            <a:ext cx="5200650" cy="948531"/>
          </a:xfrm>
          <a:prstGeom prst="roundRect">
            <a:avLst>
              <a:gd name="adj" fmla="val 5021"/>
            </a:avLst>
          </a:prstGeom>
          <a:solidFill>
            <a:srgbClr val="FFFDF8"/>
          </a:solidFill>
          <a:ln w="6350">
            <a:solidFill>
              <a:srgbClr val="D6D0C3"/>
            </a:solidFill>
            <a:prstDash val="solid"/>
          </a:ln>
        </p:spPr>
      </p:sp>
      <p:sp>
        <p:nvSpPr>
          <p:cNvPr id="8" name="Text 6"/>
          <p:cNvSpPr/>
          <p:nvPr/>
        </p:nvSpPr>
        <p:spPr>
          <a:xfrm>
            <a:off x="6407150" y="2063651"/>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Mismatched articles</a:t>
            </a:r>
            <a:endParaRPr lang="en-US" sz="1800" dirty="0"/>
          </a:p>
        </p:txBody>
      </p:sp>
      <p:sp>
        <p:nvSpPr>
          <p:cNvPr id="9" name="Text 7"/>
          <p:cNvSpPr/>
          <p:nvPr/>
        </p:nvSpPr>
        <p:spPr>
          <a:xfrm>
            <a:off x="6407150" y="2401391"/>
            <a:ext cx="487921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3 complaints got unrelated articles: honest no_match.</a:t>
            </a:r>
            <a:endParaRPr lang="en-US" sz="1400" dirty="0"/>
          </a:p>
        </p:txBody>
      </p:sp>
      <p:sp>
        <p:nvSpPr>
          <p:cNvPr id="10" name="Shape 8"/>
          <p:cNvSpPr/>
          <p:nvPr/>
        </p:nvSpPr>
        <p:spPr>
          <a:xfrm>
            <a:off x="815975" y="2989957"/>
            <a:ext cx="5200650" cy="1197372"/>
          </a:xfrm>
          <a:prstGeom prst="roundRect">
            <a:avLst>
              <a:gd name="adj" fmla="val 3977"/>
            </a:avLst>
          </a:prstGeom>
          <a:solidFill>
            <a:srgbClr val="FFFDF8"/>
          </a:solidFill>
          <a:ln w="6350">
            <a:solidFill>
              <a:srgbClr val="D6D0C3"/>
            </a:solidFill>
            <a:prstDash val="solid"/>
          </a:ln>
        </p:spPr>
      </p:sp>
      <p:sp>
        <p:nvSpPr>
          <p:cNvPr id="11" name="Text 9"/>
          <p:cNvSpPr/>
          <p:nvPr/>
        </p:nvSpPr>
        <p:spPr>
          <a:xfrm>
            <a:off x="1047750" y="3170932"/>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LLM output varies</a:t>
            </a:r>
            <a:endParaRPr lang="en-US" sz="1800" dirty="0"/>
          </a:p>
        </p:txBody>
      </p:sp>
      <p:sp>
        <p:nvSpPr>
          <p:cNvPr id="12" name="Text 10"/>
          <p:cNvSpPr/>
          <p:nvPr/>
        </p:nvSpPr>
        <p:spPr>
          <a:xfrm>
            <a:off x="1047750" y="3508673"/>
            <a:ext cx="487921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Even at temperature 0; the cache makes repeats identical.</a:t>
            </a:r>
            <a:endParaRPr lang="en-US" sz="1400" dirty="0"/>
          </a:p>
        </p:txBody>
      </p:sp>
      <p:sp>
        <p:nvSpPr>
          <p:cNvPr id="13" name="Shape 11"/>
          <p:cNvSpPr/>
          <p:nvPr/>
        </p:nvSpPr>
        <p:spPr>
          <a:xfrm>
            <a:off x="6175375" y="2989957"/>
            <a:ext cx="5200650" cy="1197372"/>
          </a:xfrm>
          <a:prstGeom prst="roundRect">
            <a:avLst>
              <a:gd name="adj" fmla="val 3977"/>
            </a:avLst>
          </a:prstGeom>
          <a:solidFill>
            <a:srgbClr val="FFFDF8"/>
          </a:solidFill>
          <a:ln w="6350">
            <a:solidFill>
              <a:srgbClr val="D6D0C3"/>
            </a:solidFill>
            <a:prstDash val="solid"/>
          </a:ln>
        </p:spPr>
      </p:sp>
      <p:sp>
        <p:nvSpPr>
          <p:cNvPr id="14" name="Text 12"/>
          <p:cNvSpPr/>
          <p:nvPr/>
        </p:nvSpPr>
        <p:spPr>
          <a:xfrm>
            <a:off x="6407150" y="3170932"/>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Catalog decoys</a:t>
            </a:r>
            <a:endParaRPr lang="en-US" sz="1800" dirty="0"/>
          </a:p>
        </p:txBody>
      </p:sp>
      <p:sp>
        <p:nvSpPr>
          <p:cNvPr id="15" name="Text 13"/>
          <p:cNvSpPr/>
          <p:nvPr/>
        </p:nvSpPr>
        <p:spPr>
          <a:xfrm>
            <a:off x="6407150" y="3508673"/>
            <a:ext cx="487921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Look-alike names and misleading messages; we match the key.</a:t>
            </a:r>
            <a:endParaRPr lang="en-US" sz="1400" dirty="0"/>
          </a:p>
        </p:txBody>
      </p:sp>
      <p:sp>
        <p:nvSpPr>
          <p:cNvPr id="16" name="Shape 14"/>
          <p:cNvSpPr/>
          <p:nvPr/>
        </p:nvSpPr>
        <p:spPr>
          <a:xfrm>
            <a:off x="815975" y="4346079"/>
            <a:ext cx="5200650" cy="948531"/>
          </a:xfrm>
          <a:prstGeom prst="roundRect">
            <a:avLst>
              <a:gd name="adj" fmla="val 5021"/>
            </a:avLst>
          </a:prstGeom>
          <a:solidFill>
            <a:srgbClr val="FFFDF8"/>
          </a:solidFill>
          <a:ln w="6350">
            <a:solidFill>
              <a:srgbClr val="D6D0C3"/>
            </a:solidFill>
            <a:prstDash val="solid"/>
          </a:ln>
        </p:spPr>
      </p:sp>
      <p:sp>
        <p:nvSpPr>
          <p:cNvPr id="17" name="Text 15"/>
          <p:cNvSpPr/>
          <p:nvPr/>
        </p:nvSpPr>
        <p:spPr>
          <a:xfrm>
            <a:off x="1047750" y="4527054"/>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Non-phone entries</a:t>
            </a:r>
            <a:endParaRPr lang="en-US" sz="1800" dirty="0"/>
          </a:p>
        </p:txBody>
      </p:sp>
      <p:sp>
        <p:nvSpPr>
          <p:cNvPr id="18" name="Text 16"/>
          <p:cNvSpPr/>
          <p:nvPr/>
        </p:nvSpPr>
        <p:spPr>
          <a:xfrm>
            <a:off x="1047750" y="4864795"/>
            <a:ext cx="487921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TV, fridge and air-conditioner links filtered out.</a:t>
            </a:r>
            <a:endParaRPr lang="en-US" sz="1400" dirty="0"/>
          </a:p>
        </p:txBody>
      </p:sp>
      <p:sp>
        <p:nvSpPr>
          <p:cNvPr id="19" name="Shape 17"/>
          <p:cNvSpPr/>
          <p:nvPr/>
        </p:nvSpPr>
        <p:spPr>
          <a:xfrm>
            <a:off x="6175375" y="4346079"/>
            <a:ext cx="5200650" cy="948531"/>
          </a:xfrm>
          <a:prstGeom prst="roundRect">
            <a:avLst>
              <a:gd name="adj" fmla="val 5021"/>
            </a:avLst>
          </a:prstGeom>
          <a:solidFill>
            <a:srgbClr val="FFFDF8"/>
          </a:solidFill>
          <a:ln w="6350">
            <a:solidFill>
              <a:srgbClr val="D6D0C3"/>
            </a:solidFill>
            <a:prstDash val="solid"/>
          </a:ln>
        </p:spPr>
      </p:sp>
      <p:sp>
        <p:nvSpPr>
          <p:cNvPr id="20" name="Text 18"/>
          <p:cNvSpPr/>
          <p:nvPr/>
        </p:nvSpPr>
        <p:spPr>
          <a:xfrm>
            <a:off x="6407150" y="4527054"/>
            <a:ext cx="48792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Free-tier limits</a:t>
            </a:r>
            <a:endParaRPr lang="en-US" sz="1800" dirty="0"/>
          </a:p>
        </p:txBody>
      </p:sp>
      <p:sp>
        <p:nvSpPr>
          <p:cNvPr id="21" name="Text 19"/>
          <p:cNvSpPr/>
          <p:nvPr/>
        </p:nvSpPr>
        <p:spPr>
          <a:xfrm>
            <a:off x="6407150" y="4864795"/>
            <a:ext cx="487921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Cold runs are paced; failed calls are never timed.</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23" name="Text 21"/>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12 · IN REAL LIFE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Behind the support app, on every phone</a:t>
            </a:r>
            <a:endParaRPr lang="en-US" sz="3200" dirty="0"/>
          </a:p>
        </p:txBody>
      </p:sp>
      <p:sp>
        <p:nvSpPr>
          <p:cNvPr id="4" name="Shape 2"/>
          <p:cNvSpPr/>
          <p:nvPr/>
        </p:nvSpPr>
        <p:spPr>
          <a:xfrm>
            <a:off x="815975" y="1882676"/>
            <a:ext cx="1781770" cy="1677591"/>
          </a:xfrm>
          <a:prstGeom prst="roundRect">
            <a:avLst>
              <a:gd name="adj" fmla="val 2839"/>
            </a:avLst>
          </a:prstGeom>
          <a:solidFill>
            <a:srgbClr val="FFFDF8"/>
          </a:solidFill>
          <a:ln w="6350">
            <a:solidFill>
              <a:srgbClr val="D6D0C3"/>
            </a:solidFill>
            <a:prstDash val="solid"/>
          </a:ln>
        </p:spPr>
      </p:sp>
      <p:sp>
        <p:nvSpPr>
          <p:cNvPr id="5" name="Text 3"/>
          <p:cNvSpPr/>
          <p:nvPr/>
        </p:nvSpPr>
        <p:spPr>
          <a:xfrm>
            <a:off x="996950" y="2083991"/>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JetBrains Mono" pitchFamily="34" charset="0"/>
                <a:ea typeface="JetBrains Mono" pitchFamily="34" charset="-122"/>
                <a:cs typeface="JetBrains Mono" pitchFamily="34" charset="-120"/>
              </a:rPr>
              <a:t>01</a:t>
            </a:r>
            <a:endParaRPr lang="en-US" sz="1200" dirty="0"/>
          </a:p>
        </p:txBody>
      </p:sp>
      <p:pic>
        <p:nvPicPr>
          <p:cNvPr id="6" name="Image 0" descr="Chat">    </p:cNvPr>
          <p:cNvPicPr>
            <a:picLocks noChangeAspect="1"/>
          </p:cNvPicPr>
          <p:nvPr/>
        </p:nvPicPr>
        <p:blipFill>
          <a:blip r:embed="rId1"/>
          <a:srcRect l="0" r="0" t="0" b="0"/>
          <a:stretch/>
        </p:blipFill>
        <p:spPr>
          <a:xfrm>
            <a:off x="2162770" y="2063651"/>
            <a:ext cx="254000" cy="254000"/>
          </a:xfrm>
          <a:prstGeom prst="rect">
            <a:avLst/>
          </a:prstGeom>
        </p:spPr>
      </p:pic>
      <p:sp>
        <p:nvSpPr>
          <p:cNvPr id="7" name="Text 4"/>
          <p:cNvSpPr/>
          <p:nvPr/>
        </p:nvSpPr>
        <p:spPr>
          <a:xfrm>
            <a:off x="996950" y="2419251"/>
            <a:ext cx="147062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D1C1A"/>
                </a:solidFill>
                <a:latin typeface="Archivo" pitchFamily="34" charset="0"/>
                <a:ea typeface="Archivo" pitchFamily="34" charset="-122"/>
                <a:cs typeface="Archivo" pitchFamily="34" charset="-120"/>
              </a:rPr>
              <a:t>Customer describes the problem in their own words</a:t>
            </a:r>
            <a:endParaRPr lang="en-US" sz="1400" dirty="0"/>
          </a:p>
        </p:txBody>
      </p:sp>
      <p:pic>
        <p:nvPicPr>
          <p:cNvPr id="8" name="Image 1" descr="arrow-right">    </p:cNvPr>
          <p:cNvPicPr>
            <a:picLocks noChangeAspect="1"/>
          </p:cNvPicPr>
          <p:nvPr/>
        </p:nvPicPr>
        <p:blipFill>
          <a:blip r:embed="rId2"/>
          <a:srcRect l="0" r="0" t="0" b="0"/>
          <a:stretch/>
        </p:blipFill>
        <p:spPr>
          <a:xfrm>
            <a:off x="2677120" y="2657971"/>
            <a:ext cx="254000" cy="127000"/>
          </a:xfrm>
          <a:prstGeom prst="rect">
            <a:avLst/>
          </a:prstGeom>
        </p:spPr>
      </p:pic>
      <p:sp>
        <p:nvSpPr>
          <p:cNvPr id="9" name="Shape 5"/>
          <p:cNvSpPr/>
          <p:nvPr/>
        </p:nvSpPr>
        <p:spPr>
          <a:xfrm>
            <a:off x="3010495" y="1882676"/>
            <a:ext cx="1781870" cy="1677591"/>
          </a:xfrm>
          <a:prstGeom prst="roundRect">
            <a:avLst>
              <a:gd name="adj" fmla="val 2839"/>
            </a:avLst>
          </a:prstGeom>
          <a:solidFill>
            <a:srgbClr val="FFFDF8"/>
          </a:solidFill>
          <a:ln w="6350">
            <a:solidFill>
              <a:srgbClr val="D6D0C3"/>
            </a:solidFill>
            <a:prstDash val="solid"/>
          </a:ln>
        </p:spPr>
      </p:sp>
      <p:sp>
        <p:nvSpPr>
          <p:cNvPr id="10" name="Text 6"/>
          <p:cNvSpPr/>
          <p:nvPr/>
        </p:nvSpPr>
        <p:spPr>
          <a:xfrm>
            <a:off x="3191470" y="2083991"/>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JetBrains Mono" pitchFamily="34" charset="0"/>
                <a:ea typeface="JetBrains Mono" pitchFamily="34" charset="-122"/>
                <a:cs typeface="JetBrains Mono" pitchFamily="34" charset="-120"/>
              </a:rPr>
              <a:t>02</a:t>
            </a:r>
            <a:endParaRPr lang="en-US" sz="1200" dirty="0"/>
          </a:p>
        </p:txBody>
      </p:sp>
      <p:pic>
        <p:nvPicPr>
          <p:cNvPr id="11" name="Image 2" descr="Lightning">    </p:cNvPr>
          <p:cNvPicPr>
            <a:picLocks noChangeAspect="1"/>
          </p:cNvPicPr>
          <p:nvPr/>
        </p:nvPicPr>
        <p:blipFill>
          <a:blip r:embed="rId3"/>
          <a:srcRect l="0" r="0" t="0" b="0"/>
          <a:stretch/>
        </p:blipFill>
        <p:spPr>
          <a:xfrm>
            <a:off x="4357390" y="2063651"/>
            <a:ext cx="254000" cy="254000"/>
          </a:xfrm>
          <a:prstGeom prst="rect">
            <a:avLst/>
          </a:prstGeom>
        </p:spPr>
      </p:pic>
      <p:sp>
        <p:nvSpPr>
          <p:cNvPr id="12" name="Text 7"/>
          <p:cNvSpPr/>
          <p:nvPr/>
        </p:nvSpPr>
        <p:spPr>
          <a:xfrm>
            <a:off x="3191470" y="2419251"/>
            <a:ext cx="147072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D1C1A"/>
                </a:solidFill>
                <a:latin typeface="Archivo" pitchFamily="34" charset="0"/>
                <a:ea typeface="Archivo" pitchFamily="34" charset="-122"/>
                <a:cs typeface="Archivo" pitchFamily="34" charset="-120"/>
              </a:rPr>
              <a:t>The app calls /v1/troubleshoot; repeats return in milliseconds</a:t>
            </a:r>
            <a:endParaRPr lang="en-US" sz="1400" dirty="0"/>
          </a:p>
        </p:txBody>
      </p:sp>
      <p:pic>
        <p:nvPicPr>
          <p:cNvPr id="13" name="Image 3" descr="arrow-right">    </p:cNvPr>
          <p:cNvPicPr>
            <a:picLocks noChangeAspect="1"/>
          </p:cNvPicPr>
          <p:nvPr/>
        </p:nvPicPr>
        <p:blipFill>
          <a:blip r:embed="rId4"/>
          <a:srcRect l="0" r="0" t="0" b="0"/>
          <a:stretch/>
        </p:blipFill>
        <p:spPr>
          <a:xfrm>
            <a:off x="4871740" y="2657971"/>
            <a:ext cx="254000" cy="127000"/>
          </a:xfrm>
          <a:prstGeom prst="rect">
            <a:avLst/>
          </a:prstGeom>
        </p:spPr>
      </p:pic>
      <p:sp>
        <p:nvSpPr>
          <p:cNvPr id="14" name="Shape 8"/>
          <p:cNvSpPr/>
          <p:nvPr/>
        </p:nvSpPr>
        <p:spPr>
          <a:xfrm>
            <a:off x="5205115" y="1882676"/>
            <a:ext cx="1781770" cy="1677591"/>
          </a:xfrm>
          <a:prstGeom prst="roundRect">
            <a:avLst>
              <a:gd name="adj" fmla="val 2839"/>
            </a:avLst>
          </a:prstGeom>
          <a:solidFill>
            <a:srgbClr val="FFFDF8"/>
          </a:solidFill>
          <a:ln w="6350">
            <a:solidFill>
              <a:srgbClr val="D6D0C3"/>
            </a:solidFill>
            <a:prstDash val="solid"/>
          </a:ln>
        </p:spPr>
      </p:sp>
      <p:sp>
        <p:nvSpPr>
          <p:cNvPr id="15" name="Text 9"/>
          <p:cNvSpPr/>
          <p:nvPr/>
        </p:nvSpPr>
        <p:spPr>
          <a:xfrm>
            <a:off x="5386090" y="2083991"/>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JetBrains Mono" pitchFamily="34" charset="0"/>
                <a:ea typeface="JetBrains Mono" pitchFamily="34" charset="-122"/>
                <a:cs typeface="JetBrains Mono" pitchFamily="34" charset="-120"/>
              </a:rPr>
              <a:t>03</a:t>
            </a:r>
            <a:endParaRPr lang="en-US" sz="1200" dirty="0"/>
          </a:p>
        </p:txBody>
      </p:sp>
      <p:pic>
        <p:nvPicPr>
          <p:cNvPr id="16" name="Image 4" descr="CheckCircle">    </p:cNvPr>
          <p:cNvPicPr>
            <a:picLocks noChangeAspect="1"/>
          </p:cNvPicPr>
          <p:nvPr/>
        </p:nvPicPr>
        <p:blipFill>
          <a:blip r:embed="rId5"/>
          <a:srcRect l="0" r="0" t="0" b="0"/>
          <a:stretch/>
        </p:blipFill>
        <p:spPr>
          <a:xfrm>
            <a:off x="6551910" y="2063651"/>
            <a:ext cx="254000" cy="254000"/>
          </a:xfrm>
          <a:prstGeom prst="rect">
            <a:avLst/>
          </a:prstGeom>
        </p:spPr>
      </p:pic>
      <p:sp>
        <p:nvSpPr>
          <p:cNvPr id="17" name="Text 10"/>
          <p:cNvSpPr/>
          <p:nvPr/>
        </p:nvSpPr>
        <p:spPr>
          <a:xfrm>
            <a:off x="5386090" y="2419251"/>
            <a:ext cx="147062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D1C1A"/>
                </a:solidFill>
                <a:latin typeface="Archivo" pitchFamily="34" charset="0"/>
                <a:ea typeface="Archivo" pitchFamily="34" charset="-122"/>
                <a:cs typeface="Archivo" pitchFamily="34" charset="-120"/>
              </a:rPr>
              <a:t>The plan appears as a checklist, safest steps first</a:t>
            </a:r>
            <a:endParaRPr lang="en-US" sz="1400" dirty="0"/>
          </a:p>
        </p:txBody>
      </p:sp>
      <p:pic>
        <p:nvPicPr>
          <p:cNvPr id="18" name="Image 5" descr="arrow-right">    </p:cNvPr>
          <p:cNvPicPr>
            <a:picLocks noChangeAspect="1"/>
          </p:cNvPicPr>
          <p:nvPr/>
        </p:nvPicPr>
        <p:blipFill>
          <a:blip r:embed="rId6"/>
          <a:srcRect l="0" r="0" t="0" b="0"/>
          <a:stretch/>
        </p:blipFill>
        <p:spPr>
          <a:xfrm>
            <a:off x="7066260" y="2657971"/>
            <a:ext cx="254000" cy="127000"/>
          </a:xfrm>
          <a:prstGeom prst="rect">
            <a:avLst/>
          </a:prstGeom>
        </p:spPr>
      </p:pic>
      <p:sp>
        <p:nvSpPr>
          <p:cNvPr id="19" name="Shape 11"/>
          <p:cNvSpPr/>
          <p:nvPr/>
        </p:nvSpPr>
        <p:spPr>
          <a:xfrm>
            <a:off x="7399635" y="1882676"/>
            <a:ext cx="1781870" cy="1677591"/>
          </a:xfrm>
          <a:prstGeom prst="roundRect">
            <a:avLst>
              <a:gd name="adj" fmla="val 2839"/>
            </a:avLst>
          </a:prstGeom>
          <a:solidFill>
            <a:srgbClr val="FFFDF8"/>
          </a:solidFill>
          <a:ln w="6350">
            <a:solidFill>
              <a:srgbClr val="D6D0C3"/>
            </a:solidFill>
            <a:prstDash val="solid"/>
          </a:ln>
        </p:spPr>
      </p:sp>
      <p:sp>
        <p:nvSpPr>
          <p:cNvPr id="20" name="Text 12"/>
          <p:cNvSpPr/>
          <p:nvPr/>
        </p:nvSpPr>
        <p:spPr>
          <a:xfrm>
            <a:off x="7580610" y="2083991"/>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JetBrains Mono" pitchFamily="34" charset="0"/>
                <a:ea typeface="JetBrains Mono" pitchFamily="34" charset="-122"/>
                <a:cs typeface="JetBrains Mono" pitchFamily="34" charset="-120"/>
              </a:rPr>
              <a:t>04</a:t>
            </a:r>
            <a:endParaRPr lang="en-US" sz="1200" dirty="0"/>
          </a:p>
        </p:txBody>
      </p:sp>
      <p:pic>
        <p:nvPicPr>
          <p:cNvPr id="21" name="Image 6" descr="Link">    </p:cNvPr>
          <p:cNvPicPr>
            <a:picLocks noChangeAspect="1"/>
          </p:cNvPicPr>
          <p:nvPr/>
        </p:nvPicPr>
        <p:blipFill>
          <a:blip r:embed="rId7"/>
          <a:srcRect l="0" r="0" t="0" b="0"/>
          <a:stretch/>
        </p:blipFill>
        <p:spPr>
          <a:xfrm>
            <a:off x="8746530" y="2063651"/>
            <a:ext cx="254000" cy="254000"/>
          </a:xfrm>
          <a:prstGeom prst="rect">
            <a:avLst/>
          </a:prstGeom>
        </p:spPr>
      </p:pic>
      <p:sp>
        <p:nvSpPr>
          <p:cNvPr id="22" name="Text 13"/>
          <p:cNvSpPr/>
          <p:nvPr/>
        </p:nvSpPr>
        <p:spPr>
          <a:xfrm>
            <a:off x="7580610" y="2419251"/>
            <a:ext cx="147072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D1C1A"/>
                </a:solidFill>
                <a:latin typeface="Archivo" pitchFamily="34" charset="0"/>
                <a:ea typeface="Archivo" pitchFamily="34" charset="-122"/>
                <a:cs typeface="Archivo" pitchFamily="34" charset="-120"/>
              </a:rPr>
              <a:t>One tap opens the exact Settings screen</a:t>
            </a:r>
            <a:endParaRPr lang="en-US" sz="1400" dirty="0"/>
          </a:p>
        </p:txBody>
      </p:sp>
      <p:pic>
        <p:nvPicPr>
          <p:cNvPr id="23" name="Image 7" descr="arrow-right">    </p:cNvPr>
          <p:cNvPicPr>
            <a:picLocks noChangeAspect="1"/>
          </p:cNvPicPr>
          <p:nvPr/>
        </p:nvPicPr>
        <p:blipFill>
          <a:blip r:embed="rId8"/>
          <a:srcRect l="0" r="0" t="0" b="0"/>
          <a:stretch/>
        </p:blipFill>
        <p:spPr>
          <a:xfrm>
            <a:off x="9260880" y="2657971"/>
            <a:ext cx="254000" cy="127000"/>
          </a:xfrm>
          <a:prstGeom prst="rect">
            <a:avLst/>
          </a:prstGeom>
        </p:spPr>
      </p:pic>
      <p:sp>
        <p:nvSpPr>
          <p:cNvPr id="24" name="Shape 14"/>
          <p:cNvSpPr/>
          <p:nvPr/>
        </p:nvSpPr>
        <p:spPr>
          <a:xfrm>
            <a:off x="9594255" y="1882676"/>
            <a:ext cx="1781770" cy="1677591"/>
          </a:xfrm>
          <a:prstGeom prst="roundRect">
            <a:avLst>
              <a:gd name="adj" fmla="val 2839"/>
            </a:avLst>
          </a:prstGeom>
          <a:solidFill>
            <a:srgbClr val="FFFDF8"/>
          </a:solidFill>
          <a:ln w="6350">
            <a:solidFill>
              <a:srgbClr val="D6D0C3"/>
            </a:solidFill>
            <a:prstDash val="solid"/>
          </a:ln>
        </p:spPr>
      </p:sp>
      <p:sp>
        <p:nvSpPr>
          <p:cNvPr id="25" name="Text 15"/>
          <p:cNvSpPr/>
          <p:nvPr/>
        </p:nvSpPr>
        <p:spPr>
          <a:xfrm>
            <a:off x="9775230" y="2083991"/>
            <a:ext cx="2337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766E"/>
                </a:solidFill>
                <a:latin typeface="JetBrains Mono" pitchFamily="34" charset="0"/>
                <a:ea typeface="JetBrains Mono" pitchFamily="34" charset="-122"/>
                <a:cs typeface="JetBrains Mono" pitchFamily="34" charset="-120"/>
              </a:rPr>
              <a:t>05</a:t>
            </a:r>
            <a:endParaRPr lang="en-US" sz="1200" dirty="0"/>
          </a:p>
        </p:txBody>
      </p:sp>
      <p:pic>
        <p:nvPicPr>
          <p:cNvPr id="26" name="Image 8" descr="Verified">    </p:cNvPr>
          <p:cNvPicPr>
            <a:picLocks noChangeAspect="1"/>
          </p:cNvPicPr>
          <p:nvPr/>
        </p:nvPicPr>
        <p:blipFill>
          <a:blip r:embed="rId9"/>
          <a:srcRect l="0" r="0" t="0" b="0"/>
          <a:stretch/>
        </p:blipFill>
        <p:spPr>
          <a:xfrm>
            <a:off x="10941050" y="2063651"/>
            <a:ext cx="254000" cy="254000"/>
          </a:xfrm>
          <a:prstGeom prst="rect">
            <a:avLst/>
          </a:prstGeom>
        </p:spPr>
      </p:pic>
      <p:sp>
        <p:nvSpPr>
          <p:cNvPr id="27" name="Text 16"/>
          <p:cNvSpPr/>
          <p:nvPr/>
        </p:nvSpPr>
        <p:spPr>
          <a:xfrm>
            <a:off x="9775230" y="2419251"/>
            <a:ext cx="147062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D1C1A"/>
                </a:solidFill>
                <a:latin typeface="Archivo" pitchFamily="34" charset="0"/>
                <a:ea typeface="Archivo" pitchFamily="34" charset="-122"/>
                <a:cs typeface="Archivo" pitchFamily="34" charset="-120"/>
              </a:rPr>
              <a:t>A validation link confirms the setting changed</a:t>
            </a:r>
            <a:endParaRPr lang="en-US" sz="1400" dirty="0"/>
          </a:p>
        </p:txBody>
      </p:sp>
      <p:sp>
        <p:nvSpPr>
          <p:cNvPr id="28" name="Text 17"/>
          <p:cNvSpPr/>
          <p:nvPr/>
        </p:nvSpPr>
        <p:spPr>
          <a:xfrm>
            <a:off x="812800" y="3868241"/>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Agents are freed from routine cases, customers get consistent help at any hour, and cost stays near zero because repeats never reach the LLM.</a:t>
            </a:r>
            <a:endParaRPr lang="en-US" sz="1400" dirty="0"/>
          </a:p>
        </p:txBody>
      </p:sp>
      <p:sp>
        <p:nvSpPr>
          <p:cNvPr id="29"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30" name="Text 19"/>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766E"/>
                </a:solidFill>
                <a:latin typeface="JetBrains Mono" pitchFamily="34" charset="0"/>
                <a:ea typeface="JetBrains Mono" pitchFamily="34" charset="-122"/>
                <a:cs typeface="JetBrains Mono" pitchFamily="34" charset="-120"/>
              </a:rPr>
              <a:t>13 · NEXT STEPS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D1C1A"/>
                </a:solidFill>
                <a:latin typeface="Archivo" pitchFamily="34" charset="0"/>
                <a:ea typeface="Archivo" pitchFamily="34" charset="-122"/>
                <a:cs typeface="Archivo" pitchFamily="34" charset="-120"/>
              </a:rPr>
              <a:t>What we would build next</a:t>
            </a:r>
            <a:endParaRPr lang="en-US" sz="3200" dirty="0"/>
          </a:p>
        </p:txBody>
      </p:sp>
      <p:sp>
        <p:nvSpPr>
          <p:cNvPr id="4" name="Shape 2"/>
          <p:cNvSpPr/>
          <p:nvPr/>
        </p:nvSpPr>
        <p:spPr>
          <a:xfrm>
            <a:off x="815975" y="1882676"/>
            <a:ext cx="5175250" cy="1418431"/>
          </a:xfrm>
          <a:prstGeom prst="roundRect">
            <a:avLst>
              <a:gd name="adj" fmla="val 3358"/>
            </a:avLst>
          </a:prstGeom>
          <a:solidFill>
            <a:srgbClr val="FFFDF8"/>
          </a:solidFill>
          <a:ln w="6350">
            <a:solidFill>
              <a:srgbClr val="D6D0C3"/>
            </a:solidFill>
            <a:prstDash val="solid"/>
          </a:ln>
        </p:spPr>
      </p:sp>
      <p:pic>
        <p:nvPicPr>
          <p:cNvPr id="5" name="Image 0" descr="Search">    </p:cNvPr>
          <p:cNvPicPr>
            <a:picLocks noChangeAspect="1"/>
          </p:cNvPicPr>
          <p:nvPr/>
        </p:nvPicPr>
        <p:blipFill>
          <a:blip r:embed="rId1"/>
          <a:srcRect l="0" r="0" t="0" b="0"/>
          <a:stretch/>
        </p:blipFill>
        <p:spPr>
          <a:xfrm>
            <a:off x="1073150" y="2139851"/>
            <a:ext cx="304800" cy="304800"/>
          </a:xfrm>
          <a:prstGeom prst="rect">
            <a:avLst/>
          </a:prstGeom>
        </p:spPr>
      </p:pic>
      <p:sp>
        <p:nvSpPr>
          <p:cNvPr id="6" name="Text 3"/>
          <p:cNvSpPr/>
          <p:nvPr/>
        </p:nvSpPr>
        <p:spPr>
          <a:xfrm>
            <a:off x="1504950" y="2155130"/>
            <a:ext cx="20365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Full RAG over SIIS</a:t>
            </a:r>
            <a:endParaRPr lang="en-US" sz="1800" dirty="0"/>
          </a:p>
        </p:txBody>
      </p:sp>
      <p:sp>
        <p:nvSpPr>
          <p:cNvPr id="7" name="Text 4"/>
          <p:cNvSpPr/>
          <p:nvPr/>
        </p:nvSpPr>
        <p:spPr>
          <a:xfrm>
            <a:off x="1073150" y="254625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Retrieve the right article automatically, which also fixes mismatched pairs.</a:t>
            </a:r>
            <a:endParaRPr lang="en-US" sz="1400" dirty="0"/>
          </a:p>
        </p:txBody>
      </p:sp>
      <p:sp>
        <p:nvSpPr>
          <p:cNvPr id="8" name="Shape 5"/>
          <p:cNvSpPr/>
          <p:nvPr/>
        </p:nvSpPr>
        <p:spPr>
          <a:xfrm>
            <a:off x="6200775" y="1882676"/>
            <a:ext cx="5175250" cy="1418431"/>
          </a:xfrm>
          <a:prstGeom prst="roundRect">
            <a:avLst>
              <a:gd name="adj" fmla="val 3358"/>
            </a:avLst>
          </a:prstGeom>
          <a:solidFill>
            <a:srgbClr val="FFFDF8"/>
          </a:solidFill>
          <a:ln w="6350">
            <a:solidFill>
              <a:srgbClr val="D6D0C3"/>
            </a:solidFill>
            <a:prstDash val="solid"/>
          </a:ln>
        </p:spPr>
      </p:sp>
      <p:pic>
        <p:nvPicPr>
          <p:cNvPr id="9" name="Image 1" descr="Database">    </p:cNvPr>
          <p:cNvPicPr>
            <a:picLocks noChangeAspect="1"/>
          </p:cNvPicPr>
          <p:nvPr/>
        </p:nvPicPr>
        <p:blipFill>
          <a:blip r:embed="rId2"/>
          <a:srcRect l="0" r="0" t="0" b="0"/>
          <a:stretch/>
        </p:blipFill>
        <p:spPr>
          <a:xfrm>
            <a:off x="6457950" y="2139851"/>
            <a:ext cx="304800" cy="304800"/>
          </a:xfrm>
          <a:prstGeom prst="rect">
            <a:avLst/>
          </a:prstGeom>
        </p:spPr>
      </p:pic>
      <p:sp>
        <p:nvSpPr>
          <p:cNvPr id="10" name="Text 6"/>
          <p:cNvSpPr/>
          <p:nvPr/>
        </p:nvSpPr>
        <p:spPr>
          <a:xfrm>
            <a:off x="6889750" y="2155130"/>
            <a:ext cx="23103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Vector index at scale</a:t>
            </a:r>
            <a:endParaRPr lang="en-US" sz="1800" dirty="0"/>
          </a:p>
        </p:txBody>
      </p:sp>
      <p:sp>
        <p:nvSpPr>
          <p:cNvPr id="11" name="Text 7"/>
          <p:cNvSpPr/>
          <p:nvPr/>
        </p:nvSpPr>
        <p:spPr>
          <a:xfrm>
            <a:off x="6457950" y="2546251"/>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Move to FAISS or a managed vector store once phrasings reach the hundreds of thousands.</a:t>
            </a:r>
            <a:endParaRPr lang="en-US" sz="1400" dirty="0"/>
          </a:p>
        </p:txBody>
      </p:sp>
      <p:sp>
        <p:nvSpPr>
          <p:cNvPr id="12" name="Shape 8"/>
          <p:cNvSpPr/>
          <p:nvPr/>
        </p:nvSpPr>
        <p:spPr>
          <a:xfrm>
            <a:off x="815975" y="3510657"/>
            <a:ext cx="5175250" cy="1418431"/>
          </a:xfrm>
          <a:prstGeom prst="roundRect">
            <a:avLst>
              <a:gd name="adj" fmla="val 3358"/>
            </a:avLst>
          </a:prstGeom>
          <a:solidFill>
            <a:srgbClr val="FFFDF8"/>
          </a:solidFill>
          <a:ln w="6350">
            <a:solidFill>
              <a:srgbClr val="D6D0C3"/>
            </a:solidFill>
            <a:prstDash val="solid"/>
          </a:ln>
        </p:spPr>
      </p:sp>
      <p:pic>
        <p:nvPicPr>
          <p:cNvPr id="13" name="Image 2" descr="Tool">    </p:cNvPr>
          <p:cNvPicPr>
            <a:picLocks noChangeAspect="1"/>
          </p:cNvPicPr>
          <p:nvPr/>
        </p:nvPicPr>
        <p:blipFill>
          <a:blip r:embed="rId3"/>
          <a:srcRect l="0" r="0" t="0" b="0"/>
          <a:stretch/>
        </p:blipFill>
        <p:spPr>
          <a:xfrm>
            <a:off x="1073150" y="3767832"/>
            <a:ext cx="304800" cy="304800"/>
          </a:xfrm>
          <a:prstGeom prst="rect">
            <a:avLst/>
          </a:prstGeom>
        </p:spPr>
      </p:pic>
      <p:sp>
        <p:nvSpPr>
          <p:cNvPr id="14" name="Text 9"/>
          <p:cNvSpPr/>
          <p:nvPr/>
        </p:nvSpPr>
        <p:spPr>
          <a:xfrm>
            <a:off x="1504950" y="3783112"/>
            <a:ext cx="257031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Multi-intent complaints</a:t>
            </a:r>
            <a:endParaRPr lang="en-US" sz="1800" dirty="0"/>
          </a:p>
        </p:txBody>
      </p:sp>
      <p:sp>
        <p:nvSpPr>
          <p:cNvPr id="15" name="Text 10"/>
          <p:cNvSpPr/>
          <p:nvPr/>
        </p:nvSpPr>
        <p:spPr>
          <a:xfrm>
            <a:off x="1073150" y="4174232"/>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Split “cracked and touch not working” into separate goals.</a:t>
            </a:r>
            <a:endParaRPr lang="en-US" sz="1400" dirty="0"/>
          </a:p>
        </p:txBody>
      </p:sp>
      <p:sp>
        <p:nvSpPr>
          <p:cNvPr id="16" name="Shape 11"/>
          <p:cNvSpPr/>
          <p:nvPr/>
        </p:nvSpPr>
        <p:spPr>
          <a:xfrm>
            <a:off x="6200775" y="3510657"/>
            <a:ext cx="5175250" cy="1418431"/>
          </a:xfrm>
          <a:prstGeom prst="roundRect">
            <a:avLst>
              <a:gd name="adj" fmla="val 3358"/>
            </a:avLst>
          </a:prstGeom>
          <a:solidFill>
            <a:srgbClr val="FFFDF8"/>
          </a:solidFill>
          <a:ln w="6350">
            <a:solidFill>
              <a:srgbClr val="D6D0C3"/>
            </a:solidFill>
            <a:prstDash val="solid"/>
          </a:ln>
        </p:spPr>
      </p:sp>
      <p:pic>
        <p:nvPicPr>
          <p:cNvPr id="17" name="Image 3" descr="Home">    </p:cNvPr>
          <p:cNvPicPr>
            <a:picLocks noChangeAspect="1"/>
          </p:cNvPicPr>
          <p:nvPr/>
        </p:nvPicPr>
        <p:blipFill>
          <a:blip r:embed="rId4"/>
          <a:srcRect l="0" r="0" t="0" b="0"/>
          <a:stretch/>
        </p:blipFill>
        <p:spPr>
          <a:xfrm>
            <a:off x="6457950" y="3767832"/>
            <a:ext cx="304800" cy="304800"/>
          </a:xfrm>
          <a:prstGeom prst="rect">
            <a:avLst/>
          </a:prstGeom>
        </p:spPr>
      </p:pic>
      <p:sp>
        <p:nvSpPr>
          <p:cNvPr id="18" name="Text 12"/>
          <p:cNvSpPr/>
          <p:nvPr/>
        </p:nvSpPr>
        <p:spPr>
          <a:xfrm>
            <a:off x="6889750" y="3783112"/>
            <a:ext cx="181825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1C1A"/>
                </a:solidFill>
                <a:latin typeface="Archivo" pitchFamily="34" charset="0"/>
                <a:ea typeface="Archivo" pitchFamily="34" charset="-122"/>
                <a:cs typeface="Archivo" pitchFamily="34" charset="-120"/>
              </a:rPr>
              <a:t>On-device client</a:t>
            </a:r>
            <a:endParaRPr lang="en-US" sz="1800" dirty="0"/>
          </a:p>
        </p:txBody>
      </p:sp>
      <p:sp>
        <p:nvSpPr>
          <p:cNvPr id="19" name="Text 13"/>
          <p:cNvSpPr/>
          <p:nvPr/>
        </p:nvSpPr>
        <p:spPr>
          <a:xfrm>
            <a:off x="6457950" y="4174232"/>
            <a:ext cx="48007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65C"/>
                </a:solidFill>
                <a:latin typeface="Archivo" pitchFamily="34" charset="0"/>
                <a:ea typeface="Archivo" pitchFamily="34" charset="-122"/>
                <a:cs typeface="Archivo" pitchFamily="34" charset="-120"/>
              </a:rPr>
              <a:t>An Android client that renders plans and fires deeplinks natively.</a:t>
            </a:r>
            <a:endParaRPr lang="en-US" sz="1400" dirty="0"/>
          </a:p>
        </p:txBody>
      </p:sp>
      <p:sp>
        <p:nvSpPr>
          <p:cNvPr id="20"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Smart Guided Troubleshooting Engine</a:t>
            </a:r>
            <a:endParaRPr lang="en-US" sz="1200" dirty="0"/>
          </a:p>
        </p:txBody>
      </p:sp>
      <p:sp>
        <p:nvSpPr>
          <p:cNvPr id="21" name="Text 15"/>
          <p:cNvSpPr/>
          <p:nvPr/>
        </p:nvSpPr>
        <p:spPr>
          <a:xfrm>
            <a:off x="9804400" y="6238280"/>
            <a:ext cx="1574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JetBrains Mono" pitchFamily="34" charset="0"/>
                <a:ea typeface="JetBrains Mono" pitchFamily="34" charset="-122"/>
                <a:cs typeface="JetBrains Mono"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1C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C9BF"/>
                </a:solidFill>
                <a:latin typeface="JetBrains Mono" pitchFamily="34" charset="0"/>
                <a:ea typeface="JetBrains Mono" pitchFamily="34" charset="-122"/>
                <a:cs typeface="JetBrains Mono" pitchFamily="34" charset="-120"/>
              </a:rPr>
              <a:t>THANK YOU</a:t>
            </a:r>
            <a:endParaRPr lang="en-US" sz="1200" dirty="0"/>
          </a:p>
        </p:txBody>
      </p:sp>
      <p:sp>
        <p:nvSpPr>
          <p:cNvPr id="3" name="Text 1"/>
          <p:cNvSpPr/>
          <p:nvPr/>
        </p:nvSpPr>
        <p:spPr>
          <a:xfrm>
            <a:off x="812800" y="251083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spc="-200" kern="0" dirty="0">
                <a:solidFill>
                  <a:srgbClr val="F4F1EA"/>
                </a:solidFill>
                <a:latin typeface="Archivo" pitchFamily="34" charset="0"/>
                <a:ea typeface="Archivo" pitchFamily="34" charset="-122"/>
                <a:cs typeface="Archivo" pitchFamily="34" charset="-120"/>
              </a:rPr>
              <a:t>Questions?</a:t>
            </a:r>
            <a:endParaRPr lang="en-US" sz="8000" dirty="0"/>
          </a:p>
        </p:txBody>
      </p:sp>
      <p:sp>
        <p:nvSpPr>
          <p:cNvPr id="4" name="Text 2"/>
          <p:cNvSpPr/>
          <p:nvPr/>
        </p:nvSpPr>
        <p:spPr>
          <a:xfrm>
            <a:off x="812800" y="373003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DB6A9"/>
                </a:solidFill>
                <a:latin typeface="Archivo" pitchFamily="34" charset="0"/>
                <a:ea typeface="Archivo" pitchFamily="34" charset="-122"/>
                <a:cs typeface="Archivo" pitchFamily="34" charset="-120"/>
              </a:rPr>
              <a:t>Live demo console, REST API with /docs, 100 automated tests, and a full metrics report in the repository.</a:t>
            </a:r>
            <a:endParaRPr lang="en-US" sz="1800" dirty="0"/>
          </a:p>
        </p:txBody>
      </p:sp>
      <p:sp>
        <p:nvSpPr>
          <p:cNvPr id="5" name="Text 3"/>
          <p:cNvSpPr/>
          <p:nvPr/>
        </p:nvSpPr>
        <p:spPr>
          <a:xfrm>
            <a:off x="812800" y="5831880"/>
            <a:ext cx="48033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B6A9"/>
                </a:solidFill>
                <a:latin typeface="JetBrains Mono" pitchFamily="34" charset="0"/>
                <a:ea typeface="JetBrains Mono" pitchFamily="34" charset="-122"/>
                <a:cs typeface="JetBrains Mono" pitchFamily="34" charset="-120"/>
              </a:rPr>
              <a:t>[github.com/your-team/smart-troubleshooting-engine]</a:t>
            </a:r>
            <a:endParaRPr lang="en-US" sz="1200" dirty="0"/>
          </a:p>
        </p:txBody>
      </p:sp>
      <p:sp>
        <p:nvSpPr>
          <p:cNvPr id="6" name="Text 4"/>
          <p:cNvSpPr/>
          <p:nvPr/>
        </p:nvSpPr>
        <p:spPr>
          <a:xfrm>
            <a:off x="7995841" y="5831880"/>
            <a:ext cx="3484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B6A9"/>
                </a:solidFill>
                <a:latin typeface="JetBrains Mono" pitchFamily="34" charset="0"/>
                <a:ea typeface="JetBrains Mono" pitchFamily="34" charset="-122"/>
                <a:cs typeface="JetBrains Mono" pitchFamily="34" charset="-120"/>
              </a:rPr>
              <a:t>[Team name] · [Member A] · [Member 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Guided Troubleshooting Engine</dc:title>
  <dc:subject>PptxGenJS Presentation</dc:subject>
  <dc:creator>PptxGenJS</dc:creator>
  <cp:lastModifiedBy>PptxGenJS</cp:lastModifiedBy>
  <cp:revision>1</cp:revision>
  <dcterms:created xsi:type="dcterms:W3CDTF">2026-09-29T14:24:39Z</dcterms:created>
  <dcterms:modified xsi:type="dcterms:W3CDTF">2026-09-29T14:24:39Z</dcterms:modified>
</cp:coreProperties>
</file>