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05475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One sentence: we turn how customers actually describe problems into a plan they can execute with one tap per step. The three colored tags are the engine's own action categories and they reappear throughout the deck.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never speak in technical terms. Today a human reads the SIIS article, picks steps, and types instructions like Settings &gt; Display &gt; Navigation bar. The customer still has to find those menus. The problem statement puts this at about 15 minutes per scenario.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plan the engine produced for one of the 20 test complaints. Settings toggles come first and each carries a deeplink that opens the exact screen. Physical checks come next, and disruptive steps like a factory reset are always last.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questions have been seen before, so the cache answers first. Only a genuinely new problem goes through the pipeline. Point out that the LLM appears exactly once, at extraction.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idea. Deeplink URIs in the catalog are masked tokens, so an LLM cannot reliably choose them and may invent realistic-looking fakes. We keep the model on the one task it is good at, reading text, and do everything checkable in code.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PDF warns that prompt-only constraints are unreliable. Every rule is therefore enforced by code. The grounding example is real: the LLM added a natural follow-up step that the article never states, and the checker removed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is full of near-identical names. Letter-level fuzzy matching would accept Easy mode for Super steady mode. Our gate requires every word, in order. The backup example independently selected the same deeplink as the official sample output.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should never be told to wipe their phone before trying a settings toggle. Within critical steps we also rank severity: restart before safe mode before factory reset.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test paraphrases were written by hand and never stored in the cache, so this is an honest unseen-paraphrase measurement. Lower thresholds reach 90 percent but start returning plans for complaints that should get none. Repeats are also fully deterministic, which fixes the LLM's run-to-run variation.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our own scripts: results.jsonl, the cache benchmark and an HTTP stress test with 8 parallel workers. Fill the cold-path P95 from the paced benchmark run. Mention 100 automated tests pass.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on the same LLM-extracted plans. Without the gate, retrieval alone would have sent customers to the wrong screen for most settings actions. This is the evidence for our main design choice.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came from reading our own outputs carefully. The official sample output violates the 5 to 7 word description rule, which our validator flags. The engine prefers an honest no_match over inventing a plan from an unrelated article.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a microservice. A support app or voice assistant calls it, renders the plan, and uses the deeplinks to jump straight to the right screen. The validation deeplink lets the app confirm a fix worked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embeddings live in NumPy and SQLite because the data is small: 550 catalog entries and 174 cached phrasings. At company scale a vector index becomes worthwhile, and embedding all SIIS articles turns the system into full RAG.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the live demo: click a sample paraphrase for an instant cache hit, then paste a new complaint with its article to show the full pipeline, then ask it again in different words.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C1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8FC9BF"/>
                </a:solidFill>
                <a:latin typeface="JetBrains Mono" pitchFamily="34" charset="0"/>
                <a:ea typeface="JetBrains Mono" pitchFamily="34" charset="-122"/>
                <a:cs typeface="JetBrains Mono" pitchFamily="34" charset="-120"/>
              </a:rPr>
              <a:t>HACKATHON · THEME 2 · TROUBLESHOOTING</a:t>
            </a:r>
            <a:endParaRPr lang="en-US" sz="1200" dirty="0"/>
          </a:p>
        </p:txBody>
      </p:sp>
      <p:sp>
        <p:nvSpPr>
          <p:cNvPr id="3" name="Text 1"/>
          <p:cNvSpPr/>
          <p:nvPr/>
        </p:nvSpPr>
        <p:spPr>
          <a:xfrm>
            <a:off x="812800" y="1507530"/>
            <a:ext cx="10883392" cy="2921000"/>
          </a:xfrm>
          <a:prstGeom prst="rect">
            <a:avLst/>
          </a:prstGeom>
          <a:noFill/>
          <a:ln/>
        </p:spPr>
        <p:txBody>
          <a:bodyPr wrap="square" lIns="0" tIns="0" rIns="0" bIns="0" rtlCol="0" anchor="t">
            <a:normAutofit/>
          </a:bodyPr>
          <a:lstStyle/>
          <a:p>
            <a:pPr marL="0" indent="0" algn="l">
              <a:lnSpc>
                <a:spcPts val="7600"/>
              </a:lnSpc>
              <a:buNone/>
            </a:pPr>
            <a:r>
              <a:rPr lang="en-US" sz="8000" b="1" kern="0" spc="-200" dirty="0">
                <a:solidFill>
                  <a:srgbClr val="F4F1EA"/>
                </a:solidFill>
                <a:latin typeface="Archivo" pitchFamily="34" charset="0"/>
                <a:ea typeface="Archivo" pitchFamily="34" charset="-122"/>
                <a:cs typeface="Archivo" pitchFamily="34" charset="-120"/>
              </a:rPr>
              <a:t>Smart Guided Troubleshooting Engine</a:t>
            </a:r>
            <a:endParaRPr lang="en-US" sz="8000" dirty="0"/>
          </a:p>
        </p:txBody>
      </p:sp>
      <p:sp>
        <p:nvSpPr>
          <p:cNvPr id="4" name="Text 2"/>
          <p:cNvSpPr/>
          <p:nvPr/>
        </p:nvSpPr>
        <p:spPr>
          <a:xfrm>
            <a:off x="812800" y="4657130"/>
            <a:ext cx="8502650" cy="642541"/>
          </a:xfrm>
          <a:prstGeom prst="rect">
            <a:avLst/>
          </a:prstGeom>
          <a:noFill/>
          <a:ln/>
        </p:spPr>
        <p:txBody>
          <a:bodyPr wrap="square" lIns="0" tIns="0" rIns="0" bIns="0" rtlCol="0" anchor="t">
            <a:normAutofit/>
          </a:bodyPr>
          <a:lstStyle/>
          <a:p>
            <a:pPr marL="0" indent="0" algn="l">
              <a:lnSpc>
                <a:spcPts val="2430"/>
              </a:lnSpc>
              <a:buNone/>
            </a:pPr>
            <a:r>
              <a:rPr lang="en-US" sz="1800" dirty="0">
                <a:solidFill>
                  <a:srgbClr val="BDB6A9"/>
                </a:solidFill>
                <a:latin typeface="Archivo" pitchFamily="34" charset="0"/>
                <a:ea typeface="Archivo" pitchFamily="34" charset="-122"/>
                <a:cs typeface="Archivo" pitchFamily="34" charset="-120"/>
              </a:rPr>
              <a:t>From a vague phone complaint to a verified, ordered fix plan where every Settings step is one tap away.</a:t>
            </a:r>
            <a:endParaRPr lang="en-US" sz="1800" dirty="0"/>
          </a:p>
        </p:txBody>
      </p:sp>
      <p:sp>
        <p:nvSpPr>
          <p:cNvPr id="5" name="Shape 3"/>
          <p:cNvSpPr/>
          <p:nvPr/>
        </p:nvSpPr>
        <p:spPr>
          <a:xfrm>
            <a:off x="812800" y="5755680"/>
            <a:ext cx="619820" cy="289520"/>
          </a:xfrm>
          <a:prstGeom prst="roundRect">
            <a:avLst>
              <a:gd name="adj" fmla="val 13160"/>
            </a:avLst>
          </a:prstGeom>
          <a:solidFill>
            <a:srgbClr val="0F766E"/>
          </a:solidFill>
          <a:ln/>
        </p:spPr>
      </p:sp>
      <p:sp>
        <p:nvSpPr>
          <p:cNvPr id="6" name="Text 4"/>
          <p:cNvSpPr/>
          <p:nvPr/>
        </p:nvSpPr>
        <p:spPr>
          <a:xfrm>
            <a:off x="914400" y="5793780"/>
            <a:ext cx="46742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AUTO</a:t>
            </a:r>
            <a:endParaRPr lang="en-US" sz="1200" dirty="0"/>
          </a:p>
        </p:txBody>
      </p:sp>
      <p:sp>
        <p:nvSpPr>
          <p:cNvPr id="7" name="Shape 5"/>
          <p:cNvSpPr/>
          <p:nvPr/>
        </p:nvSpPr>
        <p:spPr>
          <a:xfrm>
            <a:off x="1534220" y="5755680"/>
            <a:ext cx="828080" cy="289520"/>
          </a:xfrm>
          <a:prstGeom prst="roundRect">
            <a:avLst>
              <a:gd name="adj" fmla="val 13160"/>
            </a:avLst>
          </a:prstGeom>
          <a:solidFill>
            <a:srgbClr val="B45309"/>
          </a:solidFill>
          <a:ln/>
        </p:spPr>
      </p:sp>
      <p:sp>
        <p:nvSpPr>
          <p:cNvPr id="8" name="Text 6"/>
          <p:cNvSpPr/>
          <p:nvPr/>
        </p:nvSpPr>
        <p:spPr>
          <a:xfrm>
            <a:off x="1635820" y="5793780"/>
            <a:ext cx="67568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MANUAL</a:t>
            </a:r>
            <a:endParaRPr lang="en-US" sz="1200" dirty="0"/>
          </a:p>
        </p:txBody>
      </p:sp>
      <p:sp>
        <p:nvSpPr>
          <p:cNvPr id="9" name="Shape 7"/>
          <p:cNvSpPr/>
          <p:nvPr/>
        </p:nvSpPr>
        <p:spPr>
          <a:xfrm>
            <a:off x="2463899" y="5755680"/>
            <a:ext cx="1036340" cy="289520"/>
          </a:xfrm>
          <a:prstGeom prst="roundRect">
            <a:avLst>
              <a:gd name="adj" fmla="val 13160"/>
            </a:avLst>
          </a:prstGeom>
          <a:solidFill>
            <a:srgbClr val="B91C1C"/>
          </a:solidFill>
          <a:ln/>
        </p:spPr>
      </p:sp>
      <p:sp>
        <p:nvSpPr>
          <p:cNvPr id="10" name="Text 8"/>
          <p:cNvSpPr/>
          <p:nvPr/>
        </p:nvSpPr>
        <p:spPr>
          <a:xfrm>
            <a:off x="2565499" y="5793780"/>
            <a:ext cx="88394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CRITICAL</a:t>
            </a:r>
            <a:endParaRPr lang="en-US" sz="1200" dirty="0"/>
          </a:p>
        </p:txBody>
      </p:sp>
      <p:sp>
        <p:nvSpPr>
          <p:cNvPr id="11" name="Text 9"/>
          <p:cNvSpPr/>
          <p:nvPr/>
        </p:nvSpPr>
        <p:spPr>
          <a:xfrm>
            <a:off x="7995841" y="5793780"/>
            <a:ext cx="3484860" cy="238720"/>
          </a:xfrm>
          <a:prstGeom prst="rect">
            <a:avLst/>
          </a:prstGeom>
          <a:noFill/>
          <a:ln/>
        </p:spPr>
        <p:txBody>
          <a:bodyPr wrap="square" lIns="0" tIns="0" rIns="0" bIns="0" rtlCol="0" anchor="t">
            <a:normAutofit/>
          </a:bodyPr>
          <a:lstStyle/>
          <a:p>
            <a:pPr marL="0" indent="0" algn="l">
              <a:lnSpc>
                <a:spcPct val="100000"/>
              </a:lnSpc>
              <a:buNone/>
            </a:pPr>
            <a:r>
              <a:rPr lang="en-US" sz="1200" dirty="0" err="1">
                <a:solidFill>
                  <a:srgbClr val="BDB6A9"/>
                </a:solidFill>
                <a:latin typeface="JetBrains Mono" pitchFamily="34" charset="0"/>
                <a:ea typeface="JetBrains Mono" pitchFamily="34" charset="-122"/>
                <a:cs typeface="JetBrains Mono" pitchFamily="34" charset="-120"/>
              </a:rPr>
              <a:t>CodeSwitch</a:t>
            </a:r>
            <a:r>
              <a:rPr lang="en-US" sz="1200" dirty="0">
                <a:solidFill>
                  <a:srgbClr val="BDB6A9"/>
                </a:solidFill>
                <a:latin typeface="JetBrains Mono" pitchFamily="34" charset="0"/>
                <a:ea typeface="JetBrains Mono" pitchFamily="34" charset="-122"/>
                <a:cs typeface="JetBrains Mono" pitchFamily="34" charset="-120"/>
              </a:rPr>
              <a:t> - Rayasam Amarnath · Neeraj Prasad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01 · THE PROBLEM</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Every complaint costs an agent 15 minutes</a:t>
            </a:r>
            <a:endParaRPr lang="en-US" sz="3200" dirty="0"/>
          </a:p>
        </p:txBody>
      </p:sp>
      <p:sp>
        <p:nvSpPr>
          <p:cNvPr id="4" name="Text 2"/>
          <p:cNvSpPr/>
          <p:nvPr/>
        </p:nvSpPr>
        <p:spPr>
          <a:xfrm>
            <a:off x="812800" y="1879501"/>
            <a:ext cx="3662680" cy="1041400"/>
          </a:xfrm>
          <a:prstGeom prst="rect">
            <a:avLst/>
          </a:prstGeom>
          <a:noFill/>
          <a:ln/>
        </p:spPr>
        <p:txBody>
          <a:bodyPr wrap="square" lIns="0" tIns="0" rIns="0" bIns="0" rtlCol="0" anchor="t">
            <a:normAutofit/>
          </a:bodyPr>
          <a:lstStyle/>
          <a:p>
            <a:pPr marL="0" indent="0" algn="l">
              <a:lnSpc>
                <a:spcPts val="8000"/>
              </a:lnSpc>
              <a:buNone/>
            </a:pPr>
            <a:r>
              <a:rPr lang="en-US" sz="8000" b="1" kern="0" spc="-200" dirty="0">
                <a:solidFill>
                  <a:srgbClr val="0F766E"/>
                </a:solidFill>
                <a:latin typeface="Archivo" pitchFamily="34" charset="0"/>
                <a:ea typeface="Archivo" pitchFamily="34" charset="-122"/>
                <a:cs typeface="Archivo" pitchFamily="34" charset="-120"/>
              </a:rPr>
              <a:t>15 min</a:t>
            </a:r>
            <a:endParaRPr lang="en-US" sz="8000" dirty="0"/>
          </a:p>
        </p:txBody>
      </p:sp>
      <p:sp>
        <p:nvSpPr>
          <p:cNvPr id="5" name="Text 3"/>
          <p:cNvSpPr/>
          <p:nvPr/>
        </p:nvSpPr>
        <p:spPr>
          <a:xfrm>
            <a:off x="812800" y="3047901"/>
            <a:ext cx="366268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of manual triage per scenario, across millions of customer interactions.</a:t>
            </a:r>
            <a:endParaRPr lang="en-US" sz="1400" dirty="0"/>
          </a:p>
        </p:txBody>
      </p:sp>
      <p:sp>
        <p:nvSpPr>
          <p:cNvPr id="6" name="Shape 4"/>
          <p:cNvSpPr/>
          <p:nvPr/>
        </p:nvSpPr>
        <p:spPr>
          <a:xfrm>
            <a:off x="4876800" y="1879501"/>
            <a:ext cx="6502400" cy="802481"/>
          </a:xfrm>
          <a:prstGeom prst="rect">
            <a:avLst/>
          </a:prstGeom>
          <a:solidFill>
            <a:srgbClr val="FFFDF8"/>
          </a:solidFill>
          <a:ln/>
        </p:spPr>
      </p:sp>
      <p:sp>
        <p:nvSpPr>
          <p:cNvPr id="7" name="Shape 5"/>
          <p:cNvSpPr/>
          <p:nvPr/>
        </p:nvSpPr>
        <p:spPr>
          <a:xfrm>
            <a:off x="4895850" y="1879501"/>
            <a:ext cx="0" cy="802481"/>
          </a:xfrm>
          <a:prstGeom prst="line">
            <a:avLst/>
          </a:prstGeom>
          <a:noFill/>
          <a:ln w="38100">
            <a:solidFill>
              <a:srgbClr val="B45309"/>
            </a:solidFill>
            <a:prstDash val="solid"/>
          </a:ln>
        </p:spPr>
      </p:sp>
      <p:sp>
        <p:nvSpPr>
          <p:cNvPr id="8" name="Text 6"/>
          <p:cNvSpPr/>
          <p:nvPr/>
        </p:nvSpPr>
        <p:spPr>
          <a:xfrm>
            <a:off x="5118100" y="2031901"/>
            <a:ext cx="6239637" cy="523081"/>
          </a:xfrm>
          <a:prstGeom prst="rect">
            <a:avLst/>
          </a:prstGeom>
          <a:noFill/>
          <a:ln/>
        </p:spPr>
        <p:txBody>
          <a:bodyPr wrap="square" lIns="0" tIns="0" rIns="0" bIns="0" rtlCol="0" anchor="t">
            <a:normAutofit/>
          </a:bodyPr>
          <a:lstStyle/>
          <a:p>
            <a:pPr marL="0" indent="0" algn="l">
              <a:lnSpc>
                <a:spcPts val="1960"/>
              </a:lnSpc>
              <a:buNone/>
            </a:pPr>
            <a:r>
              <a:rPr lang="en-US" sz="1400" i="1" dirty="0">
                <a:solidFill>
                  <a:srgbClr val="1D1C1A"/>
                </a:solidFill>
                <a:latin typeface="Archivo" pitchFamily="34" charset="0"/>
                <a:ea typeface="Archivo" pitchFamily="34" charset="-122"/>
                <a:cs typeface="Archivo" pitchFamily="34" charset="-120"/>
              </a:rPr>
              <a:t>"My Nexa X1 screen inputs are delayed and the touch responsiveness is laggy."</a:t>
            </a:r>
            <a:endParaRPr lang="en-US" sz="1400" dirty="0"/>
          </a:p>
        </p:txBody>
      </p:sp>
      <p:sp>
        <p:nvSpPr>
          <p:cNvPr id="9" name="Shape 7"/>
          <p:cNvSpPr/>
          <p:nvPr/>
        </p:nvSpPr>
        <p:spPr>
          <a:xfrm>
            <a:off x="4876800" y="3289598"/>
            <a:ext cx="6502400" cy="0"/>
          </a:xfrm>
          <a:prstGeom prst="line">
            <a:avLst/>
          </a:prstGeom>
          <a:noFill/>
          <a:ln w="6350">
            <a:solidFill>
              <a:srgbClr val="D6D0C3"/>
            </a:solidFill>
            <a:prstDash val="solid"/>
          </a:ln>
        </p:spPr>
      </p:sp>
      <p:sp>
        <p:nvSpPr>
          <p:cNvPr id="10" name="Text 8"/>
          <p:cNvSpPr/>
          <p:nvPr/>
        </p:nvSpPr>
        <p:spPr>
          <a:xfrm>
            <a:off x="4876800" y="2935982"/>
            <a:ext cx="6697472"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C1A"/>
                </a:solidFill>
                <a:latin typeface="Archivo" pitchFamily="34" charset="0"/>
                <a:ea typeface="Archivo" pitchFamily="34" charset="-122"/>
                <a:cs typeface="Archivo" pitchFamily="34" charset="-120"/>
              </a:rPr>
              <a:t>1.</a:t>
            </a:r>
            <a:r>
              <a:rPr lang="en-US" sz="1400" dirty="0">
                <a:solidFill>
                  <a:srgbClr val="1D1C1A"/>
                </a:solidFill>
                <a:latin typeface="Archivo" pitchFamily="34" charset="0"/>
                <a:ea typeface="Archivo" pitchFamily="34" charset="-122"/>
                <a:cs typeface="Archivo" pitchFamily="34" charset="-120"/>
              </a:rPr>
              <a:t> An agent reads long knowledge-base articles to find the cause.</a:t>
            </a:r>
            <a:endParaRPr lang="en-US" sz="1400" dirty="0"/>
          </a:p>
        </p:txBody>
      </p:sp>
      <p:sp>
        <p:nvSpPr>
          <p:cNvPr id="11" name="Shape 9"/>
          <p:cNvSpPr/>
          <p:nvPr/>
        </p:nvSpPr>
        <p:spPr>
          <a:xfrm>
            <a:off x="4876800" y="3747988"/>
            <a:ext cx="6502400" cy="0"/>
          </a:xfrm>
          <a:prstGeom prst="line">
            <a:avLst/>
          </a:prstGeom>
          <a:noFill/>
          <a:ln w="6350">
            <a:solidFill>
              <a:srgbClr val="D6D0C3"/>
            </a:solidFill>
            <a:prstDash val="solid"/>
          </a:ln>
        </p:spPr>
      </p:sp>
      <p:sp>
        <p:nvSpPr>
          <p:cNvPr id="12" name="Text 10"/>
          <p:cNvSpPr/>
          <p:nvPr/>
        </p:nvSpPr>
        <p:spPr>
          <a:xfrm>
            <a:off x="4876800" y="3394373"/>
            <a:ext cx="6697472"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C1A"/>
                </a:solidFill>
                <a:latin typeface="Archivo" pitchFamily="34" charset="0"/>
                <a:ea typeface="Archivo" pitchFamily="34" charset="-122"/>
                <a:cs typeface="Archivo" pitchFamily="34" charset="-120"/>
              </a:rPr>
              <a:t>2.</a:t>
            </a:r>
            <a:r>
              <a:rPr lang="en-US" sz="1400" dirty="0">
                <a:solidFill>
                  <a:srgbClr val="1D1C1A"/>
                </a:solidFill>
                <a:latin typeface="Archivo" pitchFamily="34" charset="0"/>
                <a:ea typeface="Archivo" pitchFamily="34" charset="-122"/>
                <a:cs typeface="Archivo" pitchFamily="34" charset="-120"/>
              </a:rPr>
              <a:t> The agent picks and orders the right steps by hand.</a:t>
            </a:r>
            <a:endParaRPr lang="en-US" sz="1400" dirty="0"/>
          </a:p>
        </p:txBody>
      </p:sp>
      <p:sp>
        <p:nvSpPr>
          <p:cNvPr id="13" name="Text 11"/>
          <p:cNvSpPr/>
          <p:nvPr/>
        </p:nvSpPr>
        <p:spPr>
          <a:xfrm>
            <a:off x="4876800" y="3852763"/>
            <a:ext cx="6697472"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C1A"/>
                </a:solidFill>
                <a:latin typeface="Archivo" pitchFamily="34" charset="0"/>
                <a:ea typeface="Archivo" pitchFamily="34" charset="-122"/>
                <a:cs typeface="Archivo" pitchFamily="34" charset="-120"/>
              </a:rPr>
              <a:t>3.</a:t>
            </a:r>
            <a:r>
              <a:rPr lang="en-US" sz="1400" dirty="0">
                <a:solidFill>
                  <a:srgbClr val="1D1C1A"/>
                </a:solidFill>
                <a:latin typeface="Archivo" pitchFamily="34" charset="0"/>
                <a:ea typeface="Archivo" pitchFamily="34" charset="-122"/>
                <a:cs typeface="Archivo" pitchFamily="34" charset="-120"/>
              </a:rPr>
              <a:t> The customer hunts through nested Settings menus alone.</a:t>
            </a:r>
            <a:endParaRPr lang="en-US" sz="1400" dirty="0"/>
          </a:p>
        </p:txBody>
      </p:sp>
      <p:sp>
        <p:nvSpPr>
          <p:cNvPr id="14" name="Text 12"/>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15" name="Text 13"/>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02 / 15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6020"/>
          </a:xfrm>
          <a:prstGeom prst="rect">
            <a:avLst/>
          </a:prstGeom>
          <a:noFill/>
          <a:ln/>
        </p:spPr>
        <p:txBody>
          <a:bodyPr wrap="square" lIns="0" tIns="0" rIns="0" bIns="0" rtlCol="0" anchor="t">
            <a:normAutofit/>
          </a:bodyPr>
          <a:lstStyle/>
          <a:p>
            <a:pPr marL="0" indent="0" algn="l">
              <a:lnSpc>
                <a:spcPts val="1622"/>
              </a:lnSpc>
              <a:buNone/>
            </a:pPr>
            <a:r>
              <a:rPr lang="en-US" sz="1159" b="1" kern="0" spc="150" dirty="0">
                <a:solidFill>
                  <a:srgbClr val="0F766E"/>
                </a:solidFill>
                <a:latin typeface="JetBrains Mono" pitchFamily="34" charset="0"/>
                <a:ea typeface="JetBrains Mono" pitchFamily="34" charset="-122"/>
                <a:cs typeface="JetBrains Mono" pitchFamily="34" charset="-120"/>
              </a:rPr>
              <a:t>02 · WHAT WE BUILT</a:t>
            </a:r>
            <a:endParaRPr lang="en-US" sz="1159" dirty="0"/>
          </a:p>
        </p:txBody>
      </p:sp>
      <p:sp>
        <p:nvSpPr>
          <p:cNvPr id="3" name="Text 1"/>
          <p:cNvSpPr/>
          <p:nvPr/>
        </p:nvSpPr>
        <p:spPr>
          <a:xfrm>
            <a:off x="812800" y="1115020"/>
            <a:ext cx="10883392" cy="445790"/>
          </a:xfrm>
          <a:prstGeom prst="rect">
            <a:avLst/>
          </a:prstGeom>
          <a:noFill/>
          <a:ln/>
        </p:spPr>
        <p:txBody>
          <a:bodyPr wrap="square" lIns="0" tIns="0" rIns="0" bIns="0" rtlCol="0" anchor="t">
            <a:normAutofit/>
          </a:bodyPr>
          <a:lstStyle/>
          <a:p>
            <a:pPr marL="0" indent="0" algn="l">
              <a:lnSpc>
                <a:spcPts val="3322"/>
              </a:lnSpc>
              <a:buNone/>
            </a:pPr>
            <a:r>
              <a:rPr lang="en-US" sz="3020" b="1" kern="0" spc="-50" dirty="0">
                <a:solidFill>
                  <a:srgbClr val="1D1C1A"/>
                </a:solidFill>
                <a:latin typeface="Archivo" pitchFamily="34" charset="0"/>
                <a:ea typeface="Archivo" pitchFamily="34" charset="-122"/>
                <a:cs typeface="Archivo" pitchFamily="34" charset="-120"/>
              </a:rPr>
              <a:t>One request in, a verified plan out</a:t>
            </a:r>
            <a:endParaRPr lang="en-US" sz="3020" dirty="0"/>
          </a:p>
        </p:txBody>
      </p:sp>
      <p:sp>
        <p:nvSpPr>
          <p:cNvPr id="4" name="Shape 2"/>
          <p:cNvSpPr/>
          <p:nvPr/>
        </p:nvSpPr>
        <p:spPr>
          <a:xfrm>
            <a:off x="812800" y="2919214"/>
            <a:ext cx="3302000" cy="1843683"/>
          </a:xfrm>
          <a:prstGeom prst="roundRect">
            <a:avLst>
              <a:gd name="adj" fmla="val 2755"/>
            </a:avLst>
          </a:prstGeom>
          <a:solidFill>
            <a:srgbClr val="1D1C1A"/>
          </a:solidFill>
          <a:ln/>
        </p:spPr>
      </p:sp>
      <p:sp>
        <p:nvSpPr>
          <p:cNvPr id="5" name="Text 3"/>
          <p:cNvSpPr/>
          <p:nvPr/>
        </p:nvSpPr>
        <p:spPr>
          <a:xfrm>
            <a:off x="1066800" y="3173214"/>
            <a:ext cx="2877820"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8FC9BF"/>
                </a:solidFill>
                <a:latin typeface="JetBrains Mono" pitchFamily="34" charset="0"/>
                <a:ea typeface="JetBrains Mono" pitchFamily="34" charset="-122"/>
                <a:cs typeface="JetBrains Mono" pitchFamily="34" charset="-120"/>
              </a:rPr>
              <a:t>INPUT · CUSTOMER WORDS</a:t>
            </a:r>
            <a:endParaRPr lang="en-US" sz="1200" dirty="0"/>
          </a:p>
        </p:txBody>
      </p:sp>
      <p:sp>
        <p:nvSpPr>
          <p:cNvPr id="6" name="Text 4"/>
          <p:cNvSpPr/>
          <p:nvPr/>
        </p:nvSpPr>
        <p:spPr>
          <a:xfrm>
            <a:off x="1066800" y="3513534"/>
            <a:ext cx="2877820" cy="1020763"/>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4F1EA"/>
                </a:solidFill>
                <a:latin typeface="Archivo" pitchFamily="34" charset="0"/>
                <a:ea typeface="Archivo" pitchFamily="34" charset="-122"/>
                <a:cs typeface="Archivo" pitchFamily="34" charset="-120"/>
              </a:rPr>
              <a:t>"My Nexa X1 screen inputs are delayed and the touch responsiveness is laggy, causing a noticeable delay."</a:t>
            </a:r>
            <a:endParaRPr lang="en-US" sz="1400" dirty="0"/>
          </a:p>
        </p:txBody>
      </p:sp>
      <p:pic>
        <p:nvPicPr>
          <p:cNvPr id="7" name="Image 0" descr="arrow-right"/>
          <p:cNvPicPr>
            <a:picLocks noChangeAspect="1"/>
          </p:cNvPicPr>
          <p:nvPr/>
        </p:nvPicPr>
        <p:blipFill>
          <a:blip r:embed="rId3"/>
          <a:srcRect/>
          <a:stretch/>
        </p:blipFill>
        <p:spPr>
          <a:xfrm>
            <a:off x="4318000" y="3714055"/>
            <a:ext cx="508000" cy="254000"/>
          </a:xfrm>
          <a:prstGeom prst="rect">
            <a:avLst/>
          </a:prstGeom>
        </p:spPr>
      </p:pic>
      <p:sp>
        <p:nvSpPr>
          <p:cNvPr id="8" name="Shape 5"/>
          <p:cNvSpPr/>
          <p:nvPr/>
        </p:nvSpPr>
        <p:spPr>
          <a:xfrm>
            <a:off x="5032375" y="1735038"/>
            <a:ext cx="6343650" cy="4212233"/>
          </a:xfrm>
          <a:prstGeom prst="roundRect">
            <a:avLst>
              <a:gd name="adj" fmla="val 1131"/>
            </a:avLst>
          </a:prstGeom>
          <a:solidFill>
            <a:srgbClr val="FFFDF8"/>
          </a:solidFill>
          <a:ln w="6350">
            <a:solidFill>
              <a:srgbClr val="D6D0C3"/>
            </a:solidFill>
            <a:prstDash val="solid"/>
          </a:ln>
        </p:spPr>
      </p:sp>
      <p:sp>
        <p:nvSpPr>
          <p:cNvPr id="9" name="Text 6"/>
          <p:cNvSpPr/>
          <p:nvPr/>
        </p:nvSpPr>
        <p:spPr>
          <a:xfrm>
            <a:off x="5289550" y="1941413"/>
            <a:ext cx="6004179"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0F766E"/>
                </a:solidFill>
                <a:latin typeface="JetBrains Mono" pitchFamily="34" charset="0"/>
                <a:ea typeface="JetBrains Mono" pitchFamily="34" charset="-122"/>
                <a:cs typeface="JetBrains Mono" pitchFamily="34" charset="-120"/>
              </a:rPr>
              <a:t>OUTPUT · 8 ACTIONS, SAFEST FIRST</a:t>
            </a:r>
            <a:endParaRPr lang="en-US" sz="1200" dirty="0"/>
          </a:p>
        </p:txBody>
      </p:sp>
      <p:sp>
        <p:nvSpPr>
          <p:cNvPr id="10" name="Shape 7"/>
          <p:cNvSpPr/>
          <p:nvPr/>
        </p:nvSpPr>
        <p:spPr>
          <a:xfrm>
            <a:off x="5289550" y="2599829"/>
            <a:ext cx="5829300" cy="0"/>
          </a:xfrm>
          <a:prstGeom prst="line">
            <a:avLst/>
          </a:prstGeom>
          <a:noFill/>
          <a:ln w="6350">
            <a:solidFill>
              <a:srgbClr val="D6D0C3"/>
            </a:solidFill>
            <a:prstDash val="solid"/>
          </a:ln>
        </p:spPr>
      </p:sp>
      <p:sp>
        <p:nvSpPr>
          <p:cNvPr id="11" name="Text 8"/>
          <p:cNvSpPr/>
          <p:nvPr/>
        </p:nvSpPr>
        <p:spPr>
          <a:xfrm>
            <a:off x="5289550" y="2289373"/>
            <a:ext cx="2226427"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01</a:t>
            </a:r>
            <a:r>
              <a:rPr lang="en-US" sz="1400" dirty="0">
                <a:solidFill>
                  <a:srgbClr val="1D1C1A"/>
                </a:solidFill>
                <a:latin typeface="Archivo" pitchFamily="34" charset="0"/>
                <a:ea typeface="Archivo" pitchFamily="34" charset="-122"/>
                <a:cs typeface="Archivo" pitchFamily="34" charset="-120"/>
              </a:rPr>
              <a:t> Enable Touch Sensitivity</a:t>
            </a:r>
            <a:endParaRPr lang="en-US" sz="1400" dirty="0"/>
          </a:p>
        </p:txBody>
      </p:sp>
      <p:sp>
        <p:nvSpPr>
          <p:cNvPr id="12" name="Shape 9"/>
          <p:cNvSpPr/>
          <p:nvPr/>
        </p:nvSpPr>
        <p:spPr>
          <a:xfrm>
            <a:off x="10499030" y="2269034"/>
            <a:ext cx="619820" cy="289520"/>
          </a:xfrm>
          <a:prstGeom prst="roundRect">
            <a:avLst>
              <a:gd name="adj" fmla="val 13160"/>
            </a:avLst>
          </a:prstGeom>
          <a:solidFill>
            <a:srgbClr val="0F766E"/>
          </a:solidFill>
          <a:ln/>
        </p:spPr>
      </p:sp>
      <p:sp>
        <p:nvSpPr>
          <p:cNvPr id="13" name="Text 10"/>
          <p:cNvSpPr/>
          <p:nvPr/>
        </p:nvSpPr>
        <p:spPr>
          <a:xfrm>
            <a:off x="10600630" y="2307134"/>
            <a:ext cx="46742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AUTO</a:t>
            </a:r>
            <a:endParaRPr lang="en-US" sz="1200" dirty="0"/>
          </a:p>
        </p:txBody>
      </p:sp>
      <p:sp>
        <p:nvSpPr>
          <p:cNvPr id="14" name="Shape 11"/>
          <p:cNvSpPr/>
          <p:nvPr/>
        </p:nvSpPr>
        <p:spPr>
          <a:xfrm>
            <a:off x="5289550" y="3048099"/>
            <a:ext cx="5829300" cy="0"/>
          </a:xfrm>
          <a:prstGeom prst="line">
            <a:avLst/>
          </a:prstGeom>
          <a:noFill/>
          <a:ln w="6350">
            <a:solidFill>
              <a:srgbClr val="D6D0C3"/>
            </a:solidFill>
            <a:prstDash val="solid"/>
          </a:ln>
        </p:spPr>
      </p:sp>
      <p:sp>
        <p:nvSpPr>
          <p:cNvPr id="15" name="Text 12"/>
          <p:cNvSpPr/>
          <p:nvPr/>
        </p:nvSpPr>
        <p:spPr>
          <a:xfrm>
            <a:off x="5289550" y="2737644"/>
            <a:ext cx="260424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02</a:t>
            </a:r>
            <a:r>
              <a:rPr lang="en-US" sz="1400" dirty="0">
                <a:solidFill>
                  <a:srgbClr val="1D1C1A"/>
                </a:solidFill>
                <a:latin typeface="Archivo" pitchFamily="34" charset="0"/>
                <a:ea typeface="Archivo" pitchFamily="34" charset="-122"/>
                <a:cs typeface="Archivo" pitchFamily="34" charset="-120"/>
              </a:rPr>
              <a:t> Disable Full Screen Gestures</a:t>
            </a:r>
            <a:endParaRPr lang="en-US" sz="1400" dirty="0"/>
          </a:p>
        </p:txBody>
      </p:sp>
      <p:sp>
        <p:nvSpPr>
          <p:cNvPr id="16" name="Shape 13"/>
          <p:cNvSpPr/>
          <p:nvPr/>
        </p:nvSpPr>
        <p:spPr>
          <a:xfrm>
            <a:off x="10499030" y="2717304"/>
            <a:ext cx="619820" cy="289520"/>
          </a:xfrm>
          <a:prstGeom prst="roundRect">
            <a:avLst>
              <a:gd name="adj" fmla="val 13160"/>
            </a:avLst>
          </a:prstGeom>
          <a:solidFill>
            <a:srgbClr val="0F766E"/>
          </a:solidFill>
          <a:ln/>
        </p:spPr>
      </p:sp>
      <p:sp>
        <p:nvSpPr>
          <p:cNvPr id="17" name="Text 14"/>
          <p:cNvSpPr/>
          <p:nvPr/>
        </p:nvSpPr>
        <p:spPr>
          <a:xfrm>
            <a:off x="10600630" y="2755404"/>
            <a:ext cx="46742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AUTO</a:t>
            </a:r>
            <a:endParaRPr lang="en-US" sz="1200" dirty="0"/>
          </a:p>
        </p:txBody>
      </p:sp>
      <p:sp>
        <p:nvSpPr>
          <p:cNvPr id="18" name="Shape 15"/>
          <p:cNvSpPr/>
          <p:nvPr/>
        </p:nvSpPr>
        <p:spPr>
          <a:xfrm>
            <a:off x="5289550" y="3496370"/>
            <a:ext cx="5829300" cy="0"/>
          </a:xfrm>
          <a:prstGeom prst="line">
            <a:avLst/>
          </a:prstGeom>
          <a:noFill/>
          <a:ln w="6350">
            <a:solidFill>
              <a:srgbClr val="D6D0C3"/>
            </a:solidFill>
            <a:prstDash val="solid"/>
          </a:ln>
        </p:spPr>
      </p:sp>
      <p:sp>
        <p:nvSpPr>
          <p:cNvPr id="19" name="Text 16"/>
          <p:cNvSpPr/>
          <p:nvPr/>
        </p:nvSpPr>
        <p:spPr>
          <a:xfrm>
            <a:off x="5289550" y="3185914"/>
            <a:ext cx="2310125"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03</a:t>
            </a:r>
            <a:r>
              <a:rPr lang="en-US" sz="1400" dirty="0">
                <a:solidFill>
                  <a:srgbClr val="1D1C1A"/>
                </a:solidFill>
                <a:latin typeface="Archivo" pitchFamily="34" charset="0"/>
                <a:ea typeface="Archivo" pitchFamily="34" charset="-122"/>
                <a:cs typeface="Archivo" pitchFamily="34" charset="-120"/>
              </a:rPr>
              <a:t> Turn Off Touch Sensitivity</a:t>
            </a:r>
            <a:endParaRPr lang="en-US" sz="1400" dirty="0"/>
          </a:p>
        </p:txBody>
      </p:sp>
      <p:sp>
        <p:nvSpPr>
          <p:cNvPr id="20" name="Shape 17"/>
          <p:cNvSpPr/>
          <p:nvPr/>
        </p:nvSpPr>
        <p:spPr>
          <a:xfrm>
            <a:off x="10499030" y="3165574"/>
            <a:ext cx="619820" cy="289520"/>
          </a:xfrm>
          <a:prstGeom prst="roundRect">
            <a:avLst>
              <a:gd name="adj" fmla="val 13160"/>
            </a:avLst>
          </a:prstGeom>
          <a:solidFill>
            <a:srgbClr val="0F766E"/>
          </a:solidFill>
          <a:ln/>
        </p:spPr>
      </p:sp>
      <p:sp>
        <p:nvSpPr>
          <p:cNvPr id="21" name="Text 18"/>
          <p:cNvSpPr/>
          <p:nvPr/>
        </p:nvSpPr>
        <p:spPr>
          <a:xfrm>
            <a:off x="10600630" y="3203674"/>
            <a:ext cx="46742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AUTO</a:t>
            </a:r>
            <a:endParaRPr lang="en-US" sz="1200" dirty="0"/>
          </a:p>
        </p:txBody>
      </p:sp>
      <p:sp>
        <p:nvSpPr>
          <p:cNvPr id="22" name="Shape 19"/>
          <p:cNvSpPr/>
          <p:nvPr/>
        </p:nvSpPr>
        <p:spPr>
          <a:xfrm>
            <a:off x="5289550" y="3944640"/>
            <a:ext cx="5829300" cy="0"/>
          </a:xfrm>
          <a:prstGeom prst="line">
            <a:avLst/>
          </a:prstGeom>
          <a:noFill/>
          <a:ln w="6350">
            <a:solidFill>
              <a:srgbClr val="D6D0C3"/>
            </a:solidFill>
            <a:prstDash val="solid"/>
          </a:ln>
        </p:spPr>
      </p:sp>
      <p:sp>
        <p:nvSpPr>
          <p:cNvPr id="23" name="Text 20"/>
          <p:cNvSpPr/>
          <p:nvPr/>
        </p:nvSpPr>
        <p:spPr>
          <a:xfrm>
            <a:off x="5289550" y="3634184"/>
            <a:ext cx="2341601"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04</a:t>
            </a:r>
            <a:r>
              <a:rPr lang="en-US" sz="1400" dirty="0">
                <a:solidFill>
                  <a:srgbClr val="1D1C1A"/>
                </a:solidFill>
                <a:latin typeface="Archivo" pitchFamily="34" charset="0"/>
                <a:ea typeface="Archivo" pitchFamily="34" charset="-122"/>
                <a:cs typeface="Archivo" pitchFamily="34" charset="-120"/>
              </a:rPr>
              <a:t> Remove Screen Protector</a:t>
            </a:r>
            <a:endParaRPr lang="en-US" sz="1400" dirty="0"/>
          </a:p>
        </p:txBody>
      </p:sp>
      <p:sp>
        <p:nvSpPr>
          <p:cNvPr id="24" name="Shape 21"/>
          <p:cNvSpPr/>
          <p:nvPr/>
        </p:nvSpPr>
        <p:spPr>
          <a:xfrm>
            <a:off x="10290770" y="3613845"/>
            <a:ext cx="828080" cy="289520"/>
          </a:xfrm>
          <a:prstGeom prst="roundRect">
            <a:avLst>
              <a:gd name="adj" fmla="val 13160"/>
            </a:avLst>
          </a:prstGeom>
          <a:solidFill>
            <a:srgbClr val="B45309"/>
          </a:solidFill>
          <a:ln/>
        </p:spPr>
      </p:sp>
      <p:sp>
        <p:nvSpPr>
          <p:cNvPr id="25" name="Text 22"/>
          <p:cNvSpPr/>
          <p:nvPr/>
        </p:nvSpPr>
        <p:spPr>
          <a:xfrm>
            <a:off x="10392370" y="3651945"/>
            <a:ext cx="67568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MANUAL</a:t>
            </a:r>
            <a:endParaRPr lang="en-US" sz="1200" dirty="0"/>
          </a:p>
        </p:txBody>
      </p:sp>
      <p:sp>
        <p:nvSpPr>
          <p:cNvPr id="26" name="Shape 23"/>
          <p:cNvSpPr/>
          <p:nvPr/>
        </p:nvSpPr>
        <p:spPr>
          <a:xfrm>
            <a:off x="5289550" y="4392910"/>
            <a:ext cx="5829300" cy="0"/>
          </a:xfrm>
          <a:prstGeom prst="line">
            <a:avLst/>
          </a:prstGeom>
          <a:noFill/>
          <a:ln w="6350">
            <a:solidFill>
              <a:srgbClr val="D6D0C3"/>
            </a:solidFill>
            <a:prstDash val="solid"/>
          </a:ln>
        </p:spPr>
      </p:sp>
      <p:sp>
        <p:nvSpPr>
          <p:cNvPr id="27" name="Text 24"/>
          <p:cNvSpPr/>
          <p:nvPr/>
        </p:nvSpPr>
        <p:spPr>
          <a:xfrm>
            <a:off x="5289550" y="4082455"/>
            <a:ext cx="1413669"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05</a:t>
            </a:r>
            <a:r>
              <a:rPr lang="en-US" sz="1400" dirty="0">
                <a:solidFill>
                  <a:srgbClr val="1D1C1A"/>
                </a:solidFill>
                <a:latin typeface="Archivo" pitchFamily="34" charset="0"/>
                <a:ea typeface="Archivo" pitchFamily="34" charset="-122"/>
                <a:cs typeface="Archivo" pitchFamily="34" charset="-120"/>
              </a:rPr>
              <a:t> Swap Charger</a:t>
            </a:r>
            <a:endParaRPr lang="en-US" sz="1400" dirty="0"/>
          </a:p>
        </p:txBody>
      </p:sp>
      <p:sp>
        <p:nvSpPr>
          <p:cNvPr id="28" name="Shape 25"/>
          <p:cNvSpPr/>
          <p:nvPr/>
        </p:nvSpPr>
        <p:spPr>
          <a:xfrm>
            <a:off x="10290770" y="4062115"/>
            <a:ext cx="828080" cy="289520"/>
          </a:xfrm>
          <a:prstGeom prst="roundRect">
            <a:avLst>
              <a:gd name="adj" fmla="val 13160"/>
            </a:avLst>
          </a:prstGeom>
          <a:solidFill>
            <a:srgbClr val="B45309"/>
          </a:solidFill>
          <a:ln/>
        </p:spPr>
      </p:sp>
      <p:sp>
        <p:nvSpPr>
          <p:cNvPr id="29" name="Text 26"/>
          <p:cNvSpPr/>
          <p:nvPr/>
        </p:nvSpPr>
        <p:spPr>
          <a:xfrm>
            <a:off x="10392370" y="4100215"/>
            <a:ext cx="67568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MANUAL</a:t>
            </a:r>
            <a:endParaRPr lang="en-US" sz="1200" dirty="0"/>
          </a:p>
        </p:txBody>
      </p:sp>
      <p:sp>
        <p:nvSpPr>
          <p:cNvPr id="30" name="Shape 27"/>
          <p:cNvSpPr/>
          <p:nvPr/>
        </p:nvSpPr>
        <p:spPr>
          <a:xfrm>
            <a:off x="5289550" y="4841180"/>
            <a:ext cx="5829300" cy="0"/>
          </a:xfrm>
          <a:prstGeom prst="line">
            <a:avLst/>
          </a:prstGeom>
          <a:noFill/>
          <a:ln w="6350">
            <a:solidFill>
              <a:srgbClr val="D6D0C3"/>
            </a:solidFill>
            <a:prstDash val="solid"/>
          </a:ln>
        </p:spPr>
      </p:sp>
      <p:sp>
        <p:nvSpPr>
          <p:cNvPr id="31" name="Text 28"/>
          <p:cNvSpPr/>
          <p:nvPr/>
        </p:nvSpPr>
        <p:spPr>
          <a:xfrm>
            <a:off x="5289550" y="4530725"/>
            <a:ext cx="1453356"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06</a:t>
            </a:r>
            <a:r>
              <a:rPr lang="en-US" sz="1400" dirty="0">
                <a:solidFill>
                  <a:srgbClr val="1D1C1A"/>
                </a:solidFill>
                <a:latin typeface="Archivo" pitchFamily="34" charset="0"/>
                <a:ea typeface="Archivo" pitchFamily="34" charset="-122"/>
                <a:cs typeface="Archivo" pitchFamily="34" charset="-120"/>
              </a:rPr>
              <a:t> Restart Device</a:t>
            </a:r>
            <a:endParaRPr lang="en-US" sz="1400" dirty="0"/>
          </a:p>
        </p:txBody>
      </p:sp>
      <p:sp>
        <p:nvSpPr>
          <p:cNvPr id="32" name="Shape 29"/>
          <p:cNvSpPr/>
          <p:nvPr/>
        </p:nvSpPr>
        <p:spPr>
          <a:xfrm>
            <a:off x="10082510" y="4510385"/>
            <a:ext cx="1036340" cy="289520"/>
          </a:xfrm>
          <a:prstGeom prst="roundRect">
            <a:avLst>
              <a:gd name="adj" fmla="val 13160"/>
            </a:avLst>
          </a:prstGeom>
          <a:solidFill>
            <a:srgbClr val="B91C1C"/>
          </a:solidFill>
          <a:ln/>
        </p:spPr>
      </p:sp>
      <p:sp>
        <p:nvSpPr>
          <p:cNvPr id="33" name="Text 30"/>
          <p:cNvSpPr/>
          <p:nvPr/>
        </p:nvSpPr>
        <p:spPr>
          <a:xfrm>
            <a:off x="10184110" y="4548485"/>
            <a:ext cx="88394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CRITICAL</a:t>
            </a:r>
            <a:endParaRPr lang="en-US" sz="1200" dirty="0"/>
          </a:p>
        </p:txBody>
      </p:sp>
      <p:sp>
        <p:nvSpPr>
          <p:cNvPr id="34" name="Shape 31"/>
          <p:cNvSpPr/>
          <p:nvPr/>
        </p:nvSpPr>
        <p:spPr>
          <a:xfrm>
            <a:off x="5289550" y="5289451"/>
            <a:ext cx="5829300" cy="0"/>
          </a:xfrm>
          <a:prstGeom prst="line">
            <a:avLst/>
          </a:prstGeom>
          <a:noFill/>
          <a:ln w="6350">
            <a:solidFill>
              <a:srgbClr val="D6D0C3"/>
            </a:solidFill>
            <a:prstDash val="solid"/>
          </a:ln>
        </p:spPr>
      </p:sp>
      <p:sp>
        <p:nvSpPr>
          <p:cNvPr id="35" name="Text 32"/>
          <p:cNvSpPr/>
          <p:nvPr/>
        </p:nvSpPr>
        <p:spPr>
          <a:xfrm>
            <a:off x="5289550" y="4978995"/>
            <a:ext cx="1601788"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07</a:t>
            </a:r>
            <a:r>
              <a:rPr lang="en-US" sz="1400" dirty="0">
                <a:solidFill>
                  <a:srgbClr val="1D1C1A"/>
                </a:solidFill>
                <a:latin typeface="Archivo" pitchFamily="34" charset="0"/>
                <a:ea typeface="Archivo" pitchFamily="34" charset="-122"/>
                <a:cs typeface="Archivo" pitchFamily="34" charset="-120"/>
              </a:rPr>
              <a:t> Enter Safe Mode</a:t>
            </a:r>
            <a:endParaRPr lang="en-US" sz="1400" dirty="0"/>
          </a:p>
        </p:txBody>
      </p:sp>
      <p:sp>
        <p:nvSpPr>
          <p:cNvPr id="36" name="Shape 33"/>
          <p:cNvSpPr/>
          <p:nvPr/>
        </p:nvSpPr>
        <p:spPr>
          <a:xfrm>
            <a:off x="10082510" y="4958655"/>
            <a:ext cx="1036340" cy="289520"/>
          </a:xfrm>
          <a:prstGeom prst="roundRect">
            <a:avLst>
              <a:gd name="adj" fmla="val 13160"/>
            </a:avLst>
          </a:prstGeom>
          <a:solidFill>
            <a:srgbClr val="B91C1C"/>
          </a:solidFill>
          <a:ln/>
        </p:spPr>
      </p:sp>
      <p:sp>
        <p:nvSpPr>
          <p:cNvPr id="37" name="Text 34"/>
          <p:cNvSpPr/>
          <p:nvPr/>
        </p:nvSpPr>
        <p:spPr>
          <a:xfrm>
            <a:off x="10184110" y="4996755"/>
            <a:ext cx="88394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CRITICAL</a:t>
            </a:r>
            <a:endParaRPr lang="en-US" sz="1200" dirty="0"/>
          </a:p>
        </p:txBody>
      </p:sp>
      <p:sp>
        <p:nvSpPr>
          <p:cNvPr id="38" name="Shape 35"/>
          <p:cNvSpPr/>
          <p:nvPr/>
        </p:nvSpPr>
        <p:spPr>
          <a:xfrm>
            <a:off x="5289550" y="5737721"/>
            <a:ext cx="5829300" cy="0"/>
          </a:xfrm>
          <a:prstGeom prst="line">
            <a:avLst/>
          </a:prstGeom>
          <a:noFill/>
          <a:ln w="6350">
            <a:solidFill>
              <a:srgbClr val="D6D0C3"/>
            </a:solidFill>
            <a:prstDash val="solid"/>
          </a:ln>
        </p:spPr>
      </p:sp>
      <p:sp>
        <p:nvSpPr>
          <p:cNvPr id="39" name="Text 36"/>
          <p:cNvSpPr/>
          <p:nvPr/>
        </p:nvSpPr>
        <p:spPr>
          <a:xfrm>
            <a:off x="5289550" y="5427266"/>
            <a:ext cx="1807426"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08</a:t>
            </a:r>
            <a:r>
              <a:rPr lang="en-US" sz="1400" dirty="0">
                <a:solidFill>
                  <a:srgbClr val="1D1C1A"/>
                </a:solidFill>
                <a:latin typeface="Archivo" pitchFamily="34" charset="0"/>
                <a:ea typeface="Archivo" pitchFamily="34" charset="-122"/>
                <a:cs typeface="Archivo" pitchFamily="34" charset="-120"/>
              </a:rPr>
              <a:t> Factory Data Reset</a:t>
            </a:r>
            <a:endParaRPr lang="en-US" sz="1400" dirty="0"/>
          </a:p>
        </p:txBody>
      </p:sp>
      <p:sp>
        <p:nvSpPr>
          <p:cNvPr id="40" name="Shape 37"/>
          <p:cNvSpPr/>
          <p:nvPr/>
        </p:nvSpPr>
        <p:spPr>
          <a:xfrm>
            <a:off x="10082510" y="5406926"/>
            <a:ext cx="1036340" cy="289520"/>
          </a:xfrm>
          <a:prstGeom prst="roundRect">
            <a:avLst>
              <a:gd name="adj" fmla="val 13160"/>
            </a:avLst>
          </a:prstGeom>
          <a:solidFill>
            <a:srgbClr val="B91C1C"/>
          </a:solidFill>
          <a:ln/>
        </p:spPr>
      </p:sp>
      <p:sp>
        <p:nvSpPr>
          <p:cNvPr id="41" name="Text 38"/>
          <p:cNvSpPr/>
          <p:nvPr/>
        </p:nvSpPr>
        <p:spPr>
          <a:xfrm>
            <a:off x="10184110" y="5445026"/>
            <a:ext cx="88394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CRITICAL</a:t>
            </a:r>
            <a:endParaRPr lang="en-US" sz="1200" dirty="0"/>
          </a:p>
        </p:txBody>
      </p:sp>
      <p:sp>
        <p:nvSpPr>
          <p:cNvPr id="42" name="Text 39"/>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43" name="Text 40"/>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03 / 15</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03 · ARCHITECTURE</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Cache first, full pipeline only on a miss</a:t>
            </a:r>
            <a:endParaRPr lang="en-US" sz="3200" dirty="0"/>
          </a:p>
        </p:txBody>
      </p:sp>
      <p:sp>
        <p:nvSpPr>
          <p:cNvPr id="4" name="Shape 2"/>
          <p:cNvSpPr/>
          <p:nvPr/>
        </p:nvSpPr>
        <p:spPr>
          <a:xfrm>
            <a:off x="815975" y="1895376"/>
            <a:ext cx="3168650" cy="1001911"/>
          </a:xfrm>
          <a:prstGeom prst="roundRect">
            <a:avLst>
              <a:gd name="adj" fmla="val 4753"/>
            </a:avLst>
          </a:prstGeom>
          <a:solidFill>
            <a:srgbClr val="FFFDF8"/>
          </a:solidFill>
          <a:ln w="6350">
            <a:solidFill>
              <a:srgbClr val="D6D0C3"/>
            </a:solidFill>
            <a:prstDash val="solid"/>
          </a:ln>
        </p:spPr>
      </p:sp>
      <p:sp>
        <p:nvSpPr>
          <p:cNvPr id="5" name="Text 3"/>
          <p:cNvSpPr/>
          <p:nvPr/>
        </p:nvSpPr>
        <p:spPr>
          <a:xfrm>
            <a:off x="971550" y="2050951"/>
            <a:ext cx="2943225"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C1A"/>
                </a:solidFill>
                <a:latin typeface="Archivo" pitchFamily="34" charset="0"/>
                <a:ea typeface="Archivo" pitchFamily="34" charset="-122"/>
                <a:cs typeface="Archivo" pitchFamily="34" charset="-120"/>
              </a:rPr>
              <a:t>Complaint</a:t>
            </a:r>
            <a:endParaRPr lang="en-US" sz="1400" dirty="0"/>
          </a:p>
        </p:txBody>
      </p:sp>
      <p:sp>
        <p:nvSpPr>
          <p:cNvPr id="6" name="Text 4"/>
          <p:cNvSpPr/>
          <p:nvPr/>
        </p:nvSpPr>
        <p:spPr>
          <a:xfrm>
            <a:off x="971550" y="2315071"/>
            <a:ext cx="294322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Archivo" pitchFamily="34" charset="0"/>
                <a:ea typeface="Archivo" pitchFamily="34" charset="-122"/>
                <a:cs typeface="Archivo" pitchFamily="34" charset="-120"/>
              </a:rPr>
              <a:t>plus the SIIS article when it is a new problem</a:t>
            </a:r>
            <a:endParaRPr lang="en-US" sz="1200" dirty="0"/>
          </a:p>
        </p:txBody>
      </p:sp>
      <p:pic>
        <p:nvPicPr>
          <p:cNvPr id="7" name="Image 0" descr="arrow-right"/>
          <p:cNvPicPr>
            <a:picLocks noChangeAspect="1"/>
          </p:cNvPicPr>
          <p:nvPr/>
        </p:nvPicPr>
        <p:blipFill>
          <a:blip r:embed="rId3"/>
          <a:srcRect/>
          <a:stretch/>
        </p:blipFill>
        <p:spPr>
          <a:xfrm>
            <a:off x="4089400" y="2320131"/>
            <a:ext cx="304800" cy="152400"/>
          </a:xfrm>
          <a:prstGeom prst="rect">
            <a:avLst/>
          </a:prstGeom>
        </p:spPr>
      </p:pic>
      <p:sp>
        <p:nvSpPr>
          <p:cNvPr id="8" name="Shape 5"/>
          <p:cNvSpPr/>
          <p:nvPr/>
        </p:nvSpPr>
        <p:spPr>
          <a:xfrm>
            <a:off x="4505325" y="1889026"/>
            <a:ext cx="3181350" cy="1014611"/>
          </a:xfrm>
          <a:prstGeom prst="roundRect">
            <a:avLst>
              <a:gd name="adj" fmla="val 4068"/>
            </a:avLst>
          </a:prstGeom>
          <a:solidFill>
            <a:srgbClr val="FFFDF8"/>
          </a:solidFill>
          <a:ln w="19050">
            <a:solidFill>
              <a:srgbClr val="0F766E"/>
            </a:solidFill>
            <a:prstDash val="solid"/>
          </a:ln>
        </p:spPr>
      </p:sp>
      <p:sp>
        <p:nvSpPr>
          <p:cNvPr id="9" name="Text 6"/>
          <p:cNvSpPr/>
          <p:nvPr/>
        </p:nvSpPr>
        <p:spPr>
          <a:xfrm>
            <a:off x="4667250" y="2050951"/>
            <a:ext cx="2943225"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C1A"/>
                </a:solidFill>
                <a:latin typeface="Archivo" pitchFamily="34" charset="0"/>
                <a:ea typeface="Archivo" pitchFamily="34" charset="-122"/>
                <a:cs typeface="Archivo" pitchFamily="34" charset="-120"/>
              </a:rPr>
              <a:t>Semantic cache</a:t>
            </a:r>
            <a:endParaRPr lang="en-US" sz="1400" dirty="0"/>
          </a:p>
        </p:txBody>
      </p:sp>
      <p:sp>
        <p:nvSpPr>
          <p:cNvPr id="10" name="Text 7"/>
          <p:cNvSpPr/>
          <p:nvPr/>
        </p:nvSpPr>
        <p:spPr>
          <a:xfrm>
            <a:off x="4667250" y="2315071"/>
            <a:ext cx="294322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Archivo" pitchFamily="34" charset="0"/>
                <a:ea typeface="Archivo" pitchFamily="34" charset="-122"/>
                <a:cs typeface="Archivo" pitchFamily="34" charset="-120"/>
              </a:rPr>
              <a:t>exact text, then meaning, then a margin check</a:t>
            </a:r>
            <a:endParaRPr lang="en-US" sz="1200" dirty="0"/>
          </a:p>
        </p:txBody>
      </p:sp>
      <p:pic>
        <p:nvPicPr>
          <p:cNvPr id="11" name="Image 1" descr="arrow-right"/>
          <p:cNvPicPr>
            <a:picLocks noChangeAspect="1"/>
          </p:cNvPicPr>
          <p:nvPr/>
        </p:nvPicPr>
        <p:blipFill>
          <a:blip r:embed="rId3"/>
          <a:srcRect/>
          <a:stretch/>
        </p:blipFill>
        <p:spPr>
          <a:xfrm>
            <a:off x="7797800" y="2320131"/>
            <a:ext cx="304800" cy="152400"/>
          </a:xfrm>
          <a:prstGeom prst="rect">
            <a:avLst/>
          </a:prstGeom>
        </p:spPr>
      </p:pic>
      <p:sp>
        <p:nvSpPr>
          <p:cNvPr id="12" name="Shape 8"/>
          <p:cNvSpPr/>
          <p:nvPr/>
        </p:nvSpPr>
        <p:spPr>
          <a:xfrm>
            <a:off x="8207375" y="2002036"/>
            <a:ext cx="3168650" cy="788591"/>
          </a:xfrm>
          <a:prstGeom prst="roundRect">
            <a:avLst>
              <a:gd name="adj" fmla="val 6039"/>
            </a:avLst>
          </a:prstGeom>
          <a:solidFill>
            <a:srgbClr val="0F766E"/>
          </a:solidFill>
          <a:ln w="6350">
            <a:solidFill>
              <a:srgbClr val="0F766E"/>
            </a:solidFill>
            <a:prstDash val="solid"/>
          </a:ln>
        </p:spPr>
      </p:sp>
      <p:sp>
        <p:nvSpPr>
          <p:cNvPr id="13" name="Text 9"/>
          <p:cNvSpPr/>
          <p:nvPr/>
        </p:nvSpPr>
        <p:spPr>
          <a:xfrm>
            <a:off x="8362950" y="2157611"/>
            <a:ext cx="2943225"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F4F1EA"/>
                </a:solidFill>
                <a:latin typeface="Archivo" pitchFamily="34" charset="0"/>
                <a:ea typeface="Archivo" pitchFamily="34" charset="-122"/>
                <a:cs typeface="Archivo" pitchFamily="34" charset="-120"/>
              </a:rPr>
              <a:t>Validated plan</a:t>
            </a:r>
            <a:endParaRPr lang="en-US" sz="1400" dirty="0"/>
          </a:p>
        </p:txBody>
      </p:sp>
      <p:sp>
        <p:nvSpPr>
          <p:cNvPr id="14" name="Text 10"/>
          <p:cNvSpPr/>
          <p:nvPr/>
        </p:nvSpPr>
        <p:spPr>
          <a:xfrm>
            <a:off x="8362950" y="2421731"/>
            <a:ext cx="294322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CEBE7"/>
                </a:solidFill>
                <a:latin typeface="Archivo" pitchFamily="34" charset="0"/>
                <a:ea typeface="Archivo" pitchFamily="34" charset="-122"/>
                <a:cs typeface="Archivo" pitchFamily="34" charset="-120"/>
              </a:rPr>
              <a:t>on a hit: 0.1 to 46 ms, $0</a:t>
            </a:r>
            <a:endParaRPr lang="en-US" sz="1200" dirty="0"/>
          </a:p>
        </p:txBody>
      </p:sp>
      <p:sp>
        <p:nvSpPr>
          <p:cNvPr id="15" name="Text 11"/>
          <p:cNvSpPr/>
          <p:nvPr/>
        </p:nvSpPr>
        <p:spPr>
          <a:xfrm>
            <a:off x="812800" y="3090962"/>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45309"/>
                </a:solidFill>
                <a:latin typeface="JetBrains Mono" pitchFamily="34" charset="0"/>
                <a:ea typeface="JetBrains Mono" pitchFamily="34" charset="-122"/>
                <a:cs typeface="JetBrains Mono" pitchFamily="34" charset="-120"/>
              </a:rPr>
              <a:t>↓ on a miss: new problem, so run the full pipeline (about 3 to 5 s, about 3k tokens)</a:t>
            </a:r>
            <a:endParaRPr lang="en-US" sz="1200" dirty="0"/>
          </a:p>
        </p:txBody>
      </p:sp>
      <p:sp>
        <p:nvSpPr>
          <p:cNvPr id="16" name="Shape 12"/>
          <p:cNvSpPr/>
          <p:nvPr/>
        </p:nvSpPr>
        <p:spPr>
          <a:xfrm>
            <a:off x="815975" y="3485257"/>
            <a:ext cx="1700510" cy="1428552"/>
          </a:xfrm>
          <a:prstGeom prst="roundRect">
            <a:avLst>
              <a:gd name="adj" fmla="val 3334"/>
            </a:avLst>
          </a:prstGeom>
          <a:solidFill>
            <a:srgbClr val="FFFDF8"/>
          </a:solidFill>
          <a:ln w="6350">
            <a:solidFill>
              <a:srgbClr val="D6D0C3"/>
            </a:solidFill>
            <a:prstDash val="solid"/>
          </a:ln>
        </p:spPr>
      </p:sp>
      <p:sp>
        <p:nvSpPr>
          <p:cNvPr id="17" name="Text 13"/>
          <p:cNvSpPr/>
          <p:nvPr/>
        </p:nvSpPr>
        <p:spPr>
          <a:xfrm>
            <a:off x="971550" y="3640832"/>
            <a:ext cx="144016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C1A"/>
                </a:solidFill>
                <a:latin typeface="Archivo" pitchFamily="34" charset="0"/>
                <a:ea typeface="Archivo" pitchFamily="34" charset="-122"/>
                <a:cs typeface="Archivo" pitchFamily="34" charset="-120"/>
              </a:rPr>
              <a:t>LLM extraction</a:t>
            </a:r>
            <a:endParaRPr lang="en-US" sz="1400" dirty="0"/>
          </a:p>
        </p:txBody>
      </p:sp>
      <p:sp>
        <p:nvSpPr>
          <p:cNvPr id="18" name="Text 14"/>
          <p:cNvSpPr/>
          <p:nvPr/>
        </p:nvSpPr>
        <p:spPr>
          <a:xfrm>
            <a:off x="971550" y="3904952"/>
            <a:ext cx="14401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Archivo" pitchFamily="34" charset="0"/>
                <a:ea typeface="Archivo" pitchFamily="34" charset="-122"/>
                <a:cs typeface="Archivo" pitchFamily="34" charset="-120"/>
              </a:rPr>
              <a:t>article text to goal, actions and steps</a:t>
            </a:r>
            <a:endParaRPr lang="en-US" sz="1200" dirty="0"/>
          </a:p>
        </p:txBody>
      </p:sp>
      <p:pic>
        <p:nvPicPr>
          <p:cNvPr id="19" name="Image 2" descr="arrow-right"/>
          <p:cNvPicPr>
            <a:picLocks noChangeAspect="1"/>
          </p:cNvPicPr>
          <p:nvPr/>
        </p:nvPicPr>
        <p:blipFill>
          <a:blip r:embed="rId3"/>
          <a:srcRect/>
          <a:stretch/>
        </p:blipFill>
        <p:spPr>
          <a:xfrm>
            <a:off x="2621260" y="3482082"/>
            <a:ext cx="304800" cy="152400"/>
          </a:xfrm>
          <a:prstGeom prst="rect">
            <a:avLst/>
          </a:prstGeom>
        </p:spPr>
      </p:pic>
      <p:sp>
        <p:nvSpPr>
          <p:cNvPr id="20" name="Shape 15"/>
          <p:cNvSpPr/>
          <p:nvPr/>
        </p:nvSpPr>
        <p:spPr>
          <a:xfrm>
            <a:off x="3030835" y="3485257"/>
            <a:ext cx="1700609" cy="1428552"/>
          </a:xfrm>
          <a:prstGeom prst="roundRect">
            <a:avLst>
              <a:gd name="adj" fmla="val 3334"/>
            </a:avLst>
          </a:prstGeom>
          <a:solidFill>
            <a:srgbClr val="FFFDF8"/>
          </a:solidFill>
          <a:ln w="6350">
            <a:solidFill>
              <a:srgbClr val="D6D0C3"/>
            </a:solidFill>
            <a:prstDash val="solid"/>
          </a:ln>
        </p:spPr>
      </p:sp>
      <p:sp>
        <p:nvSpPr>
          <p:cNvPr id="21" name="Text 16"/>
          <p:cNvSpPr/>
          <p:nvPr/>
        </p:nvSpPr>
        <p:spPr>
          <a:xfrm>
            <a:off x="3186410" y="3640832"/>
            <a:ext cx="1440259" cy="452041"/>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C1A"/>
                </a:solidFill>
                <a:latin typeface="Archivo" pitchFamily="34" charset="0"/>
                <a:ea typeface="Archivo" pitchFamily="34" charset="-122"/>
                <a:cs typeface="Archivo" pitchFamily="34" charset="-120"/>
              </a:rPr>
              <a:t>Validators + grounding</a:t>
            </a:r>
            <a:endParaRPr lang="en-US" sz="1400" dirty="0"/>
          </a:p>
        </p:txBody>
      </p:sp>
      <p:sp>
        <p:nvSpPr>
          <p:cNvPr id="22" name="Text 17"/>
          <p:cNvSpPr/>
          <p:nvPr/>
        </p:nvSpPr>
        <p:spPr>
          <a:xfrm>
            <a:off x="3186410" y="4118273"/>
            <a:ext cx="1440259"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Archivo" pitchFamily="34" charset="0"/>
                <a:ea typeface="Archivo" pitchFamily="34" charset="-122"/>
                <a:cs typeface="Archivo" pitchFamily="34" charset="-120"/>
              </a:rPr>
              <a:t>word counts, URL scrub, drop invented steps</a:t>
            </a:r>
            <a:endParaRPr lang="en-US" sz="1200" dirty="0"/>
          </a:p>
        </p:txBody>
      </p:sp>
      <p:pic>
        <p:nvPicPr>
          <p:cNvPr id="23" name="Image 3" descr="arrow-right"/>
          <p:cNvPicPr>
            <a:picLocks noChangeAspect="1"/>
          </p:cNvPicPr>
          <p:nvPr/>
        </p:nvPicPr>
        <p:blipFill>
          <a:blip r:embed="rId3"/>
          <a:srcRect/>
          <a:stretch/>
        </p:blipFill>
        <p:spPr>
          <a:xfrm>
            <a:off x="4836220" y="3482082"/>
            <a:ext cx="304800" cy="152400"/>
          </a:xfrm>
          <a:prstGeom prst="rect">
            <a:avLst/>
          </a:prstGeom>
        </p:spPr>
      </p:pic>
      <p:sp>
        <p:nvSpPr>
          <p:cNvPr id="24" name="Shape 18"/>
          <p:cNvSpPr/>
          <p:nvPr/>
        </p:nvSpPr>
        <p:spPr>
          <a:xfrm>
            <a:off x="5245795" y="3485257"/>
            <a:ext cx="1700510" cy="1428552"/>
          </a:xfrm>
          <a:prstGeom prst="roundRect">
            <a:avLst>
              <a:gd name="adj" fmla="val 3334"/>
            </a:avLst>
          </a:prstGeom>
          <a:solidFill>
            <a:srgbClr val="FFFDF8"/>
          </a:solidFill>
          <a:ln w="6350">
            <a:solidFill>
              <a:srgbClr val="D6D0C3"/>
            </a:solidFill>
            <a:prstDash val="solid"/>
          </a:ln>
        </p:spPr>
      </p:sp>
      <p:sp>
        <p:nvSpPr>
          <p:cNvPr id="25" name="Text 19"/>
          <p:cNvSpPr/>
          <p:nvPr/>
        </p:nvSpPr>
        <p:spPr>
          <a:xfrm>
            <a:off x="5401370" y="3640832"/>
            <a:ext cx="1440160" cy="452041"/>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C1A"/>
                </a:solidFill>
                <a:latin typeface="Archivo" pitchFamily="34" charset="0"/>
                <a:ea typeface="Archivo" pitchFamily="34" charset="-122"/>
                <a:cs typeface="Archivo" pitchFamily="34" charset="-120"/>
              </a:rPr>
              <a:t>Deeplink mapping</a:t>
            </a:r>
            <a:endParaRPr lang="en-US" sz="1400" dirty="0"/>
          </a:p>
        </p:txBody>
      </p:sp>
      <p:sp>
        <p:nvSpPr>
          <p:cNvPr id="26" name="Text 20"/>
          <p:cNvSpPr/>
          <p:nvPr/>
        </p:nvSpPr>
        <p:spPr>
          <a:xfrm>
            <a:off x="5401370" y="4118273"/>
            <a:ext cx="1440160"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Archivo" pitchFamily="34" charset="0"/>
                <a:ea typeface="Archivo" pitchFamily="34" charset="-122"/>
                <a:cs typeface="Archivo" pitchFamily="34" charset="-120"/>
              </a:rPr>
              <a:t>BM25 + dense retrieval + exact-name gate</a:t>
            </a:r>
            <a:endParaRPr lang="en-US" sz="1200" dirty="0"/>
          </a:p>
        </p:txBody>
      </p:sp>
      <p:pic>
        <p:nvPicPr>
          <p:cNvPr id="27" name="Image 4" descr="arrow-right"/>
          <p:cNvPicPr>
            <a:picLocks noChangeAspect="1"/>
          </p:cNvPicPr>
          <p:nvPr/>
        </p:nvPicPr>
        <p:blipFill>
          <a:blip r:embed="rId3"/>
          <a:srcRect/>
          <a:stretch/>
        </p:blipFill>
        <p:spPr>
          <a:xfrm>
            <a:off x="7051080" y="3482082"/>
            <a:ext cx="304800" cy="152400"/>
          </a:xfrm>
          <a:prstGeom prst="rect">
            <a:avLst/>
          </a:prstGeom>
        </p:spPr>
      </p:pic>
      <p:sp>
        <p:nvSpPr>
          <p:cNvPr id="28" name="Shape 21"/>
          <p:cNvSpPr/>
          <p:nvPr/>
        </p:nvSpPr>
        <p:spPr>
          <a:xfrm>
            <a:off x="7460655" y="3485257"/>
            <a:ext cx="1700510" cy="1428552"/>
          </a:xfrm>
          <a:prstGeom prst="roundRect">
            <a:avLst>
              <a:gd name="adj" fmla="val 3334"/>
            </a:avLst>
          </a:prstGeom>
          <a:solidFill>
            <a:srgbClr val="FFFDF8"/>
          </a:solidFill>
          <a:ln w="6350">
            <a:solidFill>
              <a:srgbClr val="D6D0C3"/>
            </a:solidFill>
            <a:prstDash val="solid"/>
          </a:ln>
        </p:spPr>
      </p:sp>
      <p:sp>
        <p:nvSpPr>
          <p:cNvPr id="29" name="Text 22"/>
          <p:cNvSpPr/>
          <p:nvPr/>
        </p:nvSpPr>
        <p:spPr>
          <a:xfrm>
            <a:off x="7616230" y="3640832"/>
            <a:ext cx="144016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C1A"/>
                </a:solidFill>
                <a:latin typeface="Archivo" pitchFamily="34" charset="0"/>
                <a:ea typeface="Archivo" pitchFamily="34" charset="-122"/>
                <a:cs typeface="Archivo" pitchFamily="34" charset="-120"/>
              </a:rPr>
              <a:t>Ordering</a:t>
            </a:r>
            <a:endParaRPr lang="en-US" sz="1400" dirty="0"/>
          </a:p>
        </p:txBody>
      </p:sp>
      <p:sp>
        <p:nvSpPr>
          <p:cNvPr id="30" name="Text 23"/>
          <p:cNvSpPr/>
          <p:nvPr/>
        </p:nvSpPr>
        <p:spPr>
          <a:xfrm>
            <a:off x="7616230" y="3904952"/>
            <a:ext cx="14401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Archivo" pitchFamily="34" charset="0"/>
                <a:ea typeface="Archivo" pitchFamily="34" charset="-122"/>
                <a:cs typeface="Archivo" pitchFamily="34" charset="-120"/>
              </a:rPr>
              <a:t>auto, then manual, then critical</a:t>
            </a:r>
            <a:endParaRPr lang="en-US" sz="1200" dirty="0"/>
          </a:p>
        </p:txBody>
      </p:sp>
      <p:pic>
        <p:nvPicPr>
          <p:cNvPr id="31" name="Image 5" descr="arrow-right"/>
          <p:cNvPicPr>
            <a:picLocks noChangeAspect="1"/>
          </p:cNvPicPr>
          <p:nvPr/>
        </p:nvPicPr>
        <p:blipFill>
          <a:blip r:embed="rId3"/>
          <a:srcRect/>
          <a:stretch/>
        </p:blipFill>
        <p:spPr>
          <a:xfrm>
            <a:off x="9265940" y="3482082"/>
            <a:ext cx="304800" cy="152400"/>
          </a:xfrm>
          <a:prstGeom prst="rect">
            <a:avLst/>
          </a:prstGeom>
        </p:spPr>
      </p:pic>
      <p:sp>
        <p:nvSpPr>
          <p:cNvPr id="32" name="Shape 24"/>
          <p:cNvSpPr/>
          <p:nvPr/>
        </p:nvSpPr>
        <p:spPr>
          <a:xfrm>
            <a:off x="9675515" y="3485257"/>
            <a:ext cx="1700510" cy="1428552"/>
          </a:xfrm>
          <a:prstGeom prst="roundRect">
            <a:avLst>
              <a:gd name="adj" fmla="val 3334"/>
            </a:avLst>
          </a:prstGeom>
          <a:solidFill>
            <a:srgbClr val="FFFDF8"/>
          </a:solidFill>
          <a:ln w="6350">
            <a:solidFill>
              <a:srgbClr val="D6D0C3"/>
            </a:solidFill>
            <a:prstDash val="solid"/>
          </a:ln>
        </p:spPr>
      </p:sp>
      <p:sp>
        <p:nvSpPr>
          <p:cNvPr id="33" name="Text 25"/>
          <p:cNvSpPr/>
          <p:nvPr/>
        </p:nvSpPr>
        <p:spPr>
          <a:xfrm>
            <a:off x="9831090" y="3640832"/>
            <a:ext cx="144016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C1A"/>
                </a:solidFill>
                <a:latin typeface="Archivo" pitchFamily="34" charset="0"/>
                <a:ea typeface="Archivo" pitchFamily="34" charset="-122"/>
                <a:cs typeface="Archivo" pitchFamily="34" charset="-120"/>
              </a:rPr>
              <a:t>Audit + store</a:t>
            </a:r>
            <a:endParaRPr lang="en-US" sz="1400" dirty="0"/>
          </a:p>
        </p:txBody>
      </p:sp>
      <p:sp>
        <p:nvSpPr>
          <p:cNvPr id="34" name="Text 26"/>
          <p:cNvSpPr/>
          <p:nvPr/>
        </p:nvSpPr>
        <p:spPr>
          <a:xfrm>
            <a:off x="9831090" y="3904952"/>
            <a:ext cx="14401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Archivo" pitchFamily="34" charset="0"/>
                <a:ea typeface="Archivo" pitchFamily="34" charset="-122"/>
                <a:cs typeface="Archivo" pitchFamily="34" charset="-120"/>
              </a:rPr>
              <a:t>schema check, then write to cache</a:t>
            </a:r>
            <a:endParaRPr lang="en-US" sz="1200" dirty="0"/>
          </a:p>
        </p:txBody>
      </p:sp>
      <p:sp>
        <p:nvSpPr>
          <p:cNvPr id="35" name="Text 27"/>
          <p:cNvSpPr/>
          <p:nvPr/>
        </p:nvSpPr>
        <p:spPr>
          <a:xfrm>
            <a:off x="812800" y="5094784"/>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Archivo" pitchFamily="34" charset="0"/>
                <a:ea typeface="Archivo" pitchFamily="34" charset="-122"/>
                <a:cs typeface="Archivo" pitchFamily="34" charset="-120"/>
              </a:rPr>
              <a:t>The only LLM call is extraction. Everything after it is deterministic code.</a:t>
            </a:r>
            <a:endParaRPr lang="en-US" sz="1200" dirty="0"/>
          </a:p>
        </p:txBody>
      </p:sp>
      <p:sp>
        <p:nvSpPr>
          <p:cNvPr id="36" name="Text 28"/>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37" name="Text 29"/>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04 / 15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766E"/>
        </a:solidFill>
        <a:effectLst/>
      </p:bgPr>
    </p:bg>
    <p:spTree>
      <p:nvGrpSpPr>
        <p:cNvPr id="1" name=""/>
        <p:cNvGrpSpPr/>
        <p:nvPr/>
      </p:nvGrpSpPr>
      <p:grpSpPr>
        <a:xfrm>
          <a:off x="0" y="0"/>
          <a:ext cx="0" cy="0"/>
          <a:chOff x="0" y="0"/>
          <a:chExt cx="0" cy="0"/>
        </a:xfrm>
      </p:grpSpPr>
      <p:sp>
        <p:nvSpPr>
          <p:cNvPr id="2" name="Text 0"/>
          <p:cNvSpPr/>
          <p:nvPr/>
        </p:nvSpPr>
        <p:spPr>
          <a:xfrm>
            <a:off x="812800" y="164217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FE3DC"/>
                </a:solidFill>
                <a:latin typeface="JetBrains Mono" pitchFamily="34" charset="0"/>
                <a:ea typeface="JetBrains Mono" pitchFamily="34" charset="-122"/>
                <a:cs typeface="JetBrains Mono" pitchFamily="34" charset="-120"/>
              </a:rPr>
              <a:t>04 · DESIGN PRINCIPLE</a:t>
            </a:r>
            <a:endParaRPr lang="en-US" sz="1200" dirty="0"/>
          </a:p>
        </p:txBody>
      </p:sp>
      <p:sp>
        <p:nvSpPr>
          <p:cNvPr id="3" name="Text 1"/>
          <p:cNvSpPr/>
          <p:nvPr/>
        </p:nvSpPr>
        <p:spPr>
          <a:xfrm>
            <a:off x="812800" y="2211090"/>
            <a:ext cx="10883392" cy="2057400"/>
          </a:xfrm>
          <a:prstGeom prst="rect">
            <a:avLst/>
          </a:prstGeom>
          <a:noFill/>
          <a:ln/>
        </p:spPr>
        <p:txBody>
          <a:bodyPr wrap="square" lIns="0" tIns="0" rIns="0" bIns="0" rtlCol="0" anchor="t">
            <a:normAutofit/>
          </a:bodyPr>
          <a:lstStyle/>
          <a:p>
            <a:pPr marL="0" indent="0" algn="l">
              <a:lnSpc>
                <a:spcPts val="8000"/>
              </a:lnSpc>
              <a:buNone/>
            </a:pPr>
            <a:r>
              <a:rPr lang="en-US" sz="8000" b="1" kern="0" spc="-200" dirty="0">
                <a:solidFill>
                  <a:srgbClr val="F4F1EA"/>
                </a:solidFill>
                <a:latin typeface="Archivo" pitchFamily="34" charset="0"/>
                <a:ea typeface="Archivo" pitchFamily="34" charset="-122"/>
                <a:cs typeface="Archivo" pitchFamily="34" charset="-120"/>
              </a:rPr>
              <a:t>The LLM reads.</a:t>
            </a:r>
            <a:endParaRPr lang="en-US" sz="8000" dirty="0"/>
          </a:p>
          <a:p>
            <a:pPr marL="0" indent="0" algn="l">
              <a:lnSpc>
                <a:spcPts val="8000"/>
              </a:lnSpc>
              <a:buNone/>
            </a:pPr>
            <a:r>
              <a:rPr lang="en-US" sz="8000" b="1" kern="0" spc="-200" dirty="0">
                <a:solidFill>
                  <a:srgbClr val="F4F1EA"/>
                </a:solidFill>
                <a:latin typeface="Archivo" pitchFamily="34" charset="0"/>
                <a:ea typeface="Archivo" pitchFamily="34" charset="-122"/>
                <a:cs typeface="Archivo" pitchFamily="34" charset="-120"/>
              </a:rPr>
              <a:t>Code decides.</a:t>
            </a:r>
            <a:endParaRPr lang="en-US" sz="8000" dirty="0"/>
          </a:p>
        </p:txBody>
      </p:sp>
      <p:sp>
        <p:nvSpPr>
          <p:cNvPr id="4" name="Text 2"/>
          <p:cNvSpPr/>
          <p:nvPr/>
        </p:nvSpPr>
        <p:spPr>
          <a:xfrm>
            <a:off x="812800" y="4598690"/>
            <a:ext cx="9156700" cy="642541"/>
          </a:xfrm>
          <a:prstGeom prst="rect">
            <a:avLst/>
          </a:prstGeom>
          <a:noFill/>
          <a:ln/>
        </p:spPr>
        <p:txBody>
          <a:bodyPr wrap="square" lIns="0" tIns="0" rIns="0" bIns="0" rtlCol="0" anchor="t">
            <a:normAutofit/>
          </a:bodyPr>
          <a:lstStyle/>
          <a:p>
            <a:pPr marL="0" indent="0" algn="l">
              <a:lnSpc>
                <a:spcPts val="2430"/>
              </a:lnSpc>
              <a:buNone/>
            </a:pPr>
            <a:r>
              <a:rPr lang="en-US" sz="1800" dirty="0">
                <a:solidFill>
                  <a:srgbClr val="DCEBE7"/>
                </a:solidFill>
                <a:latin typeface="Archivo" pitchFamily="34" charset="0"/>
                <a:ea typeface="Archivo" pitchFamily="34" charset="-122"/>
                <a:cs typeface="Archivo" pitchFamily="34" charset="-120"/>
              </a:rPr>
              <a:t>The model only restructures article text. Rules, deeplinks, categories and ordering are enforced in code, so a deeplink can never be invented.</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05 · GUARDRAILS</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Four checks on every answer</a:t>
            </a:r>
            <a:endParaRPr lang="en-US" sz="3200" dirty="0"/>
          </a:p>
        </p:txBody>
      </p:sp>
      <p:sp>
        <p:nvSpPr>
          <p:cNvPr id="4" name="Shape 2"/>
          <p:cNvSpPr/>
          <p:nvPr/>
        </p:nvSpPr>
        <p:spPr>
          <a:xfrm>
            <a:off x="815975" y="1882676"/>
            <a:ext cx="5175250" cy="1418431"/>
          </a:xfrm>
          <a:prstGeom prst="roundRect">
            <a:avLst>
              <a:gd name="adj" fmla="val 3358"/>
            </a:avLst>
          </a:prstGeom>
          <a:solidFill>
            <a:srgbClr val="FFFDF8"/>
          </a:solidFill>
          <a:ln w="6350">
            <a:solidFill>
              <a:srgbClr val="D6D0C3"/>
            </a:solidFill>
            <a:prstDash val="solid"/>
          </a:ln>
        </p:spPr>
      </p:sp>
      <p:pic>
        <p:nvPicPr>
          <p:cNvPr id="5" name="Image 0" descr="Check"/>
          <p:cNvPicPr>
            <a:picLocks noChangeAspect="1"/>
          </p:cNvPicPr>
          <p:nvPr/>
        </p:nvPicPr>
        <p:blipFill>
          <a:blip r:embed="rId3"/>
          <a:srcRect/>
          <a:stretch/>
        </p:blipFill>
        <p:spPr>
          <a:xfrm>
            <a:off x="1073150" y="2139851"/>
            <a:ext cx="304800" cy="304800"/>
          </a:xfrm>
          <a:prstGeom prst="rect">
            <a:avLst/>
          </a:prstGeom>
        </p:spPr>
      </p:pic>
      <p:sp>
        <p:nvSpPr>
          <p:cNvPr id="6" name="Text 3"/>
          <p:cNvSpPr/>
          <p:nvPr/>
        </p:nvSpPr>
        <p:spPr>
          <a:xfrm>
            <a:off x="1504950" y="2155130"/>
            <a:ext cx="1505843"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Rules in code</a:t>
            </a:r>
            <a:endParaRPr lang="en-US" sz="1800" dirty="0"/>
          </a:p>
        </p:txBody>
      </p:sp>
      <p:sp>
        <p:nvSpPr>
          <p:cNvPr id="7" name="Text 4"/>
          <p:cNvSpPr/>
          <p:nvPr/>
        </p:nvSpPr>
        <p:spPr>
          <a:xfrm>
            <a:off x="1073150" y="2546251"/>
            <a:ext cx="4800727"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Word counts, Title Case and goal syntax are validated and auto-fixed after every LLM call.</a:t>
            </a:r>
            <a:endParaRPr lang="en-US" sz="1400" dirty="0"/>
          </a:p>
        </p:txBody>
      </p:sp>
      <p:sp>
        <p:nvSpPr>
          <p:cNvPr id="8" name="Shape 5"/>
          <p:cNvSpPr/>
          <p:nvPr/>
        </p:nvSpPr>
        <p:spPr>
          <a:xfrm>
            <a:off x="6200775" y="1882676"/>
            <a:ext cx="5175250" cy="1418431"/>
          </a:xfrm>
          <a:prstGeom prst="roundRect">
            <a:avLst>
              <a:gd name="adj" fmla="val 3358"/>
            </a:avLst>
          </a:prstGeom>
          <a:solidFill>
            <a:srgbClr val="FFFDF8"/>
          </a:solidFill>
          <a:ln w="6350">
            <a:solidFill>
              <a:srgbClr val="D6D0C3"/>
            </a:solidFill>
            <a:prstDash val="solid"/>
          </a:ln>
        </p:spPr>
      </p:sp>
      <p:pic>
        <p:nvPicPr>
          <p:cNvPr id="9" name="Image 1" descr="Lock"/>
          <p:cNvPicPr>
            <a:picLocks noChangeAspect="1"/>
          </p:cNvPicPr>
          <p:nvPr/>
        </p:nvPicPr>
        <p:blipFill>
          <a:blip r:embed="rId4"/>
          <a:srcRect/>
          <a:stretch/>
        </p:blipFill>
        <p:spPr>
          <a:xfrm>
            <a:off x="6457950" y="2139851"/>
            <a:ext cx="304800" cy="304800"/>
          </a:xfrm>
          <a:prstGeom prst="rect">
            <a:avLst/>
          </a:prstGeom>
        </p:spPr>
      </p:pic>
      <p:sp>
        <p:nvSpPr>
          <p:cNvPr id="10" name="Text 6"/>
          <p:cNvSpPr/>
          <p:nvPr/>
        </p:nvSpPr>
        <p:spPr>
          <a:xfrm>
            <a:off x="6889750" y="2155130"/>
            <a:ext cx="1698625"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Zero URL leaks</a:t>
            </a:r>
            <a:endParaRPr lang="en-US" sz="1800" dirty="0"/>
          </a:p>
        </p:txBody>
      </p:sp>
      <p:sp>
        <p:nvSpPr>
          <p:cNvPr id="11" name="Text 7"/>
          <p:cNvSpPr/>
          <p:nvPr/>
        </p:nvSpPr>
        <p:spPr>
          <a:xfrm>
            <a:off x="6457950" y="2546251"/>
            <a:ext cx="4800727"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Links, domains and emails are scrubbed, including an email hidden inside one source article.</a:t>
            </a:r>
            <a:endParaRPr lang="en-US" sz="1400" dirty="0"/>
          </a:p>
        </p:txBody>
      </p:sp>
      <p:sp>
        <p:nvSpPr>
          <p:cNvPr id="12" name="Shape 8"/>
          <p:cNvSpPr/>
          <p:nvPr/>
        </p:nvSpPr>
        <p:spPr>
          <a:xfrm>
            <a:off x="815975" y="3510657"/>
            <a:ext cx="5175250" cy="1418431"/>
          </a:xfrm>
          <a:prstGeom prst="roundRect">
            <a:avLst>
              <a:gd name="adj" fmla="val 3358"/>
            </a:avLst>
          </a:prstGeom>
          <a:solidFill>
            <a:srgbClr val="FFFDF8"/>
          </a:solidFill>
          <a:ln w="6350">
            <a:solidFill>
              <a:srgbClr val="D6D0C3"/>
            </a:solidFill>
            <a:prstDash val="solid"/>
          </a:ln>
        </p:spPr>
      </p:sp>
      <p:pic>
        <p:nvPicPr>
          <p:cNvPr id="13" name="Image 2" descr="Search"/>
          <p:cNvPicPr>
            <a:picLocks noChangeAspect="1"/>
          </p:cNvPicPr>
          <p:nvPr/>
        </p:nvPicPr>
        <p:blipFill>
          <a:blip r:embed="rId5"/>
          <a:srcRect/>
          <a:stretch/>
        </p:blipFill>
        <p:spPr>
          <a:xfrm>
            <a:off x="1073150" y="3767832"/>
            <a:ext cx="304800" cy="304800"/>
          </a:xfrm>
          <a:prstGeom prst="rect">
            <a:avLst/>
          </a:prstGeom>
        </p:spPr>
      </p:pic>
      <p:sp>
        <p:nvSpPr>
          <p:cNvPr id="14" name="Text 9"/>
          <p:cNvSpPr/>
          <p:nvPr/>
        </p:nvSpPr>
        <p:spPr>
          <a:xfrm>
            <a:off x="1504950" y="3783112"/>
            <a:ext cx="1923725"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Grounding check</a:t>
            </a:r>
            <a:endParaRPr lang="en-US" sz="1800" dirty="0"/>
          </a:p>
        </p:txBody>
      </p:sp>
      <p:sp>
        <p:nvSpPr>
          <p:cNvPr id="15" name="Text 10"/>
          <p:cNvSpPr/>
          <p:nvPr/>
        </p:nvSpPr>
        <p:spPr>
          <a:xfrm>
            <a:off x="1073150" y="4174232"/>
            <a:ext cx="4800727"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Every step must trace back to the article. An unstated “Release the buttons.” was caught and dropped.</a:t>
            </a:r>
            <a:endParaRPr lang="en-US" sz="1400" dirty="0"/>
          </a:p>
        </p:txBody>
      </p:sp>
      <p:sp>
        <p:nvSpPr>
          <p:cNvPr id="16" name="Shape 11"/>
          <p:cNvSpPr/>
          <p:nvPr/>
        </p:nvSpPr>
        <p:spPr>
          <a:xfrm>
            <a:off x="6200775" y="3510657"/>
            <a:ext cx="5175250" cy="1418431"/>
          </a:xfrm>
          <a:prstGeom prst="roundRect">
            <a:avLst>
              <a:gd name="adj" fmla="val 3358"/>
            </a:avLst>
          </a:prstGeom>
          <a:solidFill>
            <a:srgbClr val="FFFDF8"/>
          </a:solidFill>
          <a:ln w="6350">
            <a:solidFill>
              <a:srgbClr val="D6D0C3"/>
            </a:solidFill>
            <a:prstDash val="solid"/>
          </a:ln>
        </p:spPr>
      </p:sp>
      <p:pic>
        <p:nvPicPr>
          <p:cNvPr id="17" name="Image 3" descr="Verified"/>
          <p:cNvPicPr>
            <a:picLocks noChangeAspect="1"/>
          </p:cNvPicPr>
          <p:nvPr/>
        </p:nvPicPr>
        <p:blipFill>
          <a:blip r:embed="rId6"/>
          <a:srcRect/>
          <a:stretch/>
        </p:blipFill>
        <p:spPr>
          <a:xfrm>
            <a:off x="6457950" y="3767832"/>
            <a:ext cx="304800" cy="304800"/>
          </a:xfrm>
          <a:prstGeom prst="rect">
            <a:avLst/>
          </a:prstGeom>
        </p:spPr>
      </p:pic>
      <p:sp>
        <p:nvSpPr>
          <p:cNvPr id="18" name="Text 12"/>
          <p:cNvSpPr/>
          <p:nvPr/>
        </p:nvSpPr>
        <p:spPr>
          <a:xfrm>
            <a:off x="6889750" y="3783112"/>
            <a:ext cx="2385239"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Schema + pure JSON</a:t>
            </a:r>
            <a:endParaRPr lang="en-US" sz="1800" dirty="0"/>
          </a:p>
        </p:txBody>
      </p:sp>
      <p:sp>
        <p:nvSpPr>
          <p:cNvPr id="19" name="Text 13"/>
          <p:cNvSpPr/>
          <p:nvPr/>
        </p:nvSpPr>
        <p:spPr>
          <a:xfrm>
            <a:off x="6457950" y="4174232"/>
            <a:ext cx="4800727"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Every response is re-validated against schema.py before it leaves the API.</a:t>
            </a:r>
            <a:endParaRPr lang="en-US" sz="1400" dirty="0"/>
          </a:p>
        </p:txBody>
      </p:sp>
      <p:sp>
        <p:nvSpPr>
          <p:cNvPr id="20" name="Text 14"/>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21" name="Text 15"/>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06 / 15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06 · DEEPLINK MAPPING</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Exact screen, never a look-alike</a:t>
            </a:r>
            <a:endParaRPr lang="en-US" sz="3200" dirty="0"/>
          </a:p>
        </p:txBody>
      </p:sp>
      <p:sp>
        <p:nvSpPr>
          <p:cNvPr id="4" name="Text 2"/>
          <p:cNvSpPr/>
          <p:nvPr/>
        </p:nvSpPr>
        <p:spPr>
          <a:xfrm>
            <a:off x="812800" y="1879501"/>
            <a:ext cx="981075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Retrieval proposes candidates from 550 phone deeplinks. A word-order-aware name gate accepts one only if its setting name matches a screen the step actually names.</a:t>
            </a:r>
            <a:endParaRPr lang="en-US" sz="1400" dirty="0"/>
          </a:p>
        </p:txBody>
      </p:sp>
      <p:sp>
        <p:nvSpPr>
          <p:cNvPr id="5" name="Shape 3"/>
          <p:cNvSpPr/>
          <p:nvPr/>
        </p:nvSpPr>
        <p:spPr>
          <a:xfrm>
            <a:off x="812800" y="2681982"/>
            <a:ext cx="10566400" cy="2527598"/>
          </a:xfrm>
          <a:prstGeom prst="rect">
            <a:avLst/>
          </a:prstGeom>
          <a:solidFill>
            <a:srgbClr val="FFFDF8"/>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694682"/>
          <a:ext cx="10553700" cy="2514897"/>
        </p:xfrm>
        <a:graphic>
          <a:graphicData uri="http://schemas.openxmlformats.org/drawingml/2006/table">
            <a:tbl>
              <a:tblPr/>
              <a:tblGrid>
                <a:gridCol w="3377184">
                  <a:extLst>
                    <a:ext uri="{9D8B030D-6E8A-4147-A177-3AD203B41FA5}">
                      <a16:colId xmlns:a16="http://schemas.microsoft.com/office/drawing/2014/main" val="20000"/>
                    </a:ext>
                  </a:extLst>
                </a:gridCol>
                <a:gridCol w="4432554">
                  <a:extLst>
                    <a:ext uri="{9D8B030D-6E8A-4147-A177-3AD203B41FA5}">
                      <a16:colId xmlns:a16="http://schemas.microsoft.com/office/drawing/2014/main" val="20001"/>
                    </a:ext>
                  </a:extLst>
                </a:gridCol>
                <a:gridCol w="2743962">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Screen named in the step</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Closest catalog entry</a:t>
                      </a:r>
                      <a:endParaRPr lang="en-US" sz="1300" dirty="0">
                        <a:latin typeface="Archivo" charset="0"/>
                        <a:ea typeface="Archivo" charset="0"/>
                        <a:cs typeface="Archivo" charset="0"/>
                      </a:endParaRPr>
                    </a:p>
                  </a:txBody>
                  <a:tcPr marL="57785" marR="57785" marT="57785" marB="57785">
                    <a:lnL w="12700" cap="flat" cmpd="sng" algn="ctr">
                      <a:solidFill>
                        <a:srgbClr val="1B1A18"/>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Result</a:t>
                      </a:r>
                      <a:endParaRPr lang="en-US" sz="1300" dirty="0">
                        <a:latin typeface="Archivo" charset="0"/>
                        <a:ea typeface="Archivo" charset="0"/>
                        <a:cs typeface="Archivo" charset="0"/>
                      </a:endParaRPr>
                    </a:p>
                  </a:txBody>
                  <a:tcPr marL="57785" marR="57785" marT="57785" marB="57785">
                    <a:lnL w="12700" cap="flat" cmpd="sng" algn="ctr">
                      <a:solidFill>
                        <a:srgbClr val="1B1A18"/>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Super steady mode</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Easy mode</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B91C1C"/>
                          </a:solidFill>
                          <a:latin typeface="Archivo" pitchFamily="34" charset="0"/>
                          <a:ea typeface="Archivo" pitchFamily="34" charset="-122"/>
                          <a:cs typeface="Archivo" pitchFamily="34" charset="-120"/>
                        </a:rPr>
                        <a:t>Rejected</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Navigation bar</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Hide status and navigation bars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B91C1C"/>
                          </a:solidFill>
                          <a:latin typeface="Archivo" pitchFamily="34" charset="0"/>
                          <a:ea typeface="Archivo" pitchFamily="34" charset="-122"/>
                          <a:cs typeface="Archivo" pitchFamily="34" charset="-120"/>
                        </a:rPr>
                        <a:t>Rejected</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Factory data reset</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Auto factory reset</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B91C1C"/>
                          </a:solidFill>
                          <a:latin typeface="Archivo" pitchFamily="34" charset="0"/>
                          <a:ea typeface="Archivo" pitchFamily="34" charset="-122"/>
                          <a:cs typeface="Archivo" pitchFamily="34" charset="-120"/>
                        </a:rPr>
                        <a:t>Rejected</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Screen lock and biometrics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Lock screen</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B91C1C"/>
                          </a:solidFill>
                          <a:latin typeface="Archivo" pitchFamily="34" charset="0"/>
                          <a:ea typeface="Archivo" pitchFamily="34" charset="-122"/>
                          <a:cs typeface="Archivo" pitchFamily="34" charset="-120"/>
                        </a:rPr>
                        <a:t>Rejected</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Touch sensitivity, on / off</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Enable / Disable Touch sensitivity</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Matched by verb</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Back up data</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Back up data (TechCorp Cloud)</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Same link as official sample</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4"/>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8" name="Text 5"/>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07 / 15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07 · PLAN HIERARCHY</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Least disruptive first, destructive last</a:t>
            </a:r>
            <a:endParaRPr lang="en-US" sz="3200" dirty="0"/>
          </a:p>
        </p:txBody>
      </p:sp>
      <p:sp>
        <p:nvSpPr>
          <p:cNvPr id="4" name="Shape 2"/>
          <p:cNvSpPr/>
          <p:nvPr/>
        </p:nvSpPr>
        <p:spPr>
          <a:xfrm>
            <a:off x="815975" y="1882676"/>
            <a:ext cx="3109317" cy="2030611"/>
          </a:xfrm>
          <a:prstGeom prst="roundRect">
            <a:avLst>
              <a:gd name="adj" fmla="val 2345"/>
            </a:avLst>
          </a:prstGeom>
          <a:solidFill>
            <a:srgbClr val="FFFDF8"/>
          </a:solidFill>
          <a:ln w="6350">
            <a:solidFill>
              <a:srgbClr val="D6D0C3"/>
            </a:solidFill>
            <a:prstDash val="solid"/>
          </a:ln>
        </p:spPr>
      </p:sp>
      <p:sp>
        <p:nvSpPr>
          <p:cNvPr id="5" name="Shape 3"/>
          <p:cNvSpPr/>
          <p:nvPr/>
        </p:nvSpPr>
        <p:spPr>
          <a:xfrm>
            <a:off x="1073150" y="2089051"/>
            <a:ext cx="2594967" cy="289520"/>
          </a:xfrm>
          <a:prstGeom prst="roundRect">
            <a:avLst>
              <a:gd name="adj" fmla="val 13160"/>
            </a:avLst>
          </a:prstGeom>
          <a:solidFill>
            <a:srgbClr val="0F766E"/>
          </a:solidFill>
          <a:ln/>
        </p:spPr>
      </p:sp>
      <p:sp>
        <p:nvSpPr>
          <p:cNvPr id="6" name="Text 4"/>
          <p:cNvSpPr/>
          <p:nvPr/>
        </p:nvSpPr>
        <p:spPr>
          <a:xfrm>
            <a:off x="1174750" y="2127151"/>
            <a:ext cx="2463520"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AUTO</a:t>
            </a:r>
            <a:endParaRPr lang="en-US" sz="1200" dirty="0"/>
          </a:p>
        </p:txBody>
      </p:sp>
      <p:sp>
        <p:nvSpPr>
          <p:cNvPr id="7" name="Text 5"/>
          <p:cNvSpPr/>
          <p:nvPr/>
        </p:nvSpPr>
        <p:spPr>
          <a:xfrm>
            <a:off x="1073150" y="2505571"/>
            <a:ext cx="2672816"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Settings toggles</a:t>
            </a:r>
            <a:endParaRPr lang="en-US" sz="1800" dirty="0"/>
          </a:p>
        </p:txBody>
      </p:sp>
      <p:sp>
        <p:nvSpPr>
          <p:cNvPr id="8" name="Text 6"/>
          <p:cNvSpPr/>
          <p:nvPr/>
        </p:nvSpPr>
        <p:spPr>
          <a:xfrm>
            <a:off x="1073150" y="2906812"/>
            <a:ext cx="2672816" cy="825500"/>
          </a:xfrm>
          <a:prstGeom prst="rect">
            <a:avLst/>
          </a:prstGeom>
          <a:noFill/>
          <a:ln/>
        </p:spPr>
        <p:txBody>
          <a:bodyPr wrap="square" lIns="0" tIns="0" rIns="0" bIns="0" rtlCol="0" anchor="t">
            <a:normAutofit/>
          </a:bodyPr>
          <a:lstStyle/>
          <a:p>
            <a:pPr marL="213360" indent="-156718" algn="l">
              <a:lnSpc>
                <a:spcPts val="2100"/>
              </a:lnSpc>
              <a:buSzPct val="100000"/>
              <a:buChar char="•"/>
            </a:pPr>
            <a:r>
              <a:rPr lang="en-US" sz="1400" dirty="0">
                <a:solidFill>
                  <a:srgbClr val="6B665C"/>
                </a:solidFill>
                <a:latin typeface="Archivo" pitchFamily="34" charset="0"/>
                <a:ea typeface="Archivo" pitchFamily="34" charset="-122"/>
                <a:cs typeface="Archivo" pitchFamily="34" charset="-120"/>
              </a:rPr>
              <a:t>One tap via deeplink</a:t>
            </a:r>
            <a:endParaRPr lang="en-US" sz="1400" dirty="0"/>
          </a:p>
          <a:p>
            <a:pPr marL="213360" indent="-156718" algn="l">
              <a:lnSpc>
                <a:spcPts val="2100"/>
              </a:lnSpc>
              <a:buSzPct val="100000"/>
              <a:buChar char="•"/>
            </a:pPr>
            <a:r>
              <a:rPr lang="en-US" sz="1400" dirty="0">
                <a:solidFill>
                  <a:srgbClr val="6B665C"/>
                </a:solidFill>
                <a:latin typeface="Archivo" pitchFamily="34" charset="0"/>
                <a:ea typeface="Archivo" pitchFamily="34" charset="-122"/>
                <a:cs typeface="Archivo" pitchFamily="34" charset="-120"/>
              </a:rPr>
              <a:t>Touch sensitivity</a:t>
            </a:r>
            <a:endParaRPr lang="en-US" sz="1400" dirty="0"/>
          </a:p>
          <a:p>
            <a:pPr marL="213360" indent="-156718" algn="l">
              <a:lnSpc>
                <a:spcPts val="2100"/>
              </a:lnSpc>
              <a:buSzPct val="100000"/>
              <a:buChar char="•"/>
            </a:pPr>
            <a:r>
              <a:rPr lang="en-US" sz="1400" dirty="0">
                <a:solidFill>
                  <a:srgbClr val="6B665C"/>
                </a:solidFill>
                <a:latin typeface="Archivo" pitchFamily="34" charset="0"/>
                <a:ea typeface="Archivo" pitchFamily="34" charset="-122"/>
                <a:cs typeface="Archivo" pitchFamily="34" charset="-120"/>
              </a:rPr>
              <a:t>Navigation bar</a:t>
            </a:r>
            <a:endParaRPr lang="en-US" sz="1400" dirty="0"/>
          </a:p>
        </p:txBody>
      </p:sp>
      <p:pic>
        <p:nvPicPr>
          <p:cNvPr id="9" name="Image 0" descr="arrow-right"/>
          <p:cNvPicPr>
            <a:picLocks noChangeAspect="1"/>
          </p:cNvPicPr>
          <p:nvPr/>
        </p:nvPicPr>
        <p:blipFill>
          <a:blip r:embed="rId3"/>
          <a:srcRect/>
          <a:stretch/>
        </p:blipFill>
        <p:spPr>
          <a:xfrm>
            <a:off x="4080867" y="2821781"/>
            <a:ext cx="304800" cy="152400"/>
          </a:xfrm>
          <a:prstGeom prst="rect">
            <a:avLst/>
          </a:prstGeom>
        </p:spPr>
      </p:pic>
      <p:sp>
        <p:nvSpPr>
          <p:cNvPr id="10" name="Shape 7"/>
          <p:cNvSpPr/>
          <p:nvPr/>
        </p:nvSpPr>
        <p:spPr>
          <a:xfrm>
            <a:off x="4541242" y="1882676"/>
            <a:ext cx="3109416" cy="2030611"/>
          </a:xfrm>
          <a:prstGeom prst="roundRect">
            <a:avLst>
              <a:gd name="adj" fmla="val 2345"/>
            </a:avLst>
          </a:prstGeom>
          <a:solidFill>
            <a:srgbClr val="FFFDF8"/>
          </a:solidFill>
          <a:ln w="6350">
            <a:solidFill>
              <a:srgbClr val="D6D0C3"/>
            </a:solidFill>
            <a:prstDash val="solid"/>
          </a:ln>
        </p:spPr>
      </p:sp>
      <p:sp>
        <p:nvSpPr>
          <p:cNvPr id="11" name="Shape 8"/>
          <p:cNvSpPr/>
          <p:nvPr/>
        </p:nvSpPr>
        <p:spPr>
          <a:xfrm>
            <a:off x="4798417" y="2089051"/>
            <a:ext cx="2595066" cy="289520"/>
          </a:xfrm>
          <a:prstGeom prst="roundRect">
            <a:avLst>
              <a:gd name="adj" fmla="val 13160"/>
            </a:avLst>
          </a:prstGeom>
          <a:solidFill>
            <a:srgbClr val="B45309"/>
          </a:solidFill>
          <a:ln/>
        </p:spPr>
      </p:sp>
      <p:sp>
        <p:nvSpPr>
          <p:cNvPr id="12" name="Text 9"/>
          <p:cNvSpPr/>
          <p:nvPr/>
        </p:nvSpPr>
        <p:spPr>
          <a:xfrm>
            <a:off x="4900017" y="2127151"/>
            <a:ext cx="2463622"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MANUAL</a:t>
            </a:r>
            <a:endParaRPr lang="en-US" sz="1200" dirty="0"/>
          </a:p>
        </p:txBody>
      </p:sp>
      <p:sp>
        <p:nvSpPr>
          <p:cNvPr id="13" name="Text 10"/>
          <p:cNvSpPr/>
          <p:nvPr/>
        </p:nvSpPr>
        <p:spPr>
          <a:xfrm>
            <a:off x="4798417" y="2505571"/>
            <a:ext cx="267291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Physical checks</a:t>
            </a:r>
            <a:endParaRPr lang="en-US" sz="1800" dirty="0"/>
          </a:p>
        </p:txBody>
      </p:sp>
      <p:sp>
        <p:nvSpPr>
          <p:cNvPr id="14" name="Text 11"/>
          <p:cNvSpPr/>
          <p:nvPr/>
        </p:nvSpPr>
        <p:spPr>
          <a:xfrm>
            <a:off x="4798417" y="2906812"/>
            <a:ext cx="2672918" cy="825500"/>
          </a:xfrm>
          <a:prstGeom prst="rect">
            <a:avLst/>
          </a:prstGeom>
          <a:noFill/>
          <a:ln/>
        </p:spPr>
        <p:txBody>
          <a:bodyPr wrap="square" lIns="0" tIns="0" rIns="0" bIns="0" rtlCol="0" anchor="t">
            <a:normAutofit/>
          </a:bodyPr>
          <a:lstStyle/>
          <a:p>
            <a:pPr marL="213360" indent="-156718" algn="l">
              <a:lnSpc>
                <a:spcPts val="2100"/>
              </a:lnSpc>
              <a:buSzPct val="100000"/>
              <a:buChar char="•"/>
            </a:pPr>
            <a:r>
              <a:rPr lang="en-US" sz="1400" dirty="0">
                <a:solidFill>
                  <a:srgbClr val="6B665C"/>
                </a:solidFill>
                <a:latin typeface="Archivo" pitchFamily="34" charset="0"/>
                <a:ea typeface="Archivo" pitchFamily="34" charset="-122"/>
                <a:cs typeface="Archivo" pitchFamily="34" charset="-120"/>
              </a:rPr>
              <a:t>Remove screen protector</a:t>
            </a:r>
            <a:endParaRPr lang="en-US" sz="1400" dirty="0"/>
          </a:p>
          <a:p>
            <a:pPr marL="213360" indent="-156718" algn="l">
              <a:lnSpc>
                <a:spcPts val="2100"/>
              </a:lnSpc>
              <a:buSzPct val="100000"/>
              <a:buChar char="•"/>
            </a:pPr>
            <a:r>
              <a:rPr lang="en-US" sz="1400" dirty="0">
                <a:solidFill>
                  <a:srgbClr val="6B665C"/>
                </a:solidFill>
                <a:latin typeface="Archivo" pitchFamily="34" charset="0"/>
                <a:ea typeface="Archivo" pitchFamily="34" charset="-122"/>
                <a:cs typeface="Archivo" pitchFamily="34" charset="-120"/>
              </a:rPr>
              <a:t>Swap the charger</a:t>
            </a:r>
            <a:endParaRPr lang="en-US" sz="1400" dirty="0"/>
          </a:p>
          <a:p>
            <a:pPr marL="213360" indent="-156718" algn="l">
              <a:lnSpc>
                <a:spcPts val="2100"/>
              </a:lnSpc>
              <a:buSzPct val="100000"/>
              <a:buChar char="•"/>
            </a:pPr>
            <a:r>
              <a:rPr lang="en-US" sz="1400" dirty="0">
                <a:solidFill>
                  <a:srgbClr val="6B665C"/>
                </a:solidFill>
                <a:latin typeface="Archivo" pitchFamily="34" charset="0"/>
                <a:ea typeface="Archivo" pitchFamily="34" charset="-122"/>
                <a:cs typeface="Archivo" pitchFamily="34" charset="-120"/>
              </a:rPr>
              <a:t>Service centre last</a:t>
            </a:r>
            <a:endParaRPr lang="en-US" sz="1400" dirty="0"/>
          </a:p>
        </p:txBody>
      </p:sp>
      <p:pic>
        <p:nvPicPr>
          <p:cNvPr id="15" name="Image 1" descr="arrow-right"/>
          <p:cNvPicPr>
            <a:picLocks noChangeAspect="1"/>
          </p:cNvPicPr>
          <p:nvPr/>
        </p:nvPicPr>
        <p:blipFill>
          <a:blip r:embed="rId3"/>
          <a:srcRect/>
          <a:stretch/>
        </p:blipFill>
        <p:spPr>
          <a:xfrm>
            <a:off x="7806234" y="2821781"/>
            <a:ext cx="304800" cy="152400"/>
          </a:xfrm>
          <a:prstGeom prst="rect">
            <a:avLst/>
          </a:prstGeom>
        </p:spPr>
      </p:pic>
      <p:sp>
        <p:nvSpPr>
          <p:cNvPr id="16" name="Shape 12"/>
          <p:cNvSpPr/>
          <p:nvPr/>
        </p:nvSpPr>
        <p:spPr>
          <a:xfrm>
            <a:off x="8266609" y="1882676"/>
            <a:ext cx="3109416" cy="2030611"/>
          </a:xfrm>
          <a:prstGeom prst="roundRect">
            <a:avLst>
              <a:gd name="adj" fmla="val 2345"/>
            </a:avLst>
          </a:prstGeom>
          <a:solidFill>
            <a:srgbClr val="FFFDF8"/>
          </a:solidFill>
          <a:ln w="6350">
            <a:solidFill>
              <a:srgbClr val="D6D0C3"/>
            </a:solidFill>
            <a:prstDash val="solid"/>
          </a:ln>
        </p:spPr>
      </p:sp>
      <p:sp>
        <p:nvSpPr>
          <p:cNvPr id="17" name="Shape 13"/>
          <p:cNvSpPr/>
          <p:nvPr/>
        </p:nvSpPr>
        <p:spPr>
          <a:xfrm>
            <a:off x="8523784" y="2089051"/>
            <a:ext cx="2595066" cy="289520"/>
          </a:xfrm>
          <a:prstGeom prst="roundRect">
            <a:avLst>
              <a:gd name="adj" fmla="val 13160"/>
            </a:avLst>
          </a:prstGeom>
          <a:solidFill>
            <a:srgbClr val="B91C1C"/>
          </a:solidFill>
          <a:ln/>
        </p:spPr>
      </p:sp>
      <p:sp>
        <p:nvSpPr>
          <p:cNvPr id="18" name="Text 14"/>
          <p:cNvSpPr/>
          <p:nvPr/>
        </p:nvSpPr>
        <p:spPr>
          <a:xfrm>
            <a:off x="8625384" y="2127151"/>
            <a:ext cx="2463622" cy="238720"/>
          </a:xfrm>
          <a:prstGeom prst="rect">
            <a:avLst/>
          </a:prstGeom>
          <a:noFill/>
          <a:ln/>
        </p:spPr>
        <p:txBody>
          <a:bodyPr wrap="none" lIns="0" tIns="0" rIns="0" bIns="0" rtlCol="0" anchor="t">
            <a:normAutofit/>
          </a:bodyPr>
          <a:lstStyle/>
          <a:p>
            <a:pPr marL="0" indent="0" algn="l">
              <a:lnSpc>
                <a:spcPts val="1680"/>
              </a:lnSpc>
              <a:buNone/>
            </a:pPr>
            <a:r>
              <a:rPr lang="en-US" sz="1200" b="1" kern="0" spc="100" dirty="0">
                <a:solidFill>
                  <a:srgbClr val="F4F1EA"/>
                </a:solidFill>
                <a:latin typeface="JetBrains Mono" pitchFamily="34" charset="0"/>
                <a:ea typeface="JetBrains Mono" pitchFamily="34" charset="-122"/>
                <a:cs typeface="JetBrains Mono" pitchFamily="34" charset="-120"/>
              </a:rPr>
              <a:t>CRITICAL</a:t>
            </a:r>
            <a:endParaRPr lang="en-US" sz="1200" dirty="0"/>
          </a:p>
        </p:txBody>
      </p:sp>
      <p:sp>
        <p:nvSpPr>
          <p:cNvPr id="19" name="Text 15"/>
          <p:cNvSpPr/>
          <p:nvPr/>
        </p:nvSpPr>
        <p:spPr>
          <a:xfrm>
            <a:off x="8523784" y="2505571"/>
            <a:ext cx="267291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Disruptive steps</a:t>
            </a:r>
            <a:endParaRPr lang="en-US" sz="1800" dirty="0"/>
          </a:p>
        </p:txBody>
      </p:sp>
      <p:sp>
        <p:nvSpPr>
          <p:cNvPr id="20" name="Text 16"/>
          <p:cNvSpPr/>
          <p:nvPr/>
        </p:nvSpPr>
        <p:spPr>
          <a:xfrm>
            <a:off x="8523784" y="2906812"/>
            <a:ext cx="2672918" cy="825500"/>
          </a:xfrm>
          <a:prstGeom prst="rect">
            <a:avLst/>
          </a:prstGeom>
          <a:noFill/>
          <a:ln/>
        </p:spPr>
        <p:txBody>
          <a:bodyPr wrap="square" lIns="0" tIns="0" rIns="0" bIns="0" rtlCol="0" anchor="t">
            <a:normAutofit/>
          </a:bodyPr>
          <a:lstStyle/>
          <a:p>
            <a:pPr marL="213360" indent="-156718" algn="l">
              <a:lnSpc>
                <a:spcPts val="2100"/>
              </a:lnSpc>
              <a:buSzPct val="100000"/>
              <a:buChar char="•"/>
            </a:pPr>
            <a:r>
              <a:rPr lang="en-US" sz="1400" dirty="0">
                <a:solidFill>
                  <a:srgbClr val="6B665C"/>
                </a:solidFill>
                <a:latin typeface="Archivo" pitchFamily="34" charset="0"/>
                <a:ea typeface="Archivo" pitchFamily="34" charset="-122"/>
                <a:cs typeface="Archivo" pitchFamily="34" charset="-120"/>
              </a:rPr>
              <a:t>Restart</a:t>
            </a:r>
            <a:endParaRPr lang="en-US" sz="1400" dirty="0"/>
          </a:p>
          <a:p>
            <a:pPr marL="213360" indent="-156718" algn="l">
              <a:lnSpc>
                <a:spcPts val="2100"/>
              </a:lnSpc>
              <a:buSzPct val="100000"/>
              <a:buChar char="•"/>
            </a:pPr>
            <a:r>
              <a:rPr lang="en-US" sz="1400" dirty="0">
                <a:solidFill>
                  <a:srgbClr val="6B665C"/>
                </a:solidFill>
                <a:latin typeface="Archivo" pitchFamily="34" charset="0"/>
                <a:ea typeface="Archivo" pitchFamily="34" charset="-122"/>
                <a:cs typeface="Archivo" pitchFamily="34" charset="-120"/>
              </a:rPr>
              <a:t>Then safe mode</a:t>
            </a:r>
            <a:endParaRPr lang="en-US" sz="1400" dirty="0"/>
          </a:p>
          <a:p>
            <a:pPr marL="213360" indent="-156718" algn="l">
              <a:lnSpc>
                <a:spcPts val="2100"/>
              </a:lnSpc>
              <a:buSzPct val="100000"/>
              <a:buChar char="•"/>
            </a:pPr>
            <a:r>
              <a:rPr lang="en-US" sz="1400" dirty="0">
                <a:solidFill>
                  <a:srgbClr val="6B665C"/>
                </a:solidFill>
                <a:latin typeface="Archivo" pitchFamily="34" charset="0"/>
                <a:ea typeface="Archivo" pitchFamily="34" charset="-122"/>
                <a:cs typeface="Archivo" pitchFamily="34" charset="-120"/>
              </a:rPr>
              <a:t>Factory reset last</a:t>
            </a:r>
            <a:endParaRPr lang="en-US" sz="1400" dirty="0"/>
          </a:p>
        </p:txBody>
      </p:sp>
      <p:sp>
        <p:nvSpPr>
          <p:cNvPr id="21" name="Text 17"/>
          <p:cNvSpPr/>
          <p:nvPr/>
        </p:nvSpPr>
        <p:spPr>
          <a:xfrm>
            <a:off x="812800" y="4221262"/>
            <a:ext cx="1088339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A stable sort keeps the article's own order inside each group, and the auditor flags any plan that breaks the rule.</a:t>
            </a:r>
            <a:endParaRPr lang="en-US" sz="1400" dirty="0"/>
          </a:p>
        </p:txBody>
      </p:sp>
      <p:sp>
        <p:nvSpPr>
          <p:cNvPr id="22" name="Text 18"/>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23" name="Text 19"/>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08 / 15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08 · SEMANTIC CACHE</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A cache that refuses to guess</a:t>
            </a:r>
            <a:endParaRPr lang="en-US" sz="3200" dirty="0"/>
          </a:p>
        </p:txBody>
      </p:sp>
      <p:sp>
        <p:nvSpPr>
          <p:cNvPr id="4" name="Text 2"/>
          <p:cNvSpPr/>
          <p:nvPr/>
        </p:nvSpPr>
        <p:spPr>
          <a:xfrm>
            <a:off x="812800" y="1879501"/>
            <a:ext cx="4185920"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D1C1A"/>
                </a:solidFill>
                <a:latin typeface="Archivo" pitchFamily="34" charset="0"/>
                <a:ea typeface="Archivo" pitchFamily="34" charset="-122"/>
                <a:cs typeface="Archivo" pitchFamily="34" charset="-120"/>
              </a:rPr>
              <a:t>Each validated plan is stored with about 10 phrasings: 17 plans, 174 ways in. A match must be close </a:t>
            </a:r>
            <a:r>
              <a:rPr lang="en-US" sz="1400" b="1" dirty="0">
                <a:solidFill>
                  <a:srgbClr val="1D1C1A"/>
                </a:solidFill>
                <a:latin typeface="Archivo" pitchFamily="34" charset="0"/>
                <a:ea typeface="Archivo" pitchFamily="34" charset="-122"/>
                <a:cs typeface="Archivo" pitchFamily="34" charset="-120"/>
              </a:rPr>
              <a:t>and</a:t>
            </a:r>
            <a:r>
              <a:rPr lang="en-US" sz="1400" dirty="0">
                <a:solidFill>
                  <a:srgbClr val="1D1C1A"/>
                </a:solidFill>
                <a:latin typeface="Archivo" pitchFamily="34" charset="0"/>
                <a:ea typeface="Archivo" pitchFamily="34" charset="-122"/>
                <a:cs typeface="Archivo" pitchFamily="34" charset="-120"/>
              </a:rPr>
              <a:t> clearly beat every other plan.</a:t>
            </a:r>
            <a:endParaRPr lang="en-US" sz="1400" dirty="0"/>
          </a:p>
        </p:txBody>
      </p:sp>
      <p:sp>
        <p:nvSpPr>
          <p:cNvPr id="5" name="Text 3"/>
          <p:cNvSpPr/>
          <p:nvPr/>
        </p:nvSpPr>
        <p:spPr>
          <a:xfrm>
            <a:off x="812800" y="2803823"/>
            <a:ext cx="4185920"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0F766E"/>
                </a:solidFill>
                <a:latin typeface="Archivo" pitchFamily="34" charset="0"/>
                <a:ea typeface="Archivo" pitchFamily="34" charset="-122"/>
                <a:cs typeface="Archivo" pitchFamily="34" charset="-120"/>
              </a:rPr>
              <a:t>86%</a:t>
            </a:r>
            <a:endParaRPr lang="en-US" sz="3200" dirty="0"/>
          </a:p>
        </p:txBody>
      </p:sp>
      <p:sp>
        <p:nvSpPr>
          <p:cNvPr id="6" name="Text 4"/>
          <p:cNvSpPr/>
          <p:nvPr/>
        </p:nvSpPr>
        <p:spPr>
          <a:xfrm>
            <a:off x="812800" y="3276203"/>
            <a:ext cx="418592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hit rate on unseen, hand-written paraphrases</a:t>
            </a:r>
            <a:endParaRPr lang="en-US" sz="1400" dirty="0"/>
          </a:p>
        </p:txBody>
      </p:sp>
      <p:sp>
        <p:nvSpPr>
          <p:cNvPr id="7" name="Text 5"/>
          <p:cNvSpPr/>
          <p:nvPr/>
        </p:nvSpPr>
        <p:spPr>
          <a:xfrm>
            <a:off x="812800" y="3702844"/>
            <a:ext cx="4185920"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0F766E"/>
                </a:solidFill>
                <a:latin typeface="Archivo" pitchFamily="34" charset="0"/>
                <a:ea typeface="Archivo" pitchFamily="34" charset="-122"/>
                <a:cs typeface="Archivo" pitchFamily="34" charset="-120"/>
              </a:rPr>
              <a:t>0</a:t>
            </a:r>
            <a:endParaRPr lang="en-US" sz="3200" dirty="0"/>
          </a:p>
        </p:txBody>
      </p:sp>
      <p:sp>
        <p:nvSpPr>
          <p:cNvPr id="8" name="Text 6"/>
          <p:cNvSpPr/>
          <p:nvPr/>
        </p:nvSpPr>
        <p:spPr>
          <a:xfrm>
            <a:off x="812800" y="4175224"/>
            <a:ext cx="418592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wrong-plan hits and false hits</a:t>
            </a:r>
            <a:endParaRPr lang="en-US" sz="1400" dirty="0"/>
          </a:p>
        </p:txBody>
      </p:sp>
      <p:sp>
        <p:nvSpPr>
          <p:cNvPr id="9" name="Text 7"/>
          <p:cNvSpPr/>
          <p:nvPr/>
        </p:nvSpPr>
        <p:spPr>
          <a:xfrm>
            <a:off x="812800" y="4601865"/>
            <a:ext cx="4185920" cy="47238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0F766E"/>
                </a:solidFill>
                <a:latin typeface="Archivo" pitchFamily="34" charset="0"/>
                <a:ea typeface="Archivo" pitchFamily="34" charset="-122"/>
                <a:cs typeface="Archivo" pitchFamily="34" charset="-120"/>
              </a:rPr>
              <a:t>39 ms</a:t>
            </a:r>
            <a:endParaRPr lang="en-US" sz="3200" dirty="0"/>
          </a:p>
        </p:txBody>
      </p:sp>
      <p:sp>
        <p:nvSpPr>
          <p:cNvPr id="10" name="Text 8"/>
          <p:cNvSpPr/>
          <p:nvPr/>
        </p:nvSpPr>
        <p:spPr>
          <a:xfrm>
            <a:off x="812800" y="5074245"/>
            <a:ext cx="418592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P95 for a paraphrase, 0.1 ms for an exact repeat</a:t>
            </a:r>
            <a:endParaRPr lang="en-US" sz="1400" dirty="0"/>
          </a:p>
        </p:txBody>
      </p:sp>
      <p:sp>
        <p:nvSpPr>
          <p:cNvPr id="11" name="Shape 9"/>
          <p:cNvSpPr/>
          <p:nvPr/>
        </p:nvSpPr>
        <p:spPr>
          <a:xfrm>
            <a:off x="5384800" y="1879501"/>
            <a:ext cx="5994400" cy="2168327"/>
          </a:xfrm>
          <a:prstGeom prst="rect">
            <a:avLst/>
          </a:prstGeom>
          <a:solidFill>
            <a:srgbClr val="FFFDF8"/>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7500" y="1892201"/>
          <a:ext cx="5981700" cy="2155626"/>
        </p:xfrm>
        <a:graphic>
          <a:graphicData uri="http://schemas.openxmlformats.org/drawingml/2006/table">
            <a:tbl>
              <a:tblPr/>
              <a:tblGrid>
                <a:gridCol w="2631948">
                  <a:extLst>
                    <a:ext uri="{9D8B030D-6E8A-4147-A177-3AD203B41FA5}">
                      <a16:colId xmlns:a16="http://schemas.microsoft.com/office/drawing/2014/main" val="20000"/>
                    </a:ext>
                  </a:extLst>
                </a:gridCol>
                <a:gridCol w="1674876">
                  <a:extLst>
                    <a:ext uri="{9D8B030D-6E8A-4147-A177-3AD203B41FA5}">
                      <a16:colId xmlns:a16="http://schemas.microsoft.com/office/drawing/2014/main" val="20001"/>
                    </a:ext>
                  </a:extLst>
                </a:gridCol>
                <a:gridCol w="1674876">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Threshold</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Hit rate</a:t>
                      </a:r>
                      <a:endParaRPr lang="en-US" sz="1300" dirty="0">
                        <a:latin typeface="Archivo" charset="0"/>
                        <a:ea typeface="Archivo" charset="0"/>
                        <a:cs typeface="Archivo" charset="0"/>
                      </a:endParaRPr>
                    </a:p>
                  </a:txBody>
                  <a:tcPr marL="57785" marR="57785" marT="57785" marB="57785">
                    <a:lnL w="12700" cap="flat" cmpd="sng" algn="ctr">
                      <a:solidFill>
                        <a:srgbClr val="1B1A18"/>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False hits</a:t>
                      </a:r>
                      <a:endParaRPr lang="en-US" sz="1300" dirty="0">
                        <a:latin typeface="Archivo" charset="0"/>
                        <a:ea typeface="Archivo" charset="0"/>
                        <a:cs typeface="Archivo" charset="0"/>
                      </a:endParaRPr>
                    </a:p>
                  </a:txBody>
                  <a:tcPr marL="57785" marR="57785" marT="57785" marB="57785">
                    <a:lnL w="12700" cap="flat" cmpd="sng" algn="ctr">
                      <a:solidFill>
                        <a:srgbClr val="1B1A18"/>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0.800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90%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2</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0.825</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88%</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1</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0.850 (chosen)</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B0BCB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0BCB8"/>
                      </a:solidFill>
                      <a:prstDash val="solid"/>
                      <a:round/>
                      <a:headEnd type="none" w="med" len="med"/>
                      <a:tailEnd type="none" w="med" len="med"/>
                    </a:lnB>
                    <a:solidFill>
                      <a:srgbClr val="DCEBE7"/>
                    </a:solidFill>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86%</a:t>
                      </a:r>
                      <a:endParaRPr lang="en-US" sz="1300" dirty="0">
                        <a:latin typeface="Archivo" charset="0"/>
                        <a:ea typeface="Archivo" charset="0"/>
                        <a:cs typeface="Archivo" charset="0"/>
                      </a:endParaRPr>
                    </a:p>
                  </a:txBody>
                  <a:tcPr marL="57785" marR="57785" marT="57785" marB="57785">
                    <a:lnL w="12700" cap="flat" cmpd="sng" algn="ctr">
                      <a:solidFill>
                        <a:srgbClr val="B0BCB8"/>
                      </a:solidFill>
                      <a:prstDash val="solid"/>
                      <a:round/>
                      <a:headEnd type="none" w="med" len="med"/>
                      <a:tailEnd type="none" w="med" len="med"/>
                    </a:lnL>
                    <a:lnR w="12700" cap="flat" cmpd="sng" algn="ctr">
                      <a:solidFill>
                        <a:srgbClr val="B0BCB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0BCB8"/>
                      </a:solidFill>
                      <a:prstDash val="solid"/>
                      <a:round/>
                      <a:headEnd type="none" w="med" len="med"/>
                      <a:tailEnd type="none" w="med" len="med"/>
                    </a:lnB>
                    <a:solidFill>
                      <a:srgbClr val="DCEBE7"/>
                    </a:solidFill>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a:t>
                      </a:r>
                      <a:endParaRPr lang="en-US" sz="1300" dirty="0">
                        <a:latin typeface="Archivo" charset="0"/>
                        <a:ea typeface="Archivo" charset="0"/>
                        <a:cs typeface="Archivo" charset="0"/>
                      </a:endParaRPr>
                    </a:p>
                  </a:txBody>
                  <a:tcPr marL="57785" marR="57785" marT="57785" marB="57785">
                    <a:lnL w="12700" cap="flat" cmpd="sng" algn="ctr">
                      <a:solidFill>
                        <a:srgbClr val="B0BCB8"/>
                      </a:solidFill>
                      <a:prstDash val="solid"/>
                      <a:round/>
                      <a:headEnd type="none" w="med" len="med"/>
                      <a:tailEnd type="none" w="med" len="med"/>
                    </a:lnL>
                    <a:lnR w="12700" cap="flat" cmpd="sng" algn="ctr">
                      <a:solidFill>
                        <a:srgbClr val="B0BCB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0BCB8"/>
                      </a:solidFill>
                      <a:prstDash val="solid"/>
                      <a:round/>
                      <a:headEnd type="none" w="med" len="med"/>
                      <a:tailEnd type="none" w="med" len="med"/>
                    </a:lnB>
                    <a:solidFill>
                      <a:srgbClr val="DCEBE7"/>
                    </a:solidFill>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0.875</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0BCB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72%</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0BCB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0BCB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0.900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65%</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3" name="Text 10"/>
          <p:cNvSpPr/>
          <p:nvPr/>
        </p:nvSpPr>
        <p:spPr>
          <a:xfrm>
            <a:off x="5384800" y="4174827"/>
            <a:ext cx="617423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Archivo" pitchFamily="34" charset="0"/>
                <a:ea typeface="Archivo" pitchFamily="34" charset="-122"/>
                <a:cs typeface="Archivo" pitchFamily="34" charset="-120"/>
              </a:rPr>
              <a:t>We chose the lowest threshold with zero mistakes of any kind. Near-ties fall back to the full pipeline instead of guessing.</a:t>
            </a:r>
            <a:endParaRPr lang="en-US" sz="1200" dirty="0"/>
          </a:p>
        </p:txBody>
      </p:sp>
      <p:sp>
        <p:nvSpPr>
          <p:cNvPr id="14" name="Text 11"/>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15" name="Text 12"/>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09 / 15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09 · RESULTS</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Measured against the problem statement's targets</a:t>
            </a:r>
            <a:endParaRPr lang="en-US" sz="3200" dirty="0"/>
          </a:p>
        </p:txBody>
      </p:sp>
      <p:sp>
        <p:nvSpPr>
          <p:cNvPr id="4" name="Shape 2"/>
          <p:cNvSpPr/>
          <p:nvPr/>
        </p:nvSpPr>
        <p:spPr>
          <a:xfrm>
            <a:off x="812800" y="1879501"/>
            <a:ext cx="10566400" cy="3605411"/>
          </a:xfrm>
          <a:prstGeom prst="rect">
            <a:avLst/>
          </a:prstGeom>
          <a:solidFill>
            <a:srgbClr val="FFFDF8"/>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92201"/>
          <a:ext cx="10553700" cy="3592710"/>
        </p:xfrm>
        <a:graphic>
          <a:graphicData uri="http://schemas.openxmlformats.org/drawingml/2006/table">
            <a:tbl>
              <a:tblPr/>
              <a:tblGrid>
                <a:gridCol w="6121146">
                  <a:extLst>
                    <a:ext uri="{9D8B030D-6E8A-4147-A177-3AD203B41FA5}">
                      <a16:colId xmlns:a16="http://schemas.microsoft.com/office/drawing/2014/main" val="20000"/>
                    </a:ext>
                  </a:extLst>
                </a:gridCol>
                <a:gridCol w="1899666">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Metric</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Target</a:t>
                      </a:r>
                      <a:endParaRPr lang="en-US" sz="1300" dirty="0">
                        <a:latin typeface="Archivo" charset="0"/>
                        <a:ea typeface="Archivo" charset="0"/>
                        <a:cs typeface="Archivo" charset="0"/>
                      </a:endParaRPr>
                    </a:p>
                  </a:txBody>
                  <a:tcPr marL="57785" marR="57785" marT="57785" marB="57785">
                    <a:lnL w="12700" cap="flat" cmpd="sng" algn="ctr">
                      <a:solidFill>
                        <a:srgbClr val="1B1A18"/>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Ours</a:t>
                      </a:r>
                      <a:endParaRPr lang="en-US" sz="1300" dirty="0">
                        <a:latin typeface="Archivo" charset="0"/>
                        <a:ea typeface="Archivo" charset="0"/>
                        <a:cs typeface="Archivo" charset="0"/>
                      </a:endParaRPr>
                    </a:p>
                  </a:txBody>
                  <a:tcPr marL="57785" marR="57785" marT="57785" marB="57785">
                    <a:lnL w="12700" cap="flat" cmpd="sng" algn="ctr">
                      <a:solidFill>
                        <a:srgbClr val="1B1A18"/>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Schema-valid outputs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 99%</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100% (20/20)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Absolute URL leaks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Deeplinks found in the catalog</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100%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100%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Auto actions with a deeplink</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 90%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100%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Cache hit P95, exact repeat (HTTP)</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 300 ms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5.6 ms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Cache hit P95, unseen paraphrase (HTTP)</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 300 ms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45.9 ms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6"/>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Unseen paraphrase hit rate</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 80%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86%</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Cold path P95, full pipeline</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 8 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[__ 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8"/>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Problems in 160 concurrent requests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0F766E"/>
                          </a:solidFill>
                          <a:latin typeface="Archivo" pitchFamily="34" charset="0"/>
                          <a:ea typeface="Archivo" pitchFamily="34" charset="-122"/>
                          <a:cs typeface="Archivo" pitchFamily="34" charset="-120"/>
                        </a:rPr>
                        <a:t>0</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6" name="Text 3"/>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7" name="Text 4"/>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10 / 15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10 · ABLATION</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Why the name gate matters</a:t>
            </a:r>
            <a:endParaRPr lang="en-US" sz="3200" dirty="0"/>
          </a:p>
        </p:txBody>
      </p:sp>
      <p:sp>
        <p:nvSpPr>
          <p:cNvPr id="4" name="Text 2"/>
          <p:cNvSpPr/>
          <p:nvPr/>
        </p:nvSpPr>
        <p:spPr>
          <a:xfrm>
            <a:off x="812800" y="1879501"/>
            <a:ext cx="3401060" cy="1041400"/>
          </a:xfrm>
          <a:prstGeom prst="rect">
            <a:avLst/>
          </a:prstGeom>
          <a:noFill/>
          <a:ln/>
        </p:spPr>
        <p:txBody>
          <a:bodyPr wrap="square" lIns="0" tIns="0" rIns="0" bIns="0" rtlCol="0" anchor="t">
            <a:normAutofit/>
          </a:bodyPr>
          <a:lstStyle/>
          <a:p>
            <a:pPr marL="0" indent="0" algn="l">
              <a:lnSpc>
                <a:spcPts val="8000"/>
              </a:lnSpc>
              <a:buNone/>
            </a:pPr>
            <a:r>
              <a:rPr lang="en-US" sz="8000" b="1" kern="0" spc="-200" dirty="0">
                <a:solidFill>
                  <a:srgbClr val="B91C1C"/>
                </a:solidFill>
                <a:latin typeface="Archivo" pitchFamily="34" charset="0"/>
                <a:ea typeface="Archivo" pitchFamily="34" charset="-122"/>
                <a:cs typeface="Archivo" pitchFamily="34" charset="-120"/>
              </a:rPr>
              <a:t>5 of 7</a:t>
            </a:r>
            <a:endParaRPr lang="en-US" sz="8000" dirty="0"/>
          </a:p>
        </p:txBody>
      </p:sp>
      <p:sp>
        <p:nvSpPr>
          <p:cNvPr id="5" name="Text 3"/>
          <p:cNvSpPr/>
          <p:nvPr/>
        </p:nvSpPr>
        <p:spPr>
          <a:xfrm>
            <a:off x="812800" y="3047901"/>
            <a:ext cx="34010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auto actions where plain top-1 retrieval chose a screen the steps never name.</a:t>
            </a:r>
            <a:endParaRPr lang="en-US" sz="1400" dirty="0"/>
          </a:p>
        </p:txBody>
      </p:sp>
      <p:sp>
        <p:nvSpPr>
          <p:cNvPr id="6" name="Shape 4"/>
          <p:cNvSpPr/>
          <p:nvPr/>
        </p:nvSpPr>
        <p:spPr>
          <a:xfrm>
            <a:off x="4622800" y="1879501"/>
            <a:ext cx="6756400" cy="2271216"/>
          </a:xfrm>
          <a:prstGeom prst="rect">
            <a:avLst/>
          </a:prstGeom>
          <a:solidFill>
            <a:srgbClr val="FFFDF8"/>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35500" y="1892201"/>
          <a:ext cx="6743700" cy="2258517"/>
        </p:xfrm>
        <a:graphic>
          <a:graphicData uri="http://schemas.openxmlformats.org/drawingml/2006/table">
            <a:tbl>
              <a:tblPr/>
              <a:tblGrid>
                <a:gridCol w="2967228">
                  <a:extLst>
                    <a:ext uri="{9D8B030D-6E8A-4147-A177-3AD203B41FA5}">
                      <a16:colId xmlns:a16="http://schemas.microsoft.com/office/drawing/2014/main" val="20000"/>
                    </a:ext>
                  </a:extLst>
                </a:gridCol>
                <a:gridCol w="3776472">
                  <a:extLst>
                    <a:ext uri="{9D8B030D-6E8A-4147-A177-3AD203B41FA5}">
                      <a16:colId xmlns:a16="http://schemas.microsoft.com/office/drawing/2014/main" val="20001"/>
                    </a:ext>
                  </a:extLst>
                </a:gridCol>
              </a:tblGrid>
              <a:tr h="359271">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Variant</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tc>
                  <a:txBody>
                    <a:bodyPr/>
                    <a:lstStyle/>
                    <a:p>
                      <a:pPr marL="0" indent="0">
                        <a:lnSpc>
                          <a:spcPts val="1820"/>
                        </a:lnSpc>
                        <a:buNone/>
                      </a:pPr>
                      <a:r>
                        <a:rPr lang="en-US" sz="1300" b="1" dirty="0">
                          <a:solidFill>
                            <a:srgbClr val="F4F1EA"/>
                          </a:solidFill>
                          <a:latin typeface="Archivo" pitchFamily="34" charset="0"/>
                          <a:ea typeface="Archivo" pitchFamily="34" charset="-122"/>
                          <a:cs typeface="Archivo" pitchFamily="34" charset="-120"/>
                        </a:rPr>
                        <a:t>Outcome</a:t>
                      </a:r>
                      <a:endParaRPr lang="en-US" sz="1300" dirty="0">
                        <a:latin typeface="Archivo" charset="0"/>
                        <a:ea typeface="Archivo" charset="0"/>
                        <a:cs typeface="Archivo" charset="0"/>
                      </a:endParaRPr>
                    </a:p>
                  </a:txBody>
                  <a:tcPr marL="57785" marR="57785" marT="57785" marB="57785">
                    <a:lnL w="12700" cap="flat" cmpd="sng" algn="ctr">
                      <a:solidFill>
                        <a:srgbClr val="1B1A18"/>
                      </a:solidFill>
                      <a:prstDash val="solid"/>
                      <a:round/>
                      <a:headEnd type="none" w="med" len="med"/>
                      <a:tailEnd type="none" w="med" len="med"/>
                    </a:lnL>
                    <a:lnR w="12700" cap="flat" cmpd="sng" algn="ctr">
                      <a:solidFill>
                        <a:srgbClr val="1B1A1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B1A18"/>
                      </a:solidFill>
                      <a:prstDash val="solid"/>
                      <a:round/>
                      <a:headEnd type="none" w="med" len="med"/>
                      <a:tailEnd type="none" w="med" len="med"/>
                    </a:lnB>
                    <a:solidFill>
                      <a:srgbClr val="1D1C1A"/>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Full LLM deeplink mapping</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Not used: masked URIs invite invented links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B1A1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1"/>
                  </a:ext>
                </a:extLst>
              </a:tr>
              <a:tr h="590352">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Hybrid retrieval, top-1 only</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Picks decoys such as Easy mode for Super steady mode</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2"/>
                  </a:ext>
                </a:extLst>
              </a:tr>
              <a:tr h="590352">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Hybrid retrieval + name gate (ours)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B0BCB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0BCB8"/>
                      </a:solidFill>
                      <a:prstDash val="solid"/>
                      <a:round/>
                      <a:headEnd type="none" w="med" len="med"/>
                      <a:tailEnd type="none" w="med" len="med"/>
                    </a:lnB>
                    <a:solidFill>
                      <a:srgbClr val="DCEBE7"/>
                    </a:solidFill>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Only exact screens; a labelled placeholder otherwise</a:t>
                      </a:r>
                      <a:endParaRPr lang="en-US" sz="1300" dirty="0">
                        <a:latin typeface="Archivo" charset="0"/>
                        <a:ea typeface="Archivo" charset="0"/>
                        <a:cs typeface="Archivo" charset="0"/>
                      </a:endParaRPr>
                    </a:p>
                  </a:txBody>
                  <a:tcPr marL="57785" marR="57785" marT="57785" marB="57785">
                    <a:lnL w="12700" cap="flat" cmpd="sng" algn="ctr">
                      <a:solidFill>
                        <a:srgbClr val="B0BCB8"/>
                      </a:solidFill>
                      <a:prstDash val="solid"/>
                      <a:round/>
                      <a:headEnd type="none" w="med" len="med"/>
                      <a:tailEnd type="none" w="med" len="med"/>
                    </a:lnL>
                    <a:lnR w="12700" cap="flat" cmpd="sng" algn="ctr">
                      <a:solidFill>
                        <a:srgbClr val="B0BCB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0BCB8"/>
                      </a:solidFill>
                      <a:prstDash val="solid"/>
                      <a:round/>
                      <a:headEnd type="none" w="med" len="med"/>
                      <a:tailEnd type="none" w="med" len="med"/>
                    </a:lnB>
                    <a:solidFill>
                      <a:srgbClr val="DCEBE7"/>
                    </a:solidFill>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Pure rules, offline</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0BCB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nSpc>
                          <a:spcPts val="1820"/>
                        </a:lnSpc>
                        <a:buNone/>
                      </a:pPr>
                      <a:r>
                        <a:rPr lang="en-US" sz="1300" dirty="0">
                          <a:solidFill>
                            <a:srgbClr val="1D1C1A"/>
                          </a:solidFill>
                          <a:latin typeface="Archivo" pitchFamily="34" charset="0"/>
                          <a:ea typeface="Archivo" pitchFamily="34" charset="-122"/>
                          <a:cs typeface="Archivo" pitchFamily="34" charset="-120"/>
                        </a:rPr>
                        <a:t>Free and deterministic, but coarse actions</a:t>
                      </a:r>
                      <a:endParaRPr lang="en-US" sz="1300" dirty="0">
                        <a:latin typeface="Archivo" charset="0"/>
                        <a:ea typeface="Archivo" charset="0"/>
                        <a:cs typeface="Archivo" charset="0"/>
                      </a:endParaRPr>
                    </a:p>
                  </a:txBody>
                  <a:tcPr marL="57785" marR="57785" marT="57785" marB="5778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0BCB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Text 5"/>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9" name="Text 6"/>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11 / 15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309"/>
                </a:solidFill>
                <a:latin typeface="JetBrains Mono" pitchFamily="34" charset="0"/>
                <a:ea typeface="JetBrains Mono" pitchFamily="34" charset="-122"/>
                <a:cs typeface="JetBrains Mono" pitchFamily="34" charset="-120"/>
              </a:rPr>
              <a:t>11 · FINDINGS</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What the data taught us</a:t>
            </a:r>
            <a:endParaRPr lang="en-US" sz="3200" dirty="0"/>
          </a:p>
        </p:txBody>
      </p:sp>
      <p:sp>
        <p:nvSpPr>
          <p:cNvPr id="4" name="Shape 2"/>
          <p:cNvSpPr/>
          <p:nvPr/>
        </p:nvSpPr>
        <p:spPr>
          <a:xfrm>
            <a:off x="815975" y="1882676"/>
            <a:ext cx="5200650" cy="948531"/>
          </a:xfrm>
          <a:prstGeom prst="roundRect">
            <a:avLst>
              <a:gd name="adj" fmla="val 5021"/>
            </a:avLst>
          </a:prstGeom>
          <a:solidFill>
            <a:srgbClr val="FFFDF8"/>
          </a:solidFill>
          <a:ln w="6350">
            <a:solidFill>
              <a:srgbClr val="D6D0C3"/>
            </a:solidFill>
            <a:prstDash val="solid"/>
          </a:ln>
        </p:spPr>
      </p:sp>
      <p:sp>
        <p:nvSpPr>
          <p:cNvPr id="5" name="Text 3"/>
          <p:cNvSpPr/>
          <p:nvPr/>
        </p:nvSpPr>
        <p:spPr>
          <a:xfrm>
            <a:off x="1047750" y="2063651"/>
            <a:ext cx="4879213"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Samples break the rules</a:t>
            </a:r>
            <a:endParaRPr lang="en-US" sz="1800" dirty="0"/>
          </a:p>
        </p:txBody>
      </p:sp>
      <p:sp>
        <p:nvSpPr>
          <p:cNvPr id="6" name="Text 4"/>
          <p:cNvSpPr/>
          <p:nvPr/>
        </p:nvSpPr>
        <p:spPr>
          <a:xfrm>
            <a:off x="1047750" y="2401391"/>
            <a:ext cx="487921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9- and 12-word descriptions; bixby:// vs voiceassist://.</a:t>
            </a:r>
            <a:endParaRPr lang="en-US" sz="1400" dirty="0"/>
          </a:p>
        </p:txBody>
      </p:sp>
      <p:sp>
        <p:nvSpPr>
          <p:cNvPr id="7" name="Shape 5"/>
          <p:cNvSpPr/>
          <p:nvPr/>
        </p:nvSpPr>
        <p:spPr>
          <a:xfrm>
            <a:off x="6175375" y="1882676"/>
            <a:ext cx="5200650" cy="948531"/>
          </a:xfrm>
          <a:prstGeom prst="roundRect">
            <a:avLst>
              <a:gd name="adj" fmla="val 5021"/>
            </a:avLst>
          </a:prstGeom>
          <a:solidFill>
            <a:srgbClr val="FFFDF8"/>
          </a:solidFill>
          <a:ln w="6350">
            <a:solidFill>
              <a:srgbClr val="D6D0C3"/>
            </a:solidFill>
            <a:prstDash val="solid"/>
          </a:ln>
        </p:spPr>
      </p:sp>
      <p:sp>
        <p:nvSpPr>
          <p:cNvPr id="8" name="Text 6"/>
          <p:cNvSpPr/>
          <p:nvPr/>
        </p:nvSpPr>
        <p:spPr>
          <a:xfrm>
            <a:off x="6407150" y="2063651"/>
            <a:ext cx="4879213"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Mismatched articles</a:t>
            </a:r>
            <a:endParaRPr lang="en-US" sz="1800" dirty="0"/>
          </a:p>
        </p:txBody>
      </p:sp>
      <p:sp>
        <p:nvSpPr>
          <p:cNvPr id="9" name="Text 7"/>
          <p:cNvSpPr/>
          <p:nvPr/>
        </p:nvSpPr>
        <p:spPr>
          <a:xfrm>
            <a:off x="6407150" y="2401391"/>
            <a:ext cx="487921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3 complaints got unrelated articles: honest no_match.</a:t>
            </a:r>
            <a:endParaRPr lang="en-US" sz="1400" dirty="0"/>
          </a:p>
        </p:txBody>
      </p:sp>
      <p:sp>
        <p:nvSpPr>
          <p:cNvPr id="10" name="Shape 8"/>
          <p:cNvSpPr/>
          <p:nvPr/>
        </p:nvSpPr>
        <p:spPr>
          <a:xfrm>
            <a:off x="815975" y="2989957"/>
            <a:ext cx="5200650" cy="1197372"/>
          </a:xfrm>
          <a:prstGeom prst="roundRect">
            <a:avLst>
              <a:gd name="adj" fmla="val 3977"/>
            </a:avLst>
          </a:prstGeom>
          <a:solidFill>
            <a:srgbClr val="FFFDF8"/>
          </a:solidFill>
          <a:ln w="6350">
            <a:solidFill>
              <a:srgbClr val="D6D0C3"/>
            </a:solidFill>
            <a:prstDash val="solid"/>
          </a:ln>
        </p:spPr>
      </p:sp>
      <p:sp>
        <p:nvSpPr>
          <p:cNvPr id="11" name="Text 9"/>
          <p:cNvSpPr/>
          <p:nvPr/>
        </p:nvSpPr>
        <p:spPr>
          <a:xfrm>
            <a:off x="1047750" y="3170932"/>
            <a:ext cx="4879213"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LLM output varies</a:t>
            </a:r>
            <a:endParaRPr lang="en-US" sz="1800" dirty="0"/>
          </a:p>
        </p:txBody>
      </p:sp>
      <p:sp>
        <p:nvSpPr>
          <p:cNvPr id="12" name="Text 10"/>
          <p:cNvSpPr/>
          <p:nvPr/>
        </p:nvSpPr>
        <p:spPr>
          <a:xfrm>
            <a:off x="1047750" y="3508673"/>
            <a:ext cx="487921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Even at temperature 0; the cache makes repeats identical.</a:t>
            </a:r>
            <a:endParaRPr lang="en-US" sz="1400" dirty="0"/>
          </a:p>
        </p:txBody>
      </p:sp>
      <p:sp>
        <p:nvSpPr>
          <p:cNvPr id="13" name="Shape 11"/>
          <p:cNvSpPr/>
          <p:nvPr/>
        </p:nvSpPr>
        <p:spPr>
          <a:xfrm>
            <a:off x="6175375" y="2989957"/>
            <a:ext cx="5200650" cy="1197372"/>
          </a:xfrm>
          <a:prstGeom prst="roundRect">
            <a:avLst>
              <a:gd name="adj" fmla="val 3977"/>
            </a:avLst>
          </a:prstGeom>
          <a:solidFill>
            <a:srgbClr val="FFFDF8"/>
          </a:solidFill>
          <a:ln w="6350">
            <a:solidFill>
              <a:srgbClr val="D6D0C3"/>
            </a:solidFill>
            <a:prstDash val="solid"/>
          </a:ln>
        </p:spPr>
      </p:sp>
      <p:sp>
        <p:nvSpPr>
          <p:cNvPr id="14" name="Text 12"/>
          <p:cNvSpPr/>
          <p:nvPr/>
        </p:nvSpPr>
        <p:spPr>
          <a:xfrm>
            <a:off x="6407150" y="3170932"/>
            <a:ext cx="4879213"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Catalog decoys</a:t>
            </a:r>
            <a:endParaRPr lang="en-US" sz="1800" dirty="0"/>
          </a:p>
        </p:txBody>
      </p:sp>
      <p:sp>
        <p:nvSpPr>
          <p:cNvPr id="15" name="Text 13"/>
          <p:cNvSpPr/>
          <p:nvPr/>
        </p:nvSpPr>
        <p:spPr>
          <a:xfrm>
            <a:off x="6407150" y="3508673"/>
            <a:ext cx="4879213"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Look-alike names and misleading messages; we match the key.</a:t>
            </a:r>
            <a:endParaRPr lang="en-US" sz="1400" dirty="0"/>
          </a:p>
        </p:txBody>
      </p:sp>
      <p:sp>
        <p:nvSpPr>
          <p:cNvPr id="16" name="Shape 14"/>
          <p:cNvSpPr/>
          <p:nvPr/>
        </p:nvSpPr>
        <p:spPr>
          <a:xfrm>
            <a:off x="815975" y="4346079"/>
            <a:ext cx="5200650" cy="948531"/>
          </a:xfrm>
          <a:prstGeom prst="roundRect">
            <a:avLst>
              <a:gd name="adj" fmla="val 5021"/>
            </a:avLst>
          </a:prstGeom>
          <a:solidFill>
            <a:srgbClr val="FFFDF8"/>
          </a:solidFill>
          <a:ln w="6350">
            <a:solidFill>
              <a:srgbClr val="D6D0C3"/>
            </a:solidFill>
            <a:prstDash val="solid"/>
          </a:ln>
        </p:spPr>
      </p:sp>
      <p:sp>
        <p:nvSpPr>
          <p:cNvPr id="17" name="Text 15"/>
          <p:cNvSpPr/>
          <p:nvPr/>
        </p:nvSpPr>
        <p:spPr>
          <a:xfrm>
            <a:off x="1047750" y="4527054"/>
            <a:ext cx="4879213"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Non-phone entries</a:t>
            </a:r>
            <a:endParaRPr lang="en-US" sz="1800" dirty="0"/>
          </a:p>
        </p:txBody>
      </p:sp>
      <p:sp>
        <p:nvSpPr>
          <p:cNvPr id="18" name="Text 16"/>
          <p:cNvSpPr/>
          <p:nvPr/>
        </p:nvSpPr>
        <p:spPr>
          <a:xfrm>
            <a:off x="1047750" y="4864795"/>
            <a:ext cx="487921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TV, fridge and air-conditioner links filtered out.</a:t>
            </a:r>
            <a:endParaRPr lang="en-US" sz="1400" dirty="0"/>
          </a:p>
        </p:txBody>
      </p:sp>
      <p:sp>
        <p:nvSpPr>
          <p:cNvPr id="19" name="Shape 17"/>
          <p:cNvSpPr/>
          <p:nvPr/>
        </p:nvSpPr>
        <p:spPr>
          <a:xfrm>
            <a:off x="6175375" y="4346079"/>
            <a:ext cx="5200650" cy="948531"/>
          </a:xfrm>
          <a:prstGeom prst="roundRect">
            <a:avLst>
              <a:gd name="adj" fmla="val 5021"/>
            </a:avLst>
          </a:prstGeom>
          <a:solidFill>
            <a:srgbClr val="FFFDF8"/>
          </a:solidFill>
          <a:ln w="6350">
            <a:solidFill>
              <a:srgbClr val="D6D0C3"/>
            </a:solidFill>
            <a:prstDash val="solid"/>
          </a:ln>
        </p:spPr>
      </p:sp>
      <p:sp>
        <p:nvSpPr>
          <p:cNvPr id="20" name="Text 18"/>
          <p:cNvSpPr/>
          <p:nvPr/>
        </p:nvSpPr>
        <p:spPr>
          <a:xfrm>
            <a:off x="6407150" y="4527054"/>
            <a:ext cx="4879213"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Free-tier limits</a:t>
            </a:r>
            <a:endParaRPr lang="en-US" sz="1800" dirty="0"/>
          </a:p>
        </p:txBody>
      </p:sp>
      <p:sp>
        <p:nvSpPr>
          <p:cNvPr id="21" name="Text 19"/>
          <p:cNvSpPr/>
          <p:nvPr/>
        </p:nvSpPr>
        <p:spPr>
          <a:xfrm>
            <a:off x="6407150" y="4864795"/>
            <a:ext cx="4879213"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Cold runs are paced; failed calls are never timed.</a:t>
            </a:r>
            <a:endParaRPr lang="en-US" sz="1400" dirty="0"/>
          </a:p>
        </p:txBody>
      </p:sp>
      <p:sp>
        <p:nvSpPr>
          <p:cNvPr id="22" name="Text 20"/>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23" name="Text 21"/>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12 / 15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12 · IN REAL LIFE</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Behind the support app, on every phone</a:t>
            </a:r>
            <a:endParaRPr lang="en-US" sz="3200" dirty="0"/>
          </a:p>
        </p:txBody>
      </p:sp>
      <p:sp>
        <p:nvSpPr>
          <p:cNvPr id="4" name="Shape 2"/>
          <p:cNvSpPr/>
          <p:nvPr/>
        </p:nvSpPr>
        <p:spPr>
          <a:xfrm>
            <a:off x="815975" y="1882676"/>
            <a:ext cx="1781770" cy="1677591"/>
          </a:xfrm>
          <a:prstGeom prst="roundRect">
            <a:avLst>
              <a:gd name="adj" fmla="val 2839"/>
            </a:avLst>
          </a:prstGeom>
          <a:solidFill>
            <a:srgbClr val="FFFDF8"/>
          </a:solidFill>
          <a:ln w="6350">
            <a:solidFill>
              <a:srgbClr val="D6D0C3"/>
            </a:solidFill>
            <a:prstDash val="solid"/>
          </a:ln>
        </p:spPr>
      </p:sp>
      <p:sp>
        <p:nvSpPr>
          <p:cNvPr id="5" name="Text 3"/>
          <p:cNvSpPr/>
          <p:nvPr/>
        </p:nvSpPr>
        <p:spPr>
          <a:xfrm>
            <a:off x="996950" y="2083991"/>
            <a:ext cx="23375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F766E"/>
                </a:solidFill>
                <a:latin typeface="JetBrains Mono" pitchFamily="34" charset="0"/>
                <a:ea typeface="JetBrains Mono" pitchFamily="34" charset="-122"/>
                <a:cs typeface="JetBrains Mono" pitchFamily="34" charset="-120"/>
              </a:rPr>
              <a:t>01</a:t>
            </a:r>
            <a:endParaRPr lang="en-US" sz="1200" dirty="0"/>
          </a:p>
        </p:txBody>
      </p:sp>
      <p:pic>
        <p:nvPicPr>
          <p:cNvPr id="6" name="Image 0" descr="Chat"/>
          <p:cNvPicPr>
            <a:picLocks noChangeAspect="1"/>
          </p:cNvPicPr>
          <p:nvPr/>
        </p:nvPicPr>
        <p:blipFill>
          <a:blip r:embed="rId3"/>
          <a:srcRect/>
          <a:stretch/>
        </p:blipFill>
        <p:spPr>
          <a:xfrm>
            <a:off x="2162770" y="2063651"/>
            <a:ext cx="254000" cy="254000"/>
          </a:xfrm>
          <a:prstGeom prst="rect">
            <a:avLst/>
          </a:prstGeom>
        </p:spPr>
      </p:pic>
      <p:sp>
        <p:nvSpPr>
          <p:cNvPr id="7" name="Text 4"/>
          <p:cNvSpPr/>
          <p:nvPr/>
        </p:nvSpPr>
        <p:spPr>
          <a:xfrm>
            <a:off x="996950" y="2419251"/>
            <a:ext cx="1470620" cy="985441"/>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D1C1A"/>
                </a:solidFill>
                <a:latin typeface="Archivo" pitchFamily="34" charset="0"/>
                <a:ea typeface="Archivo" pitchFamily="34" charset="-122"/>
                <a:cs typeface="Archivo" pitchFamily="34" charset="-120"/>
              </a:rPr>
              <a:t>Customer describes the problem in their own words</a:t>
            </a:r>
            <a:endParaRPr lang="en-US" sz="1400" dirty="0"/>
          </a:p>
        </p:txBody>
      </p:sp>
      <p:pic>
        <p:nvPicPr>
          <p:cNvPr id="8" name="Image 1" descr="arrow-right"/>
          <p:cNvPicPr>
            <a:picLocks noChangeAspect="1"/>
          </p:cNvPicPr>
          <p:nvPr/>
        </p:nvPicPr>
        <p:blipFill>
          <a:blip r:embed="rId4"/>
          <a:srcRect/>
          <a:stretch/>
        </p:blipFill>
        <p:spPr>
          <a:xfrm>
            <a:off x="2677120" y="2657971"/>
            <a:ext cx="254000" cy="127000"/>
          </a:xfrm>
          <a:prstGeom prst="rect">
            <a:avLst/>
          </a:prstGeom>
        </p:spPr>
      </p:pic>
      <p:sp>
        <p:nvSpPr>
          <p:cNvPr id="9" name="Shape 5"/>
          <p:cNvSpPr/>
          <p:nvPr/>
        </p:nvSpPr>
        <p:spPr>
          <a:xfrm>
            <a:off x="3010495" y="1882676"/>
            <a:ext cx="1781870" cy="1677591"/>
          </a:xfrm>
          <a:prstGeom prst="roundRect">
            <a:avLst>
              <a:gd name="adj" fmla="val 2839"/>
            </a:avLst>
          </a:prstGeom>
          <a:solidFill>
            <a:srgbClr val="FFFDF8"/>
          </a:solidFill>
          <a:ln w="6350">
            <a:solidFill>
              <a:srgbClr val="D6D0C3"/>
            </a:solidFill>
            <a:prstDash val="solid"/>
          </a:ln>
        </p:spPr>
      </p:sp>
      <p:sp>
        <p:nvSpPr>
          <p:cNvPr id="10" name="Text 6"/>
          <p:cNvSpPr/>
          <p:nvPr/>
        </p:nvSpPr>
        <p:spPr>
          <a:xfrm>
            <a:off x="3191470" y="2083991"/>
            <a:ext cx="23375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F766E"/>
                </a:solidFill>
                <a:latin typeface="JetBrains Mono" pitchFamily="34" charset="0"/>
                <a:ea typeface="JetBrains Mono" pitchFamily="34" charset="-122"/>
                <a:cs typeface="JetBrains Mono" pitchFamily="34" charset="-120"/>
              </a:rPr>
              <a:t>02</a:t>
            </a:r>
            <a:endParaRPr lang="en-US" sz="1200" dirty="0"/>
          </a:p>
        </p:txBody>
      </p:sp>
      <p:pic>
        <p:nvPicPr>
          <p:cNvPr id="11" name="Image 2" descr="Lightning"/>
          <p:cNvPicPr>
            <a:picLocks noChangeAspect="1"/>
          </p:cNvPicPr>
          <p:nvPr/>
        </p:nvPicPr>
        <p:blipFill>
          <a:blip r:embed="rId5"/>
          <a:srcRect/>
          <a:stretch/>
        </p:blipFill>
        <p:spPr>
          <a:xfrm>
            <a:off x="4357390" y="2063651"/>
            <a:ext cx="254000" cy="254000"/>
          </a:xfrm>
          <a:prstGeom prst="rect">
            <a:avLst/>
          </a:prstGeom>
        </p:spPr>
      </p:pic>
      <p:sp>
        <p:nvSpPr>
          <p:cNvPr id="12" name="Text 7"/>
          <p:cNvSpPr/>
          <p:nvPr/>
        </p:nvSpPr>
        <p:spPr>
          <a:xfrm>
            <a:off x="3191470" y="2419251"/>
            <a:ext cx="1470720" cy="985441"/>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D1C1A"/>
                </a:solidFill>
                <a:latin typeface="Archivo" pitchFamily="34" charset="0"/>
                <a:ea typeface="Archivo" pitchFamily="34" charset="-122"/>
                <a:cs typeface="Archivo" pitchFamily="34" charset="-120"/>
              </a:rPr>
              <a:t>The app calls /v1/troubleshoot; repeats return in milliseconds</a:t>
            </a:r>
            <a:endParaRPr lang="en-US" sz="1400" dirty="0"/>
          </a:p>
        </p:txBody>
      </p:sp>
      <p:pic>
        <p:nvPicPr>
          <p:cNvPr id="13" name="Image 3" descr="arrow-right"/>
          <p:cNvPicPr>
            <a:picLocks noChangeAspect="1"/>
          </p:cNvPicPr>
          <p:nvPr/>
        </p:nvPicPr>
        <p:blipFill>
          <a:blip r:embed="rId4"/>
          <a:srcRect/>
          <a:stretch/>
        </p:blipFill>
        <p:spPr>
          <a:xfrm>
            <a:off x="4871740" y="2657971"/>
            <a:ext cx="254000" cy="127000"/>
          </a:xfrm>
          <a:prstGeom prst="rect">
            <a:avLst/>
          </a:prstGeom>
        </p:spPr>
      </p:pic>
      <p:sp>
        <p:nvSpPr>
          <p:cNvPr id="14" name="Shape 8"/>
          <p:cNvSpPr/>
          <p:nvPr/>
        </p:nvSpPr>
        <p:spPr>
          <a:xfrm>
            <a:off x="5205115" y="1882676"/>
            <a:ext cx="1781770" cy="1677591"/>
          </a:xfrm>
          <a:prstGeom prst="roundRect">
            <a:avLst>
              <a:gd name="adj" fmla="val 2839"/>
            </a:avLst>
          </a:prstGeom>
          <a:solidFill>
            <a:srgbClr val="FFFDF8"/>
          </a:solidFill>
          <a:ln w="6350">
            <a:solidFill>
              <a:srgbClr val="D6D0C3"/>
            </a:solidFill>
            <a:prstDash val="solid"/>
          </a:ln>
        </p:spPr>
      </p:sp>
      <p:sp>
        <p:nvSpPr>
          <p:cNvPr id="15" name="Text 9"/>
          <p:cNvSpPr/>
          <p:nvPr/>
        </p:nvSpPr>
        <p:spPr>
          <a:xfrm>
            <a:off x="5386090" y="2083991"/>
            <a:ext cx="23375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F766E"/>
                </a:solidFill>
                <a:latin typeface="JetBrains Mono" pitchFamily="34" charset="0"/>
                <a:ea typeface="JetBrains Mono" pitchFamily="34" charset="-122"/>
                <a:cs typeface="JetBrains Mono" pitchFamily="34" charset="-120"/>
              </a:rPr>
              <a:t>03</a:t>
            </a:r>
            <a:endParaRPr lang="en-US" sz="1200" dirty="0"/>
          </a:p>
        </p:txBody>
      </p:sp>
      <p:pic>
        <p:nvPicPr>
          <p:cNvPr id="16" name="Image 4" descr="CheckCircle"/>
          <p:cNvPicPr>
            <a:picLocks noChangeAspect="1"/>
          </p:cNvPicPr>
          <p:nvPr/>
        </p:nvPicPr>
        <p:blipFill>
          <a:blip r:embed="rId6"/>
          <a:srcRect/>
          <a:stretch/>
        </p:blipFill>
        <p:spPr>
          <a:xfrm>
            <a:off x="6551910" y="2063651"/>
            <a:ext cx="254000" cy="254000"/>
          </a:xfrm>
          <a:prstGeom prst="rect">
            <a:avLst/>
          </a:prstGeom>
        </p:spPr>
      </p:pic>
      <p:sp>
        <p:nvSpPr>
          <p:cNvPr id="17" name="Text 10"/>
          <p:cNvSpPr/>
          <p:nvPr/>
        </p:nvSpPr>
        <p:spPr>
          <a:xfrm>
            <a:off x="5386090" y="2419251"/>
            <a:ext cx="1470620"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D1C1A"/>
                </a:solidFill>
                <a:latin typeface="Archivo" pitchFamily="34" charset="0"/>
                <a:ea typeface="Archivo" pitchFamily="34" charset="-122"/>
                <a:cs typeface="Archivo" pitchFamily="34" charset="-120"/>
              </a:rPr>
              <a:t>The plan appears as a checklist, safest steps first</a:t>
            </a:r>
            <a:endParaRPr lang="en-US" sz="1400" dirty="0"/>
          </a:p>
        </p:txBody>
      </p:sp>
      <p:pic>
        <p:nvPicPr>
          <p:cNvPr id="18" name="Image 5" descr="arrow-right"/>
          <p:cNvPicPr>
            <a:picLocks noChangeAspect="1"/>
          </p:cNvPicPr>
          <p:nvPr/>
        </p:nvPicPr>
        <p:blipFill>
          <a:blip r:embed="rId4"/>
          <a:srcRect/>
          <a:stretch/>
        </p:blipFill>
        <p:spPr>
          <a:xfrm>
            <a:off x="7066260" y="2657971"/>
            <a:ext cx="254000" cy="127000"/>
          </a:xfrm>
          <a:prstGeom prst="rect">
            <a:avLst/>
          </a:prstGeom>
        </p:spPr>
      </p:pic>
      <p:sp>
        <p:nvSpPr>
          <p:cNvPr id="19" name="Shape 11"/>
          <p:cNvSpPr/>
          <p:nvPr/>
        </p:nvSpPr>
        <p:spPr>
          <a:xfrm>
            <a:off x="7399635" y="1882676"/>
            <a:ext cx="1781870" cy="1677591"/>
          </a:xfrm>
          <a:prstGeom prst="roundRect">
            <a:avLst>
              <a:gd name="adj" fmla="val 2839"/>
            </a:avLst>
          </a:prstGeom>
          <a:solidFill>
            <a:srgbClr val="FFFDF8"/>
          </a:solidFill>
          <a:ln w="6350">
            <a:solidFill>
              <a:srgbClr val="D6D0C3"/>
            </a:solidFill>
            <a:prstDash val="solid"/>
          </a:ln>
        </p:spPr>
      </p:sp>
      <p:sp>
        <p:nvSpPr>
          <p:cNvPr id="20" name="Text 12"/>
          <p:cNvSpPr/>
          <p:nvPr/>
        </p:nvSpPr>
        <p:spPr>
          <a:xfrm>
            <a:off x="7580610" y="2083991"/>
            <a:ext cx="23375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F766E"/>
                </a:solidFill>
                <a:latin typeface="JetBrains Mono" pitchFamily="34" charset="0"/>
                <a:ea typeface="JetBrains Mono" pitchFamily="34" charset="-122"/>
                <a:cs typeface="JetBrains Mono" pitchFamily="34" charset="-120"/>
              </a:rPr>
              <a:t>04</a:t>
            </a:r>
            <a:endParaRPr lang="en-US" sz="1200" dirty="0"/>
          </a:p>
        </p:txBody>
      </p:sp>
      <p:pic>
        <p:nvPicPr>
          <p:cNvPr id="21" name="Image 6" descr="Link"/>
          <p:cNvPicPr>
            <a:picLocks noChangeAspect="1"/>
          </p:cNvPicPr>
          <p:nvPr/>
        </p:nvPicPr>
        <p:blipFill>
          <a:blip r:embed="rId7"/>
          <a:srcRect/>
          <a:stretch/>
        </p:blipFill>
        <p:spPr>
          <a:xfrm>
            <a:off x="8746530" y="2063651"/>
            <a:ext cx="254000" cy="254000"/>
          </a:xfrm>
          <a:prstGeom prst="rect">
            <a:avLst/>
          </a:prstGeom>
        </p:spPr>
      </p:pic>
      <p:sp>
        <p:nvSpPr>
          <p:cNvPr id="22" name="Text 13"/>
          <p:cNvSpPr/>
          <p:nvPr/>
        </p:nvSpPr>
        <p:spPr>
          <a:xfrm>
            <a:off x="7580610" y="2419251"/>
            <a:ext cx="1470720"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D1C1A"/>
                </a:solidFill>
                <a:latin typeface="Archivo" pitchFamily="34" charset="0"/>
                <a:ea typeface="Archivo" pitchFamily="34" charset="-122"/>
                <a:cs typeface="Archivo" pitchFamily="34" charset="-120"/>
              </a:rPr>
              <a:t>One tap opens the exact Settings screen</a:t>
            </a:r>
            <a:endParaRPr lang="en-US" sz="1400" dirty="0"/>
          </a:p>
        </p:txBody>
      </p:sp>
      <p:pic>
        <p:nvPicPr>
          <p:cNvPr id="23" name="Image 7" descr="arrow-right"/>
          <p:cNvPicPr>
            <a:picLocks noChangeAspect="1"/>
          </p:cNvPicPr>
          <p:nvPr/>
        </p:nvPicPr>
        <p:blipFill>
          <a:blip r:embed="rId4"/>
          <a:srcRect/>
          <a:stretch/>
        </p:blipFill>
        <p:spPr>
          <a:xfrm>
            <a:off x="9260880" y="2657971"/>
            <a:ext cx="254000" cy="127000"/>
          </a:xfrm>
          <a:prstGeom prst="rect">
            <a:avLst/>
          </a:prstGeom>
        </p:spPr>
      </p:pic>
      <p:sp>
        <p:nvSpPr>
          <p:cNvPr id="24" name="Shape 14"/>
          <p:cNvSpPr/>
          <p:nvPr/>
        </p:nvSpPr>
        <p:spPr>
          <a:xfrm>
            <a:off x="9594255" y="1882676"/>
            <a:ext cx="1781770" cy="1677591"/>
          </a:xfrm>
          <a:prstGeom prst="roundRect">
            <a:avLst>
              <a:gd name="adj" fmla="val 2839"/>
            </a:avLst>
          </a:prstGeom>
          <a:solidFill>
            <a:srgbClr val="FFFDF8"/>
          </a:solidFill>
          <a:ln w="6350">
            <a:solidFill>
              <a:srgbClr val="D6D0C3"/>
            </a:solidFill>
            <a:prstDash val="solid"/>
          </a:ln>
        </p:spPr>
      </p:sp>
      <p:sp>
        <p:nvSpPr>
          <p:cNvPr id="25" name="Text 15"/>
          <p:cNvSpPr/>
          <p:nvPr/>
        </p:nvSpPr>
        <p:spPr>
          <a:xfrm>
            <a:off x="9775230" y="2083991"/>
            <a:ext cx="23375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F766E"/>
                </a:solidFill>
                <a:latin typeface="JetBrains Mono" pitchFamily="34" charset="0"/>
                <a:ea typeface="JetBrains Mono" pitchFamily="34" charset="-122"/>
                <a:cs typeface="JetBrains Mono" pitchFamily="34" charset="-120"/>
              </a:rPr>
              <a:t>05</a:t>
            </a:r>
            <a:endParaRPr lang="en-US" sz="1200" dirty="0"/>
          </a:p>
        </p:txBody>
      </p:sp>
      <p:pic>
        <p:nvPicPr>
          <p:cNvPr id="26" name="Image 8" descr="Verified"/>
          <p:cNvPicPr>
            <a:picLocks noChangeAspect="1"/>
          </p:cNvPicPr>
          <p:nvPr/>
        </p:nvPicPr>
        <p:blipFill>
          <a:blip r:embed="rId8"/>
          <a:srcRect/>
          <a:stretch/>
        </p:blipFill>
        <p:spPr>
          <a:xfrm>
            <a:off x="10941050" y="2063651"/>
            <a:ext cx="254000" cy="254000"/>
          </a:xfrm>
          <a:prstGeom prst="rect">
            <a:avLst/>
          </a:prstGeom>
        </p:spPr>
      </p:pic>
      <p:sp>
        <p:nvSpPr>
          <p:cNvPr id="27" name="Text 16"/>
          <p:cNvSpPr/>
          <p:nvPr/>
        </p:nvSpPr>
        <p:spPr>
          <a:xfrm>
            <a:off x="9775230" y="2419251"/>
            <a:ext cx="1470620"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D1C1A"/>
                </a:solidFill>
                <a:latin typeface="Archivo" pitchFamily="34" charset="0"/>
                <a:ea typeface="Archivo" pitchFamily="34" charset="-122"/>
                <a:cs typeface="Archivo" pitchFamily="34" charset="-120"/>
              </a:rPr>
              <a:t>A validation link confirms the setting changed</a:t>
            </a:r>
            <a:endParaRPr lang="en-US" sz="1400" dirty="0"/>
          </a:p>
        </p:txBody>
      </p:sp>
      <p:sp>
        <p:nvSpPr>
          <p:cNvPr id="28" name="Text 17"/>
          <p:cNvSpPr/>
          <p:nvPr/>
        </p:nvSpPr>
        <p:spPr>
          <a:xfrm>
            <a:off x="812800" y="3868241"/>
            <a:ext cx="981075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Agents are freed from routine cases, customers get consistent help at any hour, and cost stays near zero because repeats never reach the LLM.</a:t>
            </a:r>
            <a:endParaRPr lang="en-US" sz="1400" dirty="0"/>
          </a:p>
        </p:txBody>
      </p:sp>
      <p:sp>
        <p:nvSpPr>
          <p:cNvPr id="29" name="Text 18"/>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30" name="Text 19"/>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13 / 15</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0F766E"/>
                </a:solidFill>
                <a:latin typeface="JetBrains Mono" pitchFamily="34" charset="0"/>
                <a:ea typeface="JetBrains Mono" pitchFamily="34" charset="-122"/>
                <a:cs typeface="JetBrains Mono" pitchFamily="34" charset="-120"/>
              </a:rPr>
              <a:t>13 · NEXT STEPS</a:t>
            </a:r>
            <a:endParaRPr lang="en-US" sz="1200" dirty="0"/>
          </a:p>
        </p:txBody>
      </p:sp>
      <p:sp>
        <p:nvSpPr>
          <p:cNvPr id="3" name="Text 1"/>
          <p:cNvSpPr/>
          <p:nvPr/>
        </p:nvSpPr>
        <p:spPr>
          <a:xfrm>
            <a:off x="812800" y="112772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kern="0" spc="-50" dirty="0">
                <a:solidFill>
                  <a:srgbClr val="1D1C1A"/>
                </a:solidFill>
                <a:latin typeface="Archivo" pitchFamily="34" charset="0"/>
                <a:ea typeface="Archivo" pitchFamily="34" charset="-122"/>
                <a:cs typeface="Archivo" pitchFamily="34" charset="-120"/>
              </a:rPr>
              <a:t>What we would build next</a:t>
            </a:r>
            <a:endParaRPr lang="en-US" sz="3200" dirty="0"/>
          </a:p>
        </p:txBody>
      </p:sp>
      <p:sp>
        <p:nvSpPr>
          <p:cNvPr id="4" name="Shape 2"/>
          <p:cNvSpPr/>
          <p:nvPr/>
        </p:nvSpPr>
        <p:spPr>
          <a:xfrm>
            <a:off x="815975" y="1882676"/>
            <a:ext cx="5175250" cy="1418431"/>
          </a:xfrm>
          <a:prstGeom prst="roundRect">
            <a:avLst>
              <a:gd name="adj" fmla="val 3358"/>
            </a:avLst>
          </a:prstGeom>
          <a:solidFill>
            <a:srgbClr val="FFFDF8"/>
          </a:solidFill>
          <a:ln w="6350">
            <a:solidFill>
              <a:srgbClr val="D6D0C3"/>
            </a:solidFill>
            <a:prstDash val="solid"/>
          </a:ln>
        </p:spPr>
      </p:sp>
      <p:pic>
        <p:nvPicPr>
          <p:cNvPr id="5" name="Image 0" descr="Search"/>
          <p:cNvPicPr>
            <a:picLocks noChangeAspect="1"/>
          </p:cNvPicPr>
          <p:nvPr/>
        </p:nvPicPr>
        <p:blipFill>
          <a:blip r:embed="rId3"/>
          <a:srcRect/>
          <a:stretch/>
        </p:blipFill>
        <p:spPr>
          <a:xfrm>
            <a:off x="1073150" y="2139851"/>
            <a:ext cx="304800" cy="304800"/>
          </a:xfrm>
          <a:prstGeom prst="rect">
            <a:avLst/>
          </a:prstGeom>
        </p:spPr>
      </p:pic>
      <p:sp>
        <p:nvSpPr>
          <p:cNvPr id="6" name="Text 3"/>
          <p:cNvSpPr/>
          <p:nvPr/>
        </p:nvSpPr>
        <p:spPr>
          <a:xfrm>
            <a:off x="1504950" y="2155130"/>
            <a:ext cx="203654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Full RAG over SIIS</a:t>
            </a:r>
            <a:endParaRPr lang="en-US" sz="1800" dirty="0"/>
          </a:p>
        </p:txBody>
      </p:sp>
      <p:sp>
        <p:nvSpPr>
          <p:cNvPr id="7" name="Text 4"/>
          <p:cNvSpPr/>
          <p:nvPr/>
        </p:nvSpPr>
        <p:spPr>
          <a:xfrm>
            <a:off x="1073150" y="2546251"/>
            <a:ext cx="4800727"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Retrieve the right article automatically, which also fixes mismatched pairs.</a:t>
            </a:r>
            <a:endParaRPr lang="en-US" sz="1400" dirty="0"/>
          </a:p>
        </p:txBody>
      </p:sp>
      <p:sp>
        <p:nvSpPr>
          <p:cNvPr id="8" name="Shape 5"/>
          <p:cNvSpPr/>
          <p:nvPr/>
        </p:nvSpPr>
        <p:spPr>
          <a:xfrm>
            <a:off x="6200775" y="1882676"/>
            <a:ext cx="5175250" cy="1418431"/>
          </a:xfrm>
          <a:prstGeom prst="roundRect">
            <a:avLst>
              <a:gd name="adj" fmla="val 3358"/>
            </a:avLst>
          </a:prstGeom>
          <a:solidFill>
            <a:srgbClr val="FFFDF8"/>
          </a:solidFill>
          <a:ln w="6350">
            <a:solidFill>
              <a:srgbClr val="D6D0C3"/>
            </a:solidFill>
            <a:prstDash val="solid"/>
          </a:ln>
        </p:spPr>
      </p:sp>
      <p:pic>
        <p:nvPicPr>
          <p:cNvPr id="9" name="Image 1" descr="Database"/>
          <p:cNvPicPr>
            <a:picLocks noChangeAspect="1"/>
          </p:cNvPicPr>
          <p:nvPr/>
        </p:nvPicPr>
        <p:blipFill>
          <a:blip r:embed="rId4"/>
          <a:srcRect/>
          <a:stretch/>
        </p:blipFill>
        <p:spPr>
          <a:xfrm>
            <a:off x="6457950" y="2139851"/>
            <a:ext cx="304800" cy="304800"/>
          </a:xfrm>
          <a:prstGeom prst="rect">
            <a:avLst/>
          </a:prstGeom>
        </p:spPr>
      </p:pic>
      <p:sp>
        <p:nvSpPr>
          <p:cNvPr id="10" name="Text 6"/>
          <p:cNvSpPr/>
          <p:nvPr/>
        </p:nvSpPr>
        <p:spPr>
          <a:xfrm>
            <a:off x="6889750" y="2155130"/>
            <a:ext cx="2310329"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Vector index at scale</a:t>
            </a:r>
            <a:endParaRPr lang="en-US" sz="1800" dirty="0"/>
          </a:p>
        </p:txBody>
      </p:sp>
      <p:sp>
        <p:nvSpPr>
          <p:cNvPr id="11" name="Text 7"/>
          <p:cNvSpPr/>
          <p:nvPr/>
        </p:nvSpPr>
        <p:spPr>
          <a:xfrm>
            <a:off x="6457950" y="2546251"/>
            <a:ext cx="4800727"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Move to FAISS or a managed vector store once phrasings reach the hundreds of thousands.</a:t>
            </a:r>
            <a:endParaRPr lang="en-US" sz="1400" dirty="0"/>
          </a:p>
        </p:txBody>
      </p:sp>
      <p:sp>
        <p:nvSpPr>
          <p:cNvPr id="12" name="Shape 8"/>
          <p:cNvSpPr/>
          <p:nvPr/>
        </p:nvSpPr>
        <p:spPr>
          <a:xfrm>
            <a:off x="815975" y="3510657"/>
            <a:ext cx="5175250" cy="1418431"/>
          </a:xfrm>
          <a:prstGeom prst="roundRect">
            <a:avLst>
              <a:gd name="adj" fmla="val 3358"/>
            </a:avLst>
          </a:prstGeom>
          <a:solidFill>
            <a:srgbClr val="FFFDF8"/>
          </a:solidFill>
          <a:ln w="6350">
            <a:solidFill>
              <a:srgbClr val="D6D0C3"/>
            </a:solidFill>
            <a:prstDash val="solid"/>
          </a:ln>
        </p:spPr>
      </p:sp>
      <p:pic>
        <p:nvPicPr>
          <p:cNvPr id="13" name="Image 2" descr="Tool"/>
          <p:cNvPicPr>
            <a:picLocks noChangeAspect="1"/>
          </p:cNvPicPr>
          <p:nvPr/>
        </p:nvPicPr>
        <p:blipFill>
          <a:blip r:embed="rId5"/>
          <a:srcRect/>
          <a:stretch/>
        </p:blipFill>
        <p:spPr>
          <a:xfrm>
            <a:off x="1073150" y="3767832"/>
            <a:ext cx="304800" cy="304800"/>
          </a:xfrm>
          <a:prstGeom prst="rect">
            <a:avLst/>
          </a:prstGeom>
        </p:spPr>
      </p:pic>
      <p:sp>
        <p:nvSpPr>
          <p:cNvPr id="14" name="Text 9"/>
          <p:cNvSpPr/>
          <p:nvPr/>
        </p:nvSpPr>
        <p:spPr>
          <a:xfrm>
            <a:off x="1504950" y="3783112"/>
            <a:ext cx="2570314"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Multi-intent complaints</a:t>
            </a:r>
            <a:endParaRPr lang="en-US" sz="1800" dirty="0"/>
          </a:p>
        </p:txBody>
      </p:sp>
      <p:sp>
        <p:nvSpPr>
          <p:cNvPr id="15" name="Text 10"/>
          <p:cNvSpPr/>
          <p:nvPr/>
        </p:nvSpPr>
        <p:spPr>
          <a:xfrm>
            <a:off x="1073150" y="4174232"/>
            <a:ext cx="4800727"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Split “cracked and touch not working” into separate goals.</a:t>
            </a:r>
            <a:endParaRPr lang="en-US" sz="1400" dirty="0"/>
          </a:p>
        </p:txBody>
      </p:sp>
      <p:sp>
        <p:nvSpPr>
          <p:cNvPr id="16" name="Shape 11"/>
          <p:cNvSpPr/>
          <p:nvPr/>
        </p:nvSpPr>
        <p:spPr>
          <a:xfrm>
            <a:off x="6200775" y="3510657"/>
            <a:ext cx="5175250" cy="1418431"/>
          </a:xfrm>
          <a:prstGeom prst="roundRect">
            <a:avLst>
              <a:gd name="adj" fmla="val 3358"/>
            </a:avLst>
          </a:prstGeom>
          <a:solidFill>
            <a:srgbClr val="FFFDF8"/>
          </a:solidFill>
          <a:ln w="6350">
            <a:solidFill>
              <a:srgbClr val="D6D0C3"/>
            </a:solidFill>
            <a:prstDash val="solid"/>
          </a:ln>
        </p:spPr>
      </p:sp>
      <p:pic>
        <p:nvPicPr>
          <p:cNvPr id="17" name="Image 3" descr="Home"/>
          <p:cNvPicPr>
            <a:picLocks noChangeAspect="1"/>
          </p:cNvPicPr>
          <p:nvPr/>
        </p:nvPicPr>
        <p:blipFill>
          <a:blip r:embed="rId6"/>
          <a:srcRect/>
          <a:stretch/>
        </p:blipFill>
        <p:spPr>
          <a:xfrm>
            <a:off x="6457950" y="3767832"/>
            <a:ext cx="304800" cy="304800"/>
          </a:xfrm>
          <a:prstGeom prst="rect">
            <a:avLst/>
          </a:prstGeom>
        </p:spPr>
      </p:pic>
      <p:sp>
        <p:nvSpPr>
          <p:cNvPr id="18" name="Text 12"/>
          <p:cNvSpPr/>
          <p:nvPr/>
        </p:nvSpPr>
        <p:spPr>
          <a:xfrm>
            <a:off x="6889750" y="3783112"/>
            <a:ext cx="1818259"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C1A"/>
                </a:solidFill>
                <a:latin typeface="Archivo" pitchFamily="34" charset="0"/>
                <a:ea typeface="Archivo" pitchFamily="34" charset="-122"/>
                <a:cs typeface="Archivo" pitchFamily="34" charset="-120"/>
              </a:rPr>
              <a:t>On-device client</a:t>
            </a:r>
            <a:endParaRPr lang="en-US" sz="1800" dirty="0"/>
          </a:p>
        </p:txBody>
      </p:sp>
      <p:sp>
        <p:nvSpPr>
          <p:cNvPr id="19" name="Text 13"/>
          <p:cNvSpPr/>
          <p:nvPr/>
        </p:nvSpPr>
        <p:spPr>
          <a:xfrm>
            <a:off x="6457950" y="4174232"/>
            <a:ext cx="4800727"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665C"/>
                </a:solidFill>
                <a:latin typeface="Archivo" pitchFamily="34" charset="0"/>
                <a:ea typeface="Archivo" pitchFamily="34" charset="-122"/>
                <a:cs typeface="Archivo" pitchFamily="34" charset="-120"/>
              </a:rPr>
              <a:t>An Android client that renders plans and fires deeplinks natively.</a:t>
            </a:r>
            <a:endParaRPr lang="en-US" sz="1400" dirty="0"/>
          </a:p>
        </p:txBody>
      </p:sp>
      <p:sp>
        <p:nvSpPr>
          <p:cNvPr id="20" name="Text 14"/>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Smart Guided Troubleshooting Engine</a:t>
            </a:r>
            <a:endParaRPr lang="en-US" sz="1200" dirty="0"/>
          </a:p>
        </p:txBody>
      </p:sp>
      <p:sp>
        <p:nvSpPr>
          <p:cNvPr id="21" name="Text 15"/>
          <p:cNvSpPr/>
          <p:nvPr/>
        </p:nvSpPr>
        <p:spPr>
          <a:xfrm>
            <a:off x="9804400" y="6238280"/>
            <a:ext cx="1574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65C"/>
                </a:solidFill>
                <a:latin typeface="JetBrains Mono" pitchFamily="34" charset="0"/>
                <a:ea typeface="JetBrains Mono" pitchFamily="34" charset="-122"/>
                <a:cs typeface="JetBrains Mono" pitchFamily="34" charset="-120"/>
              </a:rPr>
              <a:t>14 / 15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D1C1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8FC9BF"/>
                </a:solidFill>
                <a:latin typeface="JetBrains Mono" pitchFamily="34" charset="0"/>
                <a:ea typeface="JetBrains Mono" pitchFamily="34" charset="-122"/>
                <a:cs typeface="JetBrains Mono" pitchFamily="34" charset="-120"/>
              </a:rPr>
              <a:t>THANK YOU</a:t>
            </a:r>
            <a:endParaRPr lang="en-US" sz="1200" dirty="0"/>
          </a:p>
        </p:txBody>
      </p:sp>
      <p:sp>
        <p:nvSpPr>
          <p:cNvPr id="3" name="Text 1"/>
          <p:cNvSpPr/>
          <p:nvPr/>
        </p:nvSpPr>
        <p:spPr>
          <a:xfrm>
            <a:off x="812800" y="2510830"/>
            <a:ext cx="10883392" cy="1041400"/>
          </a:xfrm>
          <a:prstGeom prst="rect">
            <a:avLst/>
          </a:prstGeom>
          <a:noFill/>
          <a:ln/>
        </p:spPr>
        <p:txBody>
          <a:bodyPr wrap="square" lIns="0" tIns="0" rIns="0" bIns="0" rtlCol="0" anchor="t">
            <a:normAutofit/>
          </a:bodyPr>
          <a:lstStyle/>
          <a:p>
            <a:pPr marL="0" indent="0" algn="l">
              <a:lnSpc>
                <a:spcPts val="8000"/>
              </a:lnSpc>
              <a:buNone/>
            </a:pPr>
            <a:r>
              <a:rPr lang="en-US" sz="8000" b="1" kern="0" spc="-200" dirty="0">
                <a:solidFill>
                  <a:srgbClr val="F4F1EA"/>
                </a:solidFill>
                <a:latin typeface="Archivo" pitchFamily="34" charset="0"/>
                <a:ea typeface="Archivo" pitchFamily="34" charset="-122"/>
                <a:cs typeface="Archivo" pitchFamily="34" charset="-120"/>
              </a:rPr>
              <a:t>Questions?</a:t>
            </a:r>
            <a:endParaRPr lang="en-US" sz="8000" dirty="0"/>
          </a:p>
        </p:txBody>
      </p:sp>
      <p:sp>
        <p:nvSpPr>
          <p:cNvPr id="4" name="Text 2"/>
          <p:cNvSpPr/>
          <p:nvPr/>
        </p:nvSpPr>
        <p:spPr>
          <a:xfrm>
            <a:off x="812800" y="3730030"/>
            <a:ext cx="9156700" cy="642541"/>
          </a:xfrm>
          <a:prstGeom prst="rect">
            <a:avLst/>
          </a:prstGeom>
          <a:noFill/>
          <a:ln/>
        </p:spPr>
        <p:txBody>
          <a:bodyPr wrap="square" lIns="0" tIns="0" rIns="0" bIns="0" rtlCol="0" anchor="t">
            <a:normAutofit/>
          </a:bodyPr>
          <a:lstStyle/>
          <a:p>
            <a:pPr marL="0" indent="0" algn="l">
              <a:lnSpc>
                <a:spcPts val="2430"/>
              </a:lnSpc>
              <a:buNone/>
            </a:pPr>
            <a:r>
              <a:rPr lang="en-US" sz="1800" dirty="0">
                <a:solidFill>
                  <a:srgbClr val="BDB6A9"/>
                </a:solidFill>
                <a:latin typeface="Archivo" pitchFamily="34" charset="0"/>
                <a:ea typeface="Archivo" pitchFamily="34" charset="-122"/>
                <a:cs typeface="Archivo" pitchFamily="34" charset="-120"/>
              </a:rPr>
              <a:t>Live demo console, REST API with /docs, 100 automated tests, and a full metrics report in the repository.</a:t>
            </a:r>
            <a:endParaRPr lang="en-US" sz="1800" dirty="0"/>
          </a:p>
        </p:txBody>
      </p:sp>
      <p:sp>
        <p:nvSpPr>
          <p:cNvPr id="5" name="Text 3"/>
          <p:cNvSpPr/>
          <p:nvPr/>
        </p:nvSpPr>
        <p:spPr>
          <a:xfrm>
            <a:off x="812800" y="5831880"/>
            <a:ext cx="480338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DB6A9"/>
                </a:solidFill>
                <a:latin typeface="JetBrains Mono" pitchFamily="34" charset="0"/>
                <a:ea typeface="JetBrains Mono" pitchFamily="34" charset="-122"/>
                <a:cs typeface="JetBrains Mono" pitchFamily="34" charset="-120"/>
              </a:rPr>
              <a:t>[github.com/Rayasam3/smart-troubleshooting-engine]</a:t>
            </a:r>
            <a:endParaRPr lang="en-US" sz="1200" dirty="0"/>
          </a:p>
        </p:txBody>
      </p:sp>
      <p:sp>
        <p:nvSpPr>
          <p:cNvPr id="6" name="Text 4"/>
          <p:cNvSpPr/>
          <p:nvPr/>
        </p:nvSpPr>
        <p:spPr>
          <a:xfrm>
            <a:off x="7995841" y="5831880"/>
            <a:ext cx="3484860"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BDB6A9"/>
                </a:solidFill>
                <a:latin typeface="JetBrains Mono" pitchFamily="34" charset="0"/>
                <a:ea typeface="JetBrains Mono" pitchFamily="34" charset="-122"/>
                <a:cs typeface="JetBrains Mono" pitchFamily="34" charset="-120"/>
              </a:rPr>
              <a:t>CodeSwitch</a:t>
            </a:r>
            <a:r>
              <a:rPr lang="en-US" sz="1200" dirty="0">
                <a:solidFill>
                  <a:srgbClr val="BDB6A9"/>
                </a:solidFill>
                <a:latin typeface="JetBrains Mono" pitchFamily="34" charset="0"/>
                <a:ea typeface="JetBrains Mono" pitchFamily="34" charset="-122"/>
                <a:cs typeface="JetBrains Mono" pitchFamily="34" charset="-120"/>
              </a:rPr>
              <a:t> - Rayasam Amarnath · Neeraj Prasad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1962</Words>
  <Application>Microsoft Office PowerPoint</Application>
  <PresentationFormat>Widescreen</PresentationFormat>
  <Paragraphs>282</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Archivo</vt:lpstr>
      <vt:lpstr>Arial</vt:lpstr>
      <vt:lpstr>JetBrains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Guided Troubleshooting Engine</dc:title>
  <dc:subject>PptxGenJS Presentation</dc:subject>
  <dc:creator>PptxGenJS</dc:creator>
  <cp:lastModifiedBy>R Amarnath</cp:lastModifiedBy>
  <cp:revision>9</cp:revision>
  <dcterms:created xsi:type="dcterms:W3CDTF">2026-09-29T14:24:39Z</dcterms:created>
  <dcterms:modified xsi:type="dcterms:W3CDTF">2026-09-29T16:38:11Z</dcterms:modified>
</cp:coreProperties>
</file>